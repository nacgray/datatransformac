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6.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4.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7.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8.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 id="2147483656" r:id="rId3"/>
    <p:sldMasterId id="2147483658" r:id="rId4"/>
    <p:sldMasterId id="2147483664" r:id="rId5"/>
    <p:sldMasterId id="2147483667" r:id="rId6"/>
    <p:sldMasterId id="2147483677" r:id="rId7"/>
  </p:sldMasterIdLst>
  <p:notesMasterIdLst>
    <p:notesMasterId r:id="rId24"/>
  </p:notesMasterIdLst>
  <p:sldIdLst>
    <p:sldId id="256" r:id="rId8"/>
    <p:sldId id="16744780" r:id="rId9"/>
    <p:sldId id="16744789" r:id="rId10"/>
    <p:sldId id="421" r:id="rId11"/>
    <p:sldId id="16744784" r:id="rId12"/>
    <p:sldId id="16744785" r:id="rId13"/>
    <p:sldId id="16744790" r:id="rId14"/>
    <p:sldId id="16744787" r:id="rId15"/>
    <p:sldId id="415" r:id="rId16"/>
    <p:sldId id="416" r:id="rId17"/>
    <p:sldId id="418" r:id="rId18"/>
    <p:sldId id="419" r:id="rId19"/>
    <p:sldId id="417" r:id="rId20"/>
    <p:sldId id="16744788" r:id="rId21"/>
    <p:sldId id="407" r:id="rId22"/>
    <p:sldId id="8095" r:id="rId23"/>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9ED4AE54-8AAC-4D1F-AC64-C34E42D15AA4}">
          <p14:sldIdLst>
            <p14:sldId id="256"/>
          </p14:sldIdLst>
        </p14:section>
        <p14:section name="01-算力互联网试验网" id="{BC7BFCB8-78A6-45D6-9988-D6B89ACD4027}">
          <p14:sldIdLst>
            <p14:sldId id="16744780"/>
            <p14:sldId id="16744789"/>
            <p14:sldId id="421"/>
            <p14:sldId id="16744784"/>
            <p14:sldId id="16744785"/>
            <p14:sldId id="16744790"/>
            <p14:sldId id="16744787"/>
            <p14:sldId id="415"/>
            <p14:sldId id="416"/>
            <p14:sldId id="418"/>
            <p14:sldId id="419"/>
            <p14:sldId id="417"/>
            <p14:sldId id="16744788"/>
            <p14:sldId id="407"/>
            <p14:sldId id="80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74AD"/>
    <a:srgbClr val="004E9D"/>
    <a:srgbClr val="FF7920"/>
    <a:srgbClr val="000A59"/>
    <a:srgbClr val="9CB8DA"/>
    <a:srgbClr val="CBCCD1"/>
    <a:srgbClr val="EAEAEA"/>
    <a:srgbClr val="DEEAEE"/>
    <a:srgbClr val="000000"/>
    <a:srgbClr val="AED4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725" autoAdjust="0"/>
    <p:restoredTop sz="95175" autoAdjust="0"/>
  </p:normalViewPr>
  <p:slideViewPr>
    <p:cSldViewPr snapToGrid="0">
      <p:cViewPr varScale="1">
        <p:scale>
          <a:sx n="81" d="100"/>
          <a:sy n="81" d="100"/>
        </p:scale>
        <p:origin x="43"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289FD4-0E2E-47D4-A2CF-71A82577C540}" type="datetimeFigureOut">
              <a:rPr lang="zh-CN" altLang="en-US" smtClean="0"/>
              <a:t>2025/10/27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C9243-AF32-4EC4-9A10-F288B3E5F30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微软雅黑</a:t>
            </a:r>
            <a:br>
              <a:rPr lang="en-US" altLang="zh-CN" dirty="0"/>
            </a:br>
            <a:r>
              <a:rPr lang="en-US" altLang="zh-CN" dirty="0"/>
              <a:t>1.5</a:t>
            </a:r>
            <a:r>
              <a:rPr lang="zh-CN" altLang="en-US" dirty="0"/>
              <a:t>倍行距</a:t>
            </a:r>
          </a:p>
        </p:txBody>
      </p:sp>
      <p:sp>
        <p:nvSpPr>
          <p:cNvPr id="4" name="灯片编号占位符 3"/>
          <p:cNvSpPr>
            <a:spLocks noGrp="1"/>
          </p:cNvSpPr>
          <p:nvPr>
            <p:ph type="sldNum" sz="quarter" idx="5"/>
          </p:nvPr>
        </p:nvSpPr>
        <p:spPr/>
        <p:txBody>
          <a:bodyPr/>
          <a:lstStyle/>
          <a:p>
            <a:fld id="{EBAC9243-AF32-4EC4-9A10-F288B3E5F30C}" type="slidenum">
              <a:rPr lang="zh-CN" altLang="en-US" smtClean="0"/>
              <a:t>1</a:t>
            </a:fld>
            <a:endParaRPr lang="zh-CN" altLang="en-US"/>
          </a:p>
        </p:txBody>
      </p:sp>
    </p:spTree>
    <p:extLst>
      <p:ext uri="{BB962C8B-B14F-4D97-AF65-F5344CB8AC3E}">
        <p14:creationId xmlns:p14="http://schemas.microsoft.com/office/powerpoint/2010/main" val="1914595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E8F0D-086B-8A0F-E8AB-2395D1A067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FA03CF-86F7-3B27-A74F-1B3CD846EA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8169A8-E9C6-32C9-7CDD-DB707183448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DE42062-7628-3B4E-657F-4A0B5D74DD96}"/>
              </a:ext>
            </a:extLst>
          </p:cNvPr>
          <p:cNvSpPr>
            <a:spLocks noGrp="1"/>
          </p:cNvSpPr>
          <p:nvPr>
            <p:ph type="sldNum" sz="quarter" idx="5"/>
          </p:nvPr>
        </p:nvSpPr>
        <p:spPr/>
        <p:txBody>
          <a:bodyPr/>
          <a:lstStyle/>
          <a:p>
            <a:fld id="{DCF800FD-2B50-3D4F-9886-DAA391708887}" type="slidenum">
              <a:rPr kumimoji="1" lang="zh-CN" altLang="en-US" smtClean="0"/>
              <a:t>4</a:t>
            </a:fld>
            <a:endParaRPr kumimoji="1" lang="zh-CN" altLang="en-US"/>
          </a:p>
        </p:txBody>
      </p:sp>
    </p:spTree>
    <p:extLst>
      <p:ext uri="{BB962C8B-B14F-4D97-AF65-F5344CB8AC3E}">
        <p14:creationId xmlns:p14="http://schemas.microsoft.com/office/powerpoint/2010/main" val="1196093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330638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4084100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764822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CF800FD-2B50-3D4F-9886-DAA391708887}" type="slidenum">
              <a:rPr kumimoji="1" lang="zh-CN" altLang="en-US" smtClean="0"/>
              <a:t>10</a:t>
            </a:fld>
            <a:endParaRPr kumimoji="1" lang="zh-CN" altLang="en-US"/>
          </a:p>
        </p:txBody>
      </p:sp>
    </p:spTree>
    <p:extLst>
      <p:ext uri="{BB962C8B-B14F-4D97-AF65-F5344CB8AC3E}">
        <p14:creationId xmlns:p14="http://schemas.microsoft.com/office/powerpoint/2010/main" val="1812295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CF800FD-2B50-3D4F-9886-DAA391708887}" type="slidenum">
              <a:rPr kumimoji="1" lang="zh-CN" altLang="en-US" smtClean="0"/>
              <a:t>11</a:t>
            </a:fld>
            <a:endParaRPr kumimoji="1" lang="zh-CN" altLang="en-US"/>
          </a:p>
        </p:txBody>
      </p:sp>
    </p:spTree>
    <p:extLst>
      <p:ext uri="{BB962C8B-B14F-4D97-AF65-F5344CB8AC3E}">
        <p14:creationId xmlns:p14="http://schemas.microsoft.com/office/powerpoint/2010/main" val="2207208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CF800FD-2B50-3D4F-9886-DAA391708887}" type="slidenum">
              <a:rPr kumimoji="1" lang="zh-CN" altLang="en-US" smtClean="0"/>
              <a:t>12</a:t>
            </a:fld>
            <a:endParaRPr kumimoji="1" lang="zh-CN" altLang="en-US"/>
          </a:p>
        </p:txBody>
      </p:sp>
    </p:spTree>
    <p:extLst>
      <p:ext uri="{BB962C8B-B14F-4D97-AF65-F5344CB8AC3E}">
        <p14:creationId xmlns:p14="http://schemas.microsoft.com/office/powerpoint/2010/main" val="2046773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DCF800FD-2B50-3D4F-9886-DAA391708887}" type="slidenum">
              <a:rPr kumimoji="1" lang="zh-CN" altLang="en-US" smtClean="0"/>
              <a:t>13</a:t>
            </a:fld>
            <a:endParaRPr kumimoji="1" lang="zh-CN" altLang="en-US"/>
          </a:p>
        </p:txBody>
      </p:sp>
    </p:spTree>
    <p:extLst>
      <p:ext uri="{BB962C8B-B14F-4D97-AF65-F5344CB8AC3E}">
        <p14:creationId xmlns:p14="http://schemas.microsoft.com/office/powerpoint/2010/main" val="1564695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05155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6" name="文本框 9"/>
          <p:cNvSpPr txBox="1">
            <a:spLocks noChangeArrowheads="1"/>
          </p:cNvSpPr>
          <p:nvPr/>
        </p:nvSpPr>
        <p:spPr bwMode="auto">
          <a:xfrm>
            <a:off x="2386895" y="2311868"/>
            <a:ext cx="6754812" cy="830262"/>
          </a:xfrm>
          <a:prstGeom prst="rect">
            <a:avLst/>
          </a:prstGeom>
          <a:noFill/>
          <a:ln>
            <a:noFill/>
          </a:ln>
        </p:spPr>
        <p:txBody>
          <a:bodyPr>
            <a:spAutoFit/>
          </a:bodyPr>
          <a:lstStyle>
            <a:lvl1pPr>
              <a:spcBef>
                <a:spcPct val="20000"/>
              </a:spcBef>
              <a:buChar char="•"/>
              <a:defRPr sz="3800">
                <a:solidFill>
                  <a:schemeClr val="tx1"/>
                </a:solidFill>
                <a:latin typeface="Kaiti SC" panose="02010600040101010101" charset="-122"/>
                <a:ea typeface="Kaiti SC" panose="02010600040101010101" charset="-122"/>
              </a:defRPr>
            </a:lvl1pPr>
            <a:lvl2pPr marL="881380" indent="-336550">
              <a:spcBef>
                <a:spcPct val="20000"/>
              </a:spcBef>
              <a:buChar char="–"/>
              <a:defRPr sz="3300">
                <a:solidFill>
                  <a:schemeClr val="tx1"/>
                </a:solidFill>
                <a:latin typeface="Kaiti SC" panose="02010600040101010101" charset="-122"/>
                <a:ea typeface="Kaiti SC" panose="02010600040101010101" charset="-122"/>
              </a:defRPr>
            </a:lvl2pPr>
            <a:lvl3pPr marL="1357630" indent="-268605">
              <a:spcBef>
                <a:spcPct val="20000"/>
              </a:spcBef>
              <a:buChar char="•"/>
              <a:defRPr sz="3300">
                <a:solidFill>
                  <a:schemeClr val="tx1"/>
                </a:solidFill>
                <a:latin typeface="Kaiti SC" panose="02010600040101010101" charset="-122"/>
                <a:ea typeface="Kaiti SC" panose="02010600040101010101" charset="-122"/>
              </a:defRPr>
            </a:lvl3pPr>
            <a:lvl4pPr marL="1901825" indent="-268605">
              <a:spcBef>
                <a:spcPct val="20000"/>
              </a:spcBef>
              <a:buChar char="–"/>
              <a:defRPr sz="2300">
                <a:solidFill>
                  <a:schemeClr val="tx1"/>
                </a:solidFill>
                <a:latin typeface="Kaiti SC" panose="02010600040101010101" charset="-122"/>
                <a:ea typeface="Kaiti SC" panose="02010600040101010101" charset="-122"/>
              </a:defRPr>
            </a:lvl4pPr>
            <a:lvl5pPr marL="2446655" indent="-268605">
              <a:spcBef>
                <a:spcPct val="20000"/>
              </a:spcBef>
              <a:buChar char="»"/>
              <a:defRPr sz="2300">
                <a:solidFill>
                  <a:schemeClr val="tx1"/>
                </a:solidFill>
                <a:latin typeface="Kaiti SC" panose="02010600040101010101" charset="-122"/>
                <a:ea typeface="Kaiti SC" panose="02010600040101010101" charset="-122"/>
              </a:defRPr>
            </a:lvl5pPr>
            <a:lvl6pPr marL="29038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6pPr>
            <a:lvl7pPr marL="33610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7pPr>
            <a:lvl8pPr marL="38182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8pPr>
            <a:lvl9pPr marL="42754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9pPr>
          </a:lstStyle>
          <a:p>
            <a:pPr algn="ctr">
              <a:spcBef>
                <a:spcPct val="0"/>
              </a:spcBef>
              <a:buFontTx/>
              <a:buNone/>
            </a:pPr>
            <a:r>
              <a:rPr lang="zh-CN" altLang="en-US" sz="4800" b="1" dirty="0">
                <a:solidFill>
                  <a:srgbClr val="002060"/>
                </a:solidFill>
                <a:latin typeface="微软雅黑" panose="020B0503020204020204" pitchFamily="34" charset="-122"/>
                <a:ea typeface="微软雅黑" panose="020B0503020204020204" pitchFamily="34" charset="-122"/>
              </a:rPr>
              <a:t>感谢观看</a:t>
            </a:r>
          </a:p>
        </p:txBody>
      </p:sp>
      <p:sp>
        <p:nvSpPr>
          <p:cNvPr id="7" name="文本框 9"/>
          <p:cNvSpPr txBox="1">
            <a:spLocks noChangeArrowheads="1"/>
          </p:cNvSpPr>
          <p:nvPr/>
        </p:nvSpPr>
        <p:spPr bwMode="auto">
          <a:xfrm>
            <a:off x="2553307" y="3114677"/>
            <a:ext cx="64113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800">
                <a:solidFill>
                  <a:schemeClr val="tx1"/>
                </a:solidFill>
                <a:latin typeface="Kaiti SC" panose="02010600040101010101" charset="-122"/>
                <a:ea typeface="Kaiti SC" panose="02010600040101010101" charset="-122"/>
              </a:defRPr>
            </a:lvl1pPr>
            <a:lvl2pPr marL="881380" indent="-336550">
              <a:spcBef>
                <a:spcPct val="20000"/>
              </a:spcBef>
              <a:buChar char="–"/>
              <a:defRPr sz="3300">
                <a:solidFill>
                  <a:schemeClr val="tx1"/>
                </a:solidFill>
                <a:latin typeface="Kaiti SC" panose="02010600040101010101" charset="-122"/>
                <a:ea typeface="Kaiti SC" panose="02010600040101010101" charset="-122"/>
              </a:defRPr>
            </a:lvl2pPr>
            <a:lvl3pPr marL="1357630" indent="-268605">
              <a:spcBef>
                <a:spcPct val="20000"/>
              </a:spcBef>
              <a:buChar char="•"/>
              <a:defRPr sz="3300">
                <a:solidFill>
                  <a:schemeClr val="tx1"/>
                </a:solidFill>
                <a:latin typeface="Kaiti SC" panose="02010600040101010101" charset="-122"/>
                <a:ea typeface="Kaiti SC" panose="02010600040101010101" charset="-122"/>
              </a:defRPr>
            </a:lvl3pPr>
            <a:lvl4pPr marL="1901825" indent="-268605">
              <a:spcBef>
                <a:spcPct val="20000"/>
              </a:spcBef>
              <a:buChar char="–"/>
              <a:defRPr sz="2300">
                <a:solidFill>
                  <a:schemeClr val="tx1"/>
                </a:solidFill>
                <a:latin typeface="Kaiti SC" panose="02010600040101010101" charset="-122"/>
                <a:ea typeface="Kaiti SC" panose="02010600040101010101" charset="-122"/>
              </a:defRPr>
            </a:lvl4pPr>
            <a:lvl5pPr marL="2446655" indent="-268605">
              <a:spcBef>
                <a:spcPct val="20000"/>
              </a:spcBef>
              <a:buChar char="»"/>
              <a:defRPr sz="2300">
                <a:solidFill>
                  <a:schemeClr val="tx1"/>
                </a:solidFill>
                <a:latin typeface="Kaiti SC" panose="02010600040101010101" charset="-122"/>
                <a:ea typeface="Kaiti SC" panose="02010600040101010101" charset="-122"/>
              </a:defRPr>
            </a:lvl5pPr>
            <a:lvl6pPr marL="29038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6pPr>
            <a:lvl7pPr marL="33610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7pPr>
            <a:lvl8pPr marL="38182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8pPr>
            <a:lvl9pPr marL="42754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9pPr>
          </a:lstStyle>
          <a:p>
            <a:pPr algn="ctr">
              <a:spcBef>
                <a:spcPct val="0"/>
              </a:spcBef>
              <a:buFontTx/>
              <a:buNone/>
            </a:pPr>
            <a:r>
              <a:rPr lang="en-US" altLang="zh-CN" sz="3600" b="1" kern="1500" spc="30" baseline="0" dirty="0">
                <a:solidFill>
                  <a:srgbClr val="002060"/>
                </a:solidFill>
                <a:latin typeface="Source Han Sans CN"/>
                <a:ea typeface="Source Han Sans CN"/>
                <a:cs typeface="Source Han Sans CN"/>
              </a:rPr>
              <a:t>THANKS</a:t>
            </a:r>
          </a:p>
        </p:txBody>
      </p:sp>
      <p:sp>
        <p:nvSpPr>
          <p:cNvPr id="8" name="文本框 9"/>
          <p:cNvSpPr txBox="1">
            <a:spLocks noChangeArrowheads="1"/>
          </p:cNvSpPr>
          <p:nvPr/>
        </p:nvSpPr>
        <p:spPr bwMode="auto">
          <a:xfrm>
            <a:off x="9793968" y="6315316"/>
            <a:ext cx="18716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800">
                <a:solidFill>
                  <a:schemeClr val="tx1"/>
                </a:solidFill>
                <a:latin typeface="Kaiti SC" panose="02010600040101010101" charset="-122"/>
                <a:ea typeface="Kaiti SC" panose="02010600040101010101" charset="-122"/>
              </a:defRPr>
            </a:lvl1pPr>
            <a:lvl2pPr marL="881380" indent="-336550">
              <a:spcBef>
                <a:spcPct val="20000"/>
              </a:spcBef>
              <a:buChar char="–"/>
              <a:defRPr sz="3300">
                <a:solidFill>
                  <a:schemeClr val="tx1"/>
                </a:solidFill>
                <a:latin typeface="Kaiti SC" panose="02010600040101010101" charset="-122"/>
                <a:ea typeface="Kaiti SC" panose="02010600040101010101" charset="-122"/>
              </a:defRPr>
            </a:lvl2pPr>
            <a:lvl3pPr marL="1357630" indent="-268605">
              <a:spcBef>
                <a:spcPct val="20000"/>
              </a:spcBef>
              <a:buChar char="•"/>
              <a:defRPr sz="3300">
                <a:solidFill>
                  <a:schemeClr val="tx1"/>
                </a:solidFill>
                <a:latin typeface="Kaiti SC" panose="02010600040101010101" charset="-122"/>
                <a:ea typeface="Kaiti SC" panose="02010600040101010101" charset="-122"/>
              </a:defRPr>
            </a:lvl3pPr>
            <a:lvl4pPr marL="1901825" indent="-268605">
              <a:spcBef>
                <a:spcPct val="20000"/>
              </a:spcBef>
              <a:buChar char="–"/>
              <a:defRPr sz="2300">
                <a:solidFill>
                  <a:schemeClr val="tx1"/>
                </a:solidFill>
                <a:latin typeface="Kaiti SC" panose="02010600040101010101" charset="-122"/>
                <a:ea typeface="Kaiti SC" panose="02010600040101010101" charset="-122"/>
              </a:defRPr>
            </a:lvl4pPr>
            <a:lvl5pPr marL="2446655" indent="-268605">
              <a:spcBef>
                <a:spcPct val="20000"/>
              </a:spcBef>
              <a:buChar char="»"/>
              <a:defRPr sz="2300">
                <a:solidFill>
                  <a:schemeClr val="tx1"/>
                </a:solidFill>
                <a:latin typeface="Kaiti SC" panose="02010600040101010101" charset="-122"/>
                <a:ea typeface="Kaiti SC" panose="02010600040101010101" charset="-122"/>
              </a:defRPr>
            </a:lvl5pPr>
            <a:lvl6pPr marL="29038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6pPr>
            <a:lvl7pPr marL="33610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7pPr>
            <a:lvl8pPr marL="38182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8pPr>
            <a:lvl9pPr marL="4275455" indent="-268605" eaLnBrk="0" fontAlgn="base" hangingPunct="0">
              <a:spcBef>
                <a:spcPct val="20000"/>
              </a:spcBef>
              <a:spcAft>
                <a:spcPct val="0"/>
              </a:spcAft>
              <a:buChar char="»"/>
              <a:defRPr sz="2300">
                <a:solidFill>
                  <a:schemeClr val="tx1"/>
                </a:solidFill>
                <a:latin typeface="Kaiti SC" panose="02010600040101010101" charset="-122"/>
                <a:ea typeface="Kaiti SC" panose="02010600040101010101" charset="-122"/>
              </a:defRPr>
            </a:lvl9pPr>
          </a:lstStyle>
          <a:p>
            <a:pPr algn="ctr">
              <a:spcBef>
                <a:spcPct val="0"/>
              </a:spcBef>
              <a:buFontTx/>
              <a:buNone/>
            </a:pPr>
            <a:r>
              <a:rPr lang="en-US" altLang="zh-CN" sz="1600" dirty="0">
                <a:solidFill>
                  <a:schemeClr val="bg1"/>
                </a:solidFill>
                <a:latin typeface="Arial" panose="020B0604020202020204" pitchFamily="34" charset="0"/>
                <a:ea typeface="宋体" panose="02010600030101010101" pitchFamily="2" charset="-122"/>
              </a:rPr>
              <a:t>www.caict.ac.cn</a:t>
            </a:r>
            <a:endParaRPr lang="zh-CN" altLang="en-US" sz="1600" dirty="0">
              <a:solidFill>
                <a:schemeClr val="bg1"/>
              </a:solidFill>
              <a:latin typeface="Arial" panose="020B0604020202020204" pitchFamily="34" charset="0"/>
              <a:ea typeface="宋体" panose="02010600030101010101" pitchFamily="2" charset="-122"/>
            </a:endParaRPr>
          </a:p>
        </p:txBody>
      </p:sp>
      <p:pic>
        <p:nvPicPr>
          <p:cNvPr id="9"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76556" y="5185766"/>
            <a:ext cx="11049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94E1D1B-D005-4CFD-B060-530FA0BF6CBE}" type="datetimeFigureOut">
              <a:rPr lang="zh-CN" altLang="en-US" smtClean="0"/>
              <a:t>2025/10/27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0D4AA2-B749-44E5-B7AF-652BFDFB5C2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pic>
        <p:nvPicPr>
          <p:cNvPr id="6" name="图片 5" descr="鍐呭"/>
          <p:cNvPicPr>
            <a:picLocks noChangeAspect="1"/>
          </p:cNvPicPr>
          <p:nvPr userDrawn="1"/>
        </p:nvPicPr>
        <p:blipFill>
          <a:blip r:embed="rId2"/>
          <a:stretch>
            <a:fillRect/>
          </a:stretch>
        </p:blipFill>
        <p:spPr>
          <a:xfrm>
            <a:off x="-2324" y="30057"/>
            <a:ext cx="11118560" cy="6254190"/>
          </a:xfrm>
          <a:prstGeom prst="rect">
            <a:avLst/>
          </a:prstGeom>
        </p:spPr>
      </p:pic>
    </p:spTree>
    <p:extLst>
      <p:ext uri="{BB962C8B-B14F-4D97-AF65-F5344CB8AC3E}">
        <p14:creationId xmlns:p14="http://schemas.microsoft.com/office/powerpoint/2010/main" val="1764690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4" name="标题占位符 1"/>
          <p:cNvSpPr>
            <a:spLocks noGrp="1"/>
          </p:cNvSpPr>
          <p:nvPr>
            <p:ph type="title"/>
          </p:nvPr>
        </p:nvSpPr>
        <p:spPr>
          <a:xfrm>
            <a:off x="318700" y="158750"/>
            <a:ext cx="9347835" cy="445770"/>
          </a:xfrm>
          <a:prstGeom prst="rect">
            <a:avLst/>
          </a:prstGeom>
        </p:spPr>
        <p:txBody>
          <a:bodyPr vert="horz" lIns="0" tIns="0" rIns="0" bIns="0" rtlCol="0" anchor="ctr">
            <a:normAutofit/>
          </a:bodyPr>
          <a:lstStyle/>
          <a:p>
            <a:r>
              <a:rPr lang="zh-CN" altLang="en-US"/>
              <a:t>单击此处编辑母版标题样式</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6" name="图片 5" descr="鍐呭-1"/>
          <p:cNvPicPr>
            <a:picLocks noChangeAspect="1"/>
          </p:cNvPicPr>
          <p:nvPr userDrawn="1"/>
        </p:nvPicPr>
        <p:blipFill>
          <a:blip r:embed="rId2"/>
          <a:stretch>
            <a:fillRect/>
          </a:stretch>
        </p:blipFill>
        <p:spPr>
          <a:xfrm>
            <a:off x="-7556" y="79674"/>
            <a:ext cx="11030373" cy="620458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标题占位符 1"/>
          <p:cNvSpPr>
            <a:spLocks noGrp="1"/>
          </p:cNvSpPr>
          <p:nvPr>
            <p:ph type="title"/>
          </p:nvPr>
        </p:nvSpPr>
        <p:spPr>
          <a:xfrm>
            <a:off x="318700" y="158750"/>
            <a:ext cx="9347835" cy="445770"/>
          </a:xfrm>
          <a:prstGeom prst="rect">
            <a:avLst/>
          </a:prstGeom>
        </p:spPr>
        <p:txBody>
          <a:bodyPr vert="horz" lIns="0" tIns="0" rIns="0" bIns="0" rtlCol="0" anchor="ctr">
            <a:normAutofit/>
          </a:bodyPr>
          <a:lstStyle>
            <a:lvl1pPr>
              <a:defRPr sz="2600"/>
            </a:lvl1pPr>
          </a:lstStyle>
          <a:p>
            <a:r>
              <a:rPr lang="zh-CN" altLang="en-US"/>
              <a:t>单击此处编辑母版标题样式</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4" name="标题占位符 1"/>
          <p:cNvSpPr>
            <a:spLocks noGrp="1"/>
          </p:cNvSpPr>
          <p:nvPr>
            <p:ph type="title"/>
          </p:nvPr>
        </p:nvSpPr>
        <p:spPr>
          <a:xfrm>
            <a:off x="318691" y="158750"/>
            <a:ext cx="9347577" cy="445770"/>
          </a:xfrm>
          <a:prstGeom prst="rect">
            <a:avLst/>
          </a:prstGeom>
        </p:spPr>
        <p:txBody>
          <a:bodyPr vert="horz" lIns="0" tIns="0" rIns="0" bIns="0" rtlCol="0" anchor="ctr">
            <a:normAutofit/>
          </a:bodyPr>
          <a:lstStyle/>
          <a:p>
            <a:r>
              <a:rPr lang="zh-CN" altLang="en-US" dirty="0"/>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6" name="图片 5" descr="鍐呭-1"/>
          <p:cNvPicPr>
            <a:picLocks noChangeAspect="1"/>
          </p:cNvPicPr>
          <p:nvPr userDrawn="1"/>
        </p:nvPicPr>
        <p:blipFill>
          <a:blip r:embed="rId2"/>
          <a:stretch>
            <a:fillRect/>
          </a:stretch>
        </p:blipFill>
        <p:spPr>
          <a:xfrm>
            <a:off x="-7556" y="79674"/>
            <a:ext cx="11030068" cy="620458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0" y="0"/>
            <a:ext cx="12192000" cy="6858000"/>
          </a:xfrm>
          <a:prstGeom prst="rect">
            <a:avLst/>
          </a:prstGeom>
        </p:spPr>
      </p:pic>
      <p:sp>
        <p:nvSpPr>
          <p:cNvPr id="2" name="标题 1"/>
          <p:cNvSpPr>
            <a:spLocks noGrp="1"/>
          </p:cNvSpPr>
          <p:nvPr>
            <p:ph type="ctrTitle"/>
          </p:nvPr>
        </p:nvSpPr>
        <p:spPr>
          <a:xfrm>
            <a:off x="609600" y="1992715"/>
            <a:ext cx="5936240" cy="766364"/>
          </a:xfrm>
          <a:prstGeom prst="rect">
            <a:avLst/>
          </a:prstGeom>
          <a:noFill/>
        </p:spPr>
        <p:txBody>
          <a:bodyPr wrap="none" rtlCol="0">
            <a:spAutoFit/>
          </a:bodyPr>
          <a:lstStyle>
            <a:lvl1pPr>
              <a:defRPr lang="zh-CN" altLang="en-US" sz="3735" kern="2000">
                <a:solidFill>
                  <a:srgbClr val="FFC100"/>
                </a:solidFill>
                <a:latin typeface="微软雅黑" panose="020B0503020204020204" pitchFamily="34" charset="-122"/>
                <a:ea typeface="微软雅黑" panose="020B0503020204020204" pitchFamily="34" charset="-122"/>
                <a:cs typeface="+mn-cs"/>
              </a:defRPr>
            </a:lvl1pPr>
          </a:lstStyle>
          <a:p>
            <a:pPr marL="0" lvl="0" algn="l"/>
            <a:r>
              <a:rPr lang="zh-CN" altLang="en-US"/>
              <a:t>单击此处编辑母版标题样式</a:t>
            </a:r>
          </a:p>
        </p:txBody>
      </p:sp>
      <p:sp>
        <p:nvSpPr>
          <p:cNvPr id="3" name="副标题 2"/>
          <p:cNvSpPr>
            <a:spLocks noGrp="1"/>
          </p:cNvSpPr>
          <p:nvPr>
            <p:ph type="subTitle" idx="1"/>
          </p:nvPr>
        </p:nvSpPr>
        <p:spPr>
          <a:xfrm>
            <a:off x="609600" y="3213556"/>
            <a:ext cx="3518912" cy="453394"/>
          </a:xfrm>
          <a:prstGeom prst="rect">
            <a:avLst/>
          </a:prstGeom>
          <a:noFill/>
        </p:spPr>
        <p:txBody>
          <a:bodyPr wrap="none" rtlCol="0">
            <a:spAutoFit/>
          </a:bodyPr>
          <a:lstStyle>
            <a:lvl1pPr marL="0" indent="0">
              <a:buNone/>
              <a:defRPr lang="zh-CN" altLang="en-US" sz="2000" kern="2000">
                <a:solidFill>
                  <a:schemeClr val="bg1"/>
                </a:solidFill>
                <a:latin typeface="微软雅黑" panose="020B0503020204020204" pitchFamily="34" charset="-122"/>
                <a:ea typeface="微软雅黑" panose="020B0503020204020204" pitchFamily="34" charset="-122"/>
              </a:defRPr>
            </a:lvl1pPr>
          </a:lstStyle>
          <a:p>
            <a:pPr marL="0" lvl="0"/>
            <a:r>
              <a:rPr lang="zh-CN" altLang="en-US" dirty="0"/>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Custom Layout">
    <p:bg>
      <p:bgPr>
        <a:solidFill>
          <a:srgbClr val="050E24"/>
        </a:solidFill>
        <a:effectLst/>
      </p:bgPr>
    </p:bg>
    <p:spTree>
      <p:nvGrpSpPr>
        <p:cNvPr id="1" name=""/>
        <p:cNvGrpSpPr/>
        <p:nvPr/>
      </p:nvGrpSpPr>
      <p:grpSpPr>
        <a:xfrm>
          <a:off x="0" y="0"/>
          <a:ext cx="0" cy="0"/>
          <a:chOff x="0" y="0"/>
          <a:chExt cx="0" cy="0"/>
        </a:xfrm>
      </p:grpSpPr>
      <p:pic>
        <p:nvPicPr>
          <p:cNvPr id="3" name="图片 2" descr="图片12"/>
          <p:cNvPicPr>
            <a:picLocks noChangeAspect="1"/>
          </p:cNvPicPr>
          <p:nvPr userDrawn="1"/>
        </p:nvPicPr>
        <p:blipFill>
          <a:blip r:embed="rId2"/>
          <a:stretch>
            <a:fillRect/>
          </a:stretch>
        </p:blipFill>
        <p:spPr>
          <a:xfrm>
            <a:off x="0" y="423"/>
            <a:ext cx="12191365" cy="6857577"/>
          </a:xfrm>
          <a:prstGeom prst="rect">
            <a:avLst/>
          </a:prstGeom>
        </p:spPr>
      </p:pic>
      <p:pic>
        <p:nvPicPr>
          <p:cNvPr id="8" name="图片 7" descr="生态大会logo"/>
          <p:cNvPicPr>
            <a:picLocks noChangeAspect="1"/>
          </p:cNvPicPr>
          <p:nvPr userDrawn="1"/>
        </p:nvPicPr>
        <p:blipFill>
          <a:blip r:embed="rId3"/>
          <a:stretch>
            <a:fillRect/>
          </a:stretch>
        </p:blipFill>
        <p:spPr>
          <a:xfrm>
            <a:off x="10016662" y="379379"/>
            <a:ext cx="1723861" cy="437745"/>
          </a:xfrm>
          <a:prstGeom prst="rect">
            <a:avLst/>
          </a:prstGeom>
        </p:spPr>
      </p:pic>
    </p:spTree>
    <p:extLst>
      <p:ext uri="{BB962C8B-B14F-4D97-AF65-F5344CB8AC3E}">
        <p14:creationId xmlns:p14="http://schemas.microsoft.com/office/powerpoint/2010/main" val="3474958971"/>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8625"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5738" y="1512876"/>
            <a:ext cx="10729365" cy="4690459"/>
          </a:xfrm>
          <a:prstGeom prst="rect">
            <a:avLst/>
          </a:prstGeom>
        </p:spPr>
        <p:txBody>
          <a:bodyPr lIns="0" tIns="0" rIns="0" bIns="0"/>
          <a:lstStyle>
            <a:lvl1pPr marL="179070" marR="0" indent="-168275" algn="l" defTabSz="118745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135" algn="ctr"/>
              </a:tabLst>
              <a:defRPr sz="1800"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930" marR="0" indent="-168275" algn="l" defTabSz="1187450"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微软雅黑" panose="020B0503020204020204" pitchFamily="34" charset="-122"/>
                <a:ea typeface="微软雅黑" panose="020B0503020204020204" pitchFamily="34" charset="-122"/>
              </a:defRPr>
            </a:lvl2pPr>
            <a:lvl3pPr marL="1097915" marR="0" indent="-168275" algn="l" defTabSz="1187450"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300" baseline="0">
                <a:latin typeface="微软雅黑" panose="020B0503020204020204" pitchFamily="34" charset="-122"/>
                <a:ea typeface="微软雅黑" panose="020B0503020204020204" pitchFamily="34" charset="-122"/>
              </a:defRPr>
            </a:lvl3pPr>
            <a:lvl4pPr marL="525780" indent="-170815">
              <a:buFont typeface="Arial" panose="020B0604020202020204" pitchFamily="34" charset="0"/>
              <a:buChar char="•"/>
              <a:tabLst>
                <a:tab pos="1207770" algn="ctr"/>
              </a:tabLst>
              <a:defRPr sz="1300" baseline="0"/>
            </a:lvl4pPr>
            <a:lvl5pPr marL="525780" indent="-170815">
              <a:buFont typeface="Arial" panose="020B0604020202020204" pitchFamily="34" charset="0"/>
              <a:buChar char="•"/>
              <a:tabLst>
                <a:tab pos="1207770" algn="ctr"/>
              </a:tabLst>
              <a:defRPr sz="1300" baseline="0"/>
            </a:lvl5pPr>
          </a:lstStyle>
          <a:p>
            <a:pPr lvl="0"/>
            <a:r>
              <a:rPr lang="zh-CN" altLang="en-US" dirty="0"/>
              <a:t>单击此处添加文本</a:t>
            </a:r>
            <a:endParaRPr lang="en-US" dirty="0"/>
          </a:p>
          <a:p>
            <a:pPr marL="328930" marR="0" lvl="1"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zh-CN" altLang="en-US" dirty="0"/>
              <a:t>单击此处添加文本</a:t>
            </a:r>
            <a:endParaRPr lang="en-US" dirty="0"/>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zh-CN" altLang="en-US" dirty="0"/>
              <a:t>单击此处添加文本</a:t>
            </a:r>
            <a:endParaRPr lang="en-US" dirty="0"/>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endParaRPr lang="en-US" altLang="zh-C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1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
        <p:nvSpPr>
          <p:cNvPr id="2" name="标题 1"/>
          <p:cNvSpPr>
            <a:spLocks noGrp="1"/>
          </p:cNvSpPr>
          <p:nvPr>
            <p:ph type="title"/>
          </p:nvPr>
        </p:nvSpPr>
        <p:spPr>
          <a:xfrm>
            <a:off x="838200" y="365127"/>
            <a:ext cx="9019950" cy="534761"/>
          </a:xfrm>
          <a:prstGeom prst="rect">
            <a:avLst/>
          </a:prstGeom>
        </p:spPr>
        <p:txBody>
          <a:bodyPr/>
          <a:lstStyle>
            <a:lvl1pPr>
              <a:defRPr sz="3200" b="1">
                <a:latin typeface="HarmonyOS Sans SC Black"/>
              </a:defRPr>
            </a:lvl1pPr>
          </a:lstStyle>
          <a:p>
            <a:r>
              <a:rPr lang="zh-CN" altLang="en-US" dirty="0"/>
              <a:t>单击此处编辑母版标题样式</a:t>
            </a: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8625"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5738" y="1512876"/>
            <a:ext cx="10729365" cy="4690459"/>
          </a:xfrm>
          <a:prstGeom prst="rect">
            <a:avLst/>
          </a:prstGeom>
        </p:spPr>
        <p:txBody>
          <a:bodyPr lIns="0" tIns="0" rIns="0" bIns="0"/>
          <a:lstStyle>
            <a:lvl1pPr marL="179070" marR="0" indent="-168275" algn="l" defTabSz="118745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135" algn="ctr"/>
              </a:tabLst>
              <a:defRPr sz="1800"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930" marR="0" indent="-168275" algn="l" defTabSz="1187450"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微软雅黑" panose="020B0503020204020204" pitchFamily="34" charset="-122"/>
                <a:ea typeface="微软雅黑" panose="020B0503020204020204" pitchFamily="34" charset="-122"/>
              </a:defRPr>
            </a:lvl2pPr>
            <a:lvl3pPr marL="1097915" marR="0" indent="-168275" algn="l" defTabSz="1187450"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300" baseline="0">
                <a:latin typeface="微软雅黑" panose="020B0503020204020204" pitchFamily="34" charset="-122"/>
                <a:ea typeface="微软雅黑" panose="020B0503020204020204" pitchFamily="34" charset="-122"/>
              </a:defRPr>
            </a:lvl3pPr>
            <a:lvl4pPr marL="525780" indent="-170815">
              <a:buFont typeface="Arial" panose="020B0604020202020204" pitchFamily="34" charset="0"/>
              <a:buChar char="•"/>
              <a:tabLst>
                <a:tab pos="1207770" algn="ctr"/>
              </a:tabLst>
              <a:defRPr sz="1300" baseline="0"/>
            </a:lvl4pPr>
            <a:lvl5pPr marL="525780" indent="-170815">
              <a:buFont typeface="Arial" panose="020B0604020202020204" pitchFamily="34" charset="0"/>
              <a:buChar char="•"/>
              <a:tabLst>
                <a:tab pos="1207770" algn="ctr"/>
              </a:tabLst>
              <a:defRPr sz="1300" baseline="0"/>
            </a:lvl5pPr>
          </a:lstStyle>
          <a:p>
            <a:pPr lvl="0"/>
            <a:r>
              <a:rPr lang="zh-CN" altLang="en-US" dirty="0"/>
              <a:t>单击此处添加文本</a:t>
            </a:r>
            <a:endParaRPr lang="en-US" dirty="0"/>
          </a:p>
          <a:p>
            <a:pPr marL="328930" marR="0" lvl="1"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zh-CN" altLang="en-US" dirty="0"/>
              <a:t>单击此处添加文本</a:t>
            </a:r>
            <a:endParaRPr lang="en-US" dirty="0"/>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zh-CN" altLang="en-US" dirty="0"/>
              <a:t>单击此处添加文本</a:t>
            </a:r>
            <a:endParaRPr lang="en-US" dirty="0"/>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endParaRPr lang="en-US" altLang="zh-C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1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
        <p:nvSpPr>
          <p:cNvPr id="2" name="标题 1"/>
          <p:cNvSpPr>
            <a:spLocks noGrp="1"/>
          </p:cNvSpPr>
          <p:nvPr>
            <p:ph type="title"/>
          </p:nvPr>
        </p:nvSpPr>
        <p:spPr>
          <a:xfrm>
            <a:off x="838200" y="365127"/>
            <a:ext cx="9019950" cy="534761"/>
          </a:xfrm>
          <a:prstGeom prst="rect">
            <a:avLst/>
          </a:prstGeom>
        </p:spPr>
        <p:txBody>
          <a:bodyPr/>
          <a:lstStyle>
            <a:lvl1pPr>
              <a:defRPr sz="3200" b="1">
                <a:latin typeface="HarmonyOS Sans SC Black"/>
              </a:defRPr>
            </a:lvl1pPr>
          </a:lstStyle>
          <a:p>
            <a:r>
              <a:rPr lang="zh-CN" altLang="en-US" dirty="0"/>
              <a:t>单击此处编辑母版标题样式</a:t>
            </a: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2923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文本框 9"/>
          <p:cNvSpPr txBox="1">
            <a:spLocks noChangeArrowheads="1"/>
          </p:cNvSpPr>
          <p:nvPr userDrawn="1"/>
        </p:nvSpPr>
        <p:spPr bwMode="auto">
          <a:xfrm>
            <a:off x="2718365" y="2349333"/>
            <a:ext cx="6754812" cy="829945"/>
          </a:xfrm>
          <a:prstGeom prst="rect">
            <a:avLst/>
          </a:prstGeom>
          <a:noFill/>
          <a:ln>
            <a:noFill/>
          </a:ln>
        </p:spPr>
        <p:txBody>
          <a:bodyPr>
            <a:spAutoFit/>
          </a:bodyPr>
          <a:lstStyle>
            <a:lvl1pPr>
              <a:spcBef>
                <a:spcPct val="20000"/>
              </a:spcBef>
              <a:buChar char="•"/>
              <a:defRPr sz="3800">
                <a:solidFill>
                  <a:schemeClr val="tx1"/>
                </a:solidFill>
                <a:latin typeface="Kaiti SC" panose="02010600040101010101" pitchFamily="2" charset="-122"/>
                <a:ea typeface="Kaiti SC" panose="02010600040101010101" pitchFamily="2" charset="-122"/>
              </a:defRPr>
            </a:lvl1pPr>
            <a:lvl2pPr marL="881380" indent="-336550">
              <a:spcBef>
                <a:spcPct val="20000"/>
              </a:spcBef>
              <a:buChar char="–"/>
              <a:defRPr sz="3300">
                <a:solidFill>
                  <a:schemeClr val="tx1"/>
                </a:solidFill>
                <a:latin typeface="Kaiti SC" panose="02010600040101010101" pitchFamily="2" charset="-122"/>
                <a:ea typeface="Kaiti SC" panose="02010600040101010101" pitchFamily="2" charset="-122"/>
              </a:defRPr>
            </a:lvl2pPr>
            <a:lvl3pPr marL="1357630" indent="-268605">
              <a:spcBef>
                <a:spcPct val="20000"/>
              </a:spcBef>
              <a:buChar char="•"/>
              <a:defRPr sz="3300">
                <a:solidFill>
                  <a:schemeClr val="tx1"/>
                </a:solidFill>
                <a:latin typeface="Kaiti SC" panose="02010600040101010101" pitchFamily="2" charset="-122"/>
                <a:ea typeface="Kaiti SC" panose="02010600040101010101" pitchFamily="2" charset="-122"/>
              </a:defRPr>
            </a:lvl3pPr>
            <a:lvl4pPr marL="1901825" indent="-268605">
              <a:spcBef>
                <a:spcPct val="20000"/>
              </a:spcBef>
              <a:buChar char="–"/>
              <a:defRPr sz="2300">
                <a:solidFill>
                  <a:schemeClr val="tx1"/>
                </a:solidFill>
                <a:latin typeface="Kaiti SC" panose="02010600040101010101" pitchFamily="2" charset="-122"/>
                <a:ea typeface="Kaiti SC" panose="02010600040101010101" pitchFamily="2" charset="-122"/>
              </a:defRPr>
            </a:lvl4pPr>
            <a:lvl5pPr marL="2446655" indent="-268605">
              <a:spcBef>
                <a:spcPct val="20000"/>
              </a:spcBef>
              <a:buChar char="»"/>
              <a:defRPr sz="2300">
                <a:solidFill>
                  <a:schemeClr val="tx1"/>
                </a:solidFill>
                <a:latin typeface="Kaiti SC" panose="02010600040101010101" pitchFamily="2" charset="-122"/>
                <a:ea typeface="Kaiti SC" panose="02010600040101010101" pitchFamily="2" charset="-122"/>
              </a:defRPr>
            </a:lvl5pPr>
            <a:lvl6pPr marL="2903855" indent="-268605" eaLnBrk="0" fontAlgn="base" hangingPunct="0">
              <a:spcBef>
                <a:spcPct val="20000"/>
              </a:spcBef>
              <a:spcAft>
                <a:spcPct val="0"/>
              </a:spcAft>
              <a:buChar char="»"/>
              <a:defRPr sz="2300">
                <a:solidFill>
                  <a:schemeClr val="tx1"/>
                </a:solidFill>
                <a:latin typeface="Kaiti SC" panose="02010600040101010101" pitchFamily="2" charset="-122"/>
                <a:ea typeface="Kaiti SC" panose="02010600040101010101" pitchFamily="2" charset="-122"/>
              </a:defRPr>
            </a:lvl6pPr>
            <a:lvl7pPr marL="3361055" indent="-268605" eaLnBrk="0" fontAlgn="base" hangingPunct="0">
              <a:spcBef>
                <a:spcPct val="20000"/>
              </a:spcBef>
              <a:spcAft>
                <a:spcPct val="0"/>
              </a:spcAft>
              <a:buChar char="»"/>
              <a:defRPr sz="2300">
                <a:solidFill>
                  <a:schemeClr val="tx1"/>
                </a:solidFill>
                <a:latin typeface="Kaiti SC" panose="02010600040101010101" pitchFamily="2" charset="-122"/>
                <a:ea typeface="Kaiti SC" panose="02010600040101010101" pitchFamily="2" charset="-122"/>
              </a:defRPr>
            </a:lvl7pPr>
            <a:lvl8pPr marL="3818255" indent="-268605" eaLnBrk="0" fontAlgn="base" hangingPunct="0">
              <a:spcBef>
                <a:spcPct val="20000"/>
              </a:spcBef>
              <a:spcAft>
                <a:spcPct val="0"/>
              </a:spcAft>
              <a:buChar char="»"/>
              <a:defRPr sz="2300">
                <a:solidFill>
                  <a:schemeClr val="tx1"/>
                </a:solidFill>
                <a:latin typeface="Kaiti SC" panose="02010600040101010101" pitchFamily="2" charset="-122"/>
                <a:ea typeface="Kaiti SC" panose="02010600040101010101" pitchFamily="2" charset="-122"/>
              </a:defRPr>
            </a:lvl8pPr>
            <a:lvl9pPr marL="4275455" indent="-268605" eaLnBrk="0" fontAlgn="base" hangingPunct="0">
              <a:spcBef>
                <a:spcPct val="20000"/>
              </a:spcBef>
              <a:spcAft>
                <a:spcPct val="0"/>
              </a:spcAft>
              <a:buChar char="»"/>
              <a:defRPr sz="2300">
                <a:solidFill>
                  <a:schemeClr val="tx1"/>
                </a:solidFill>
                <a:latin typeface="Kaiti SC" panose="02010600040101010101" pitchFamily="2" charset="-122"/>
                <a:ea typeface="Kaiti SC" panose="02010600040101010101" pitchFamily="2" charset="-122"/>
              </a:defRPr>
            </a:lvl9pPr>
          </a:lstStyle>
          <a:p>
            <a:pPr algn="ctr">
              <a:spcBef>
                <a:spcPct val="0"/>
              </a:spcBef>
              <a:buFontTx/>
              <a:buNone/>
            </a:pPr>
            <a:r>
              <a:rPr lang="zh-CN" altLang="en-US" sz="4800" b="1" dirty="0">
                <a:solidFill>
                  <a:srgbClr val="002060"/>
                </a:solidFill>
                <a:latin typeface="微软雅黑" panose="020B0503020204020204" charset="-122"/>
                <a:ea typeface="微软雅黑" panose="020B0503020204020204" charset="-122"/>
              </a:rPr>
              <a:t>请各位领导批评指正！</a:t>
            </a:r>
          </a:p>
        </p:txBody>
      </p:sp>
      <p:sp>
        <p:nvSpPr>
          <p:cNvPr id="8" name="文本框 9"/>
          <p:cNvSpPr txBox="1">
            <a:spLocks noChangeArrowheads="1"/>
          </p:cNvSpPr>
          <p:nvPr userDrawn="1"/>
        </p:nvSpPr>
        <p:spPr bwMode="auto">
          <a:xfrm>
            <a:off x="9793968" y="6315316"/>
            <a:ext cx="18716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800">
                <a:solidFill>
                  <a:schemeClr val="tx1"/>
                </a:solidFill>
                <a:latin typeface="Kaiti SC" panose="02010600040101010101" pitchFamily="2" charset="-122"/>
                <a:ea typeface="Kaiti SC" panose="02010600040101010101" pitchFamily="2" charset="-122"/>
              </a:defRPr>
            </a:lvl1pPr>
            <a:lvl2pPr marL="881380" indent="-336550">
              <a:spcBef>
                <a:spcPct val="20000"/>
              </a:spcBef>
              <a:buChar char="–"/>
              <a:defRPr sz="3300">
                <a:solidFill>
                  <a:schemeClr val="tx1"/>
                </a:solidFill>
                <a:latin typeface="Kaiti SC" panose="02010600040101010101" pitchFamily="2" charset="-122"/>
                <a:ea typeface="Kaiti SC" panose="02010600040101010101" pitchFamily="2" charset="-122"/>
              </a:defRPr>
            </a:lvl2pPr>
            <a:lvl3pPr marL="1357630" indent="-268605">
              <a:spcBef>
                <a:spcPct val="20000"/>
              </a:spcBef>
              <a:buChar char="•"/>
              <a:defRPr sz="3300">
                <a:solidFill>
                  <a:schemeClr val="tx1"/>
                </a:solidFill>
                <a:latin typeface="Kaiti SC" panose="02010600040101010101" pitchFamily="2" charset="-122"/>
                <a:ea typeface="Kaiti SC" panose="02010600040101010101" pitchFamily="2" charset="-122"/>
              </a:defRPr>
            </a:lvl3pPr>
            <a:lvl4pPr marL="1901825" indent="-268605">
              <a:spcBef>
                <a:spcPct val="20000"/>
              </a:spcBef>
              <a:buChar char="–"/>
              <a:defRPr sz="2300">
                <a:solidFill>
                  <a:schemeClr val="tx1"/>
                </a:solidFill>
                <a:latin typeface="Kaiti SC" panose="02010600040101010101" pitchFamily="2" charset="-122"/>
                <a:ea typeface="Kaiti SC" panose="02010600040101010101" pitchFamily="2" charset="-122"/>
              </a:defRPr>
            </a:lvl4pPr>
            <a:lvl5pPr marL="2446655" indent="-268605">
              <a:spcBef>
                <a:spcPct val="20000"/>
              </a:spcBef>
              <a:buChar char="»"/>
              <a:defRPr sz="2300">
                <a:solidFill>
                  <a:schemeClr val="tx1"/>
                </a:solidFill>
                <a:latin typeface="Kaiti SC" panose="02010600040101010101" pitchFamily="2" charset="-122"/>
                <a:ea typeface="Kaiti SC" panose="02010600040101010101" pitchFamily="2" charset="-122"/>
              </a:defRPr>
            </a:lvl5pPr>
            <a:lvl6pPr marL="2903855" indent="-268605" eaLnBrk="0" fontAlgn="base" hangingPunct="0">
              <a:spcBef>
                <a:spcPct val="20000"/>
              </a:spcBef>
              <a:spcAft>
                <a:spcPct val="0"/>
              </a:spcAft>
              <a:buChar char="»"/>
              <a:defRPr sz="2300">
                <a:solidFill>
                  <a:schemeClr val="tx1"/>
                </a:solidFill>
                <a:latin typeface="Kaiti SC" panose="02010600040101010101" pitchFamily="2" charset="-122"/>
                <a:ea typeface="Kaiti SC" panose="02010600040101010101" pitchFamily="2" charset="-122"/>
              </a:defRPr>
            </a:lvl6pPr>
            <a:lvl7pPr marL="3361055" indent="-268605" eaLnBrk="0" fontAlgn="base" hangingPunct="0">
              <a:spcBef>
                <a:spcPct val="20000"/>
              </a:spcBef>
              <a:spcAft>
                <a:spcPct val="0"/>
              </a:spcAft>
              <a:buChar char="»"/>
              <a:defRPr sz="2300">
                <a:solidFill>
                  <a:schemeClr val="tx1"/>
                </a:solidFill>
                <a:latin typeface="Kaiti SC" panose="02010600040101010101" pitchFamily="2" charset="-122"/>
                <a:ea typeface="Kaiti SC" panose="02010600040101010101" pitchFamily="2" charset="-122"/>
              </a:defRPr>
            </a:lvl7pPr>
            <a:lvl8pPr marL="3818255" indent="-268605" eaLnBrk="0" fontAlgn="base" hangingPunct="0">
              <a:spcBef>
                <a:spcPct val="20000"/>
              </a:spcBef>
              <a:spcAft>
                <a:spcPct val="0"/>
              </a:spcAft>
              <a:buChar char="»"/>
              <a:defRPr sz="2300">
                <a:solidFill>
                  <a:schemeClr val="tx1"/>
                </a:solidFill>
                <a:latin typeface="Kaiti SC" panose="02010600040101010101" pitchFamily="2" charset="-122"/>
                <a:ea typeface="Kaiti SC" panose="02010600040101010101" pitchFamily="2" charset="-122"/>
              </a:defRPr>
            </a:lvl8pPr>
            <a:lvl9pPr marL="4275455" indent="-268605" eaLnBrk="0" fontAlgn="base" hangingPunct="0">
              <a:spcBef>
                <a:spcPct val="20000"/>
              </a:spcBef>
              <a:spcAft>
                <a:spcPct val="0"/>
              </a:spcAft>
              <a:buChar char="»"/>
              <a:defRPr sz="2300">
                <a:solidFill>
                  <a:schemeClr val="tx1"/>
                </a:solidFill>
                <a:latin typeface="Kaiti SC" panose="02010600040101010101" pitchFamily="2" charset="-122"/>
                <a:ea typeface="Kaiti SC" panose="02010600040101010101" pitchFamily="2" charset="-122"/>
              </a:defRPr>
            </a:lvl9pPr>
          </a:lstStyle>
          <a:p>
            <a:pPr algn="ctr">
              <a:spcBef>
                <a:spcPct val="0"/>
              </a:spcBef>
              <a:buFontTx/>
              <a:buNone/>
            </a:pPr>
            <a:r>
              <a:rPr lang="en-US" altLang="zh-CN" sz="1600" dirty="0">
                <a:solidFill>
                  <a:schemeClr val="bg1"/>
                </a:solidFill>
                <a:latin typeface="Arial" panose="020B0604020202020204" pitchFamily="34" charset="0"/>
                <a:ea typeface="宋体" panose="02010600030101010101" pitchFamily="2" charset="-122"/>
              </a:rPr>
              <a:t>www.caict.ac.cn</a:t>
            </a:r>
            <a:endParaRPr lang="zh-CN" altLang="en-US" sz="1600" dirty="0">
              <a:solidFill>
                <a:schemeClr val="bg1"/>
              </a:solidFill>
              <a:latin typeface="Arial" panose="020B0604020202020204" pitchFamily="34" charset="0"/>
              <a:ea typeface="宋体" panose="02010600030101010101" pitchFamily="2" charset="-122"/>
            </a:endParaRPr>
          </a:p>
        </p:txBody>
      </p:sp>
      <p:pic>
        <p:nvPicPr>
          <p:cNvPr id="9" name="图片 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176556" y="5185766"/>
            <a:ext cx="11049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247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2025/10/27</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pic>
        <p:nvPicPr>
          <p:cNvPr id="5" name="图片 4"/>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480303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a:t>单击此处编辑母版标题样式</a:t>
            </a:r>
            <a:endParaRPr lang="zh-CN"/>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p>
        </p:txBody>
      </p:sp>
      <p:sp>
        <p:nvSpPr>
          <p:cNvPr id="4" name="日期占位符 3"/>
          <p:cNvSpPr>
            <a:spLocks noGrp="1"/>
          </p:cNvSpPr>
          <p:nvPr>
            <p:ph type="dt" idx="10"/>
          </p:nvPr>
        </p:nvSpPr>
        <p:spPr>
          <a:xfrm>
            <a:off x="609600" y="6356352"/>
            <a:ext cx="2844800" cy="365126"/>
          </a:xfrm>
          <a:prstGeom prst="rect">
            <a:avLst/>
          </a:prstGeom>
        </p:spPr>
        <p:txBody>
          <a:bodyPr/>
          <a:lstStyle/>
          <a:p>
            <a:fld id="{85EB3B1F-83DE-4C20-9710-4B3BAB0FA74B}" type="datetimeFigureOut">
              <a:rPr lang="zh-CN" altLang="en-US" smtClean="0"/>
              <a:t>2025/10/27</a:t>
            </a:fld>
            <a:endParaRPr lang="zh-CN" altLang="en-US"/>
          </a:p>
        </p:txBody>
      </p:sp>
      <p:sp>
        <p:nvSpPr>
          <p:cNvPr id="5" name="页脚占位符 4"/>
          <p:cNvSpPr>
            <a:spLocks noGrp="1"/>
          </p:cNvSpPr>
          <p:nvPr>
            <p:ph type="ftr" idx="11"/>
          </p:nvPr>
        </p:nvSpPr>
        <p:spPr>
          <a:xfrm>
            <a:off x="4165600" y="6356352"/>
            <a:ext cx="3860800" cy="365126"/>
          </a:xfrm>
          <a:prstGeom prst="rect">
            <a:avLst/>
          </a:prstGeom>
        </p:spPr>
        <p:txBody>
          <a:bodyPr/>
          <a:lstStyle/>
          <a:p>
            <a:endParaRPr lang="zh-CN" altLang="en-US"/>
          </a:p>
        </p:txBody>
      </p:sp>
      <p:sp>
        <p:nvSpPr>
          <p:cNvPr id="6" name="灯片编号占位符 5"/>
          <p:cNvSpPr>
            <a:spLocks noGrp="1"/>
          </p:cNvSpPr>
          <p:nvPr>
            <p:ph type="sldNum" idx="12"/>
          </p:nvPr>
        </p:nvSpPr>
        <p:spPr>
          <a:xfrm>
            <a:off x="9347200" y="0"/>
            <a:ext cx="2844800" cy="365126"/>
          </a:xfrm>
          <a:prstGeom prst="rect">
            <a:avLst/>
          </a:prstGeom>
        </p:spPr>
        <p:txBody>
          <a:bodyPr/>
          <a:lstStyle/>
          <a:p>
            <a:fld id="{77E1F794-E802-4964-859B-C6F7459934D4}" type="slidenum">
              <a:rPr lang="zh-CN" altLang="en-US" smtClean="0"/>
              <a:t>‹#›</a:t>
            </a:fld>
            <a:endParaRPr lang="zh-CN" altLang="en-US"/>
          </a:p>
        </p:txBody>
      </p:sp>
      <p:pic>
        <p:nvPicPr>
          <p:cNvPr id="7" name="Picture 2"/>
          <p:cNvPicPr>
            <a:picLocks noChangeAspect="1" noChangeArrowheads="1"/>
          </p:cNvPicPr>
          <p:nvPr userDrawn="1"/>
        </p:nvPicPr>
        <p:blipFill>
          <a:blip r:embed="rId2"/>
          <a:stretch>
            <a:fillRect/>
          </a:stretch>
        </p:blipFill>
        <p:spPr>
          <a:xfrm>
            <a:off x="2314" y="0"/>
            <a:ext cx="12192000" cy="6860117"/>
          </a:xfrm>
          <a:prstGeom prst="rect">
            <a:avLst/>
          </a:prstGeom>
          <a:noFill/>
        </p:spPr>
      </p:pic>
      <p:pic>
        <p:nvPicPr>
          <p:cNvPr id="9" name="Picture 8"/>
          <p:cNvPicPr>
            <a:picLocks noChangeAspect="1"/>
          </p:cNvPicPr>
          <p:nvPr userDrawn="1"/>
        </p:nvPicPr>
        <p:blipFill>
          <a:blip r:embed="rId3"/>
          <a:stretch>
            <a:fillRect/>
          </a:stretch>
        </p:blipFill>
        <p:spPr>
          <a:xfrm>
            <a:off x="2" y="-13868"/>
            <a:ext cx="2977290" cy="745704"/>
          </a:xfrm>
          <a:prstGeom prst="rect">
            <a:avLst/>
          </a:prstGeom>
          <a:effectLst>
            <a:softEdge rad="12700"/>
          </a:effectLst>
        </p:spPr>
      </p:pic>
      <p:sp>
        <p:nvSpPr>
          <p:cNvPr id="8" name="矩形 7"/>
          <p:cNvSpPr/>
          <p:nvPr userDrawn="1"/>
        </p:nvSpPr>
        <p:spPr>
          <a:xfrm>
            <a:off x="8307978" y="6356352"/>
            <a:ext cx="3709852" cy="365126"/>
          </a:xfrm>
          <a:prstGeom prst="rect">
            <a:avLst/>
          </a:prstGeom>
          <a:solidFill>
            <a:schemeClr val="bg1"/>
          </a:solidFill>
          <a:ln>
            <a:noFill/>
          </a:ln>
        </p:spPr>
        <p:txBody>
          <a:bodyPr anchor="ctr"/>
          <a:lstStyle/>
          <a:p>
            <a:pPr algn="ctr"/>
            <a:endParaRPr lang="zh-CN" altLang="en-US" sz="1795">
              <a:solidFill>
                <a:schemeClr val="lt1"/>
              </a:solidFill>
            </a:endParaRPr>
          </a:p>
        </p:txBody>
      </p:sp>
      <p:pic>
        <p:nvPicPr>
          <p:cNvPr id="10" name="图片 9"/>
          <p:cNvPicPr>
            <a:picLocks noChangeAspect="1"/>
          </p:cNvPicPr>
          <p:nvPr userDrawn="1"/>
        </p:nvPicPr>
        <p:blipFill>
          <a:blip r:embed="rId4"/>
          <a:stretch>
            <a:fillRect/>
          </a:stretch>
        </p:blipFill>
        <p:spPr>
          <a:xfrm>
            <a:off x="-115570" y="0"/>
            <a:ext cx="12307570" cy="6858000"/>
          </a:xfrm>
          <a:prstGeom prst="rect">
            <a:avLst/>
          </a:prstGeom>
        </p:spPr>
      </p:pic>
      <p:grpSp>
        <p:nvGrpSpPr>
          <p:cNvPr id="11" name="组合 10"/>
          <p:cNvGrpSpPr/>
          <p:nvPr userDrawn="1"/>
        </p:nvGrpSpPr>
        <p:grpSpPr>
          <a:xfrm>
            <a:off x="-115570" y="0"/>
            <a:ext cx="12318365" cy="474980"/>
            <a:chOff x="17" y="1376"/>
            <a:chExt cx="19198" cy="748"/>
          </a:xfrm>
        </p:grpSpPr>
        <p:grpSp>
          <p:nvGrpSpPr>
            <p:cNvPr id="12" name="组合 11"/>
            <p:cNvGrpSpPr/>
            <p:nvPr userDrawn="1"/>
          </p:nvGrpSpPr>
          <p:grpSpPr>
            <a:xfrm>
              <a:off x="17" y="1376"/>
              <a:ext cx="19199" cy="748"/>
              <a:chOff x="17" y="1376"/>
              <a:chExt cx="19199" cy="748"/>
            </a:xfrm>
          </p:grpSpPr>
          <p:pic>
            <p:nvPicPr>
              <p:cNvPr id="28" name="图片 27"/>
              <p:cNvPicPr>
                <a:picLocks noChangeAspect="1"/>
              </p:cNvPicPr>
              <p:nvPr userDrawn="1"/>
            </p:nvPicPr>
            <p:blipFill>
              <a:blip r:embed="rId5">
                <a:alphaModFix amt="80000"/>
              </a:blip>
              <a:srcRect l="2028" t="14137" r="679" b="14189"/>
              <a:stretch>
                <a:fillRect/>
              </a:stretch>
            </p:blipFill>
            <p:spPr>
              <a:xfrm>
                <a:off x="4010" y="1376"/>
                <a:ext cx="12232" cy="748"/>
              </a:xfrm>
              <a:prstGeom prst="rect">
                <a:avLst/>
              </a:prstGeom>
            </p:spPr>
          </p:pic>
          <p:pic>
            <p:nvPicPr>
              <p:cNvPr id="34" name="图片 33"/>
              <p:cNvPicPr>
                <a:picLocks noChangeAspect="1"/>
              </p:cNvPicPr>
              <p:nvPr userDrawn="1"/>
            </p:nvPicPr>
            <p:blipFill>
              <a:blip r:embed="rId6"/>
              <a:stretch>
                <a:fillRect/>
              </a:stretch>
            </p:blipFill>
            <p:spPr>
              <a:xfrm>
                <a:off x="17" y="1376"/>
                <a:ext cx="3201" cy="748"/>
              </a:xfrm>
              <a:prstGeom prst="rect">
                <a:avLst/>
              </a:prstGeom>
            </p:spPr>
          </p:pic>
          <p:pic>
            <p:nvPicPr>
              <p:cNvPr id="13" name="图片 12"/>
              <p:cNvPicPr>
                <a:picLocks noChangeAspect="1"/>
              </p:cNvPicPr>
              <p:nvPr userDrawn="1"/>
            </p:nvPicPr>
            <p:blipFill>
              <a:blip r:embed="rId6">
                <a:alphaModFix amt="77000"/>
              </a:blip>
              <a:stretch>
                <a:fillRect/>
              </a:stretch>
            </p:blipFill>
            <p:spPr>
              <a:xfrm>
                <a:off x="13834" y="1376"/>
                <a:ext cx="5383" cy="748"/>
              </a:xfrm>
              <a:prstGeom prst="rect">
                <a:avLst/>
              </a:prstGeom>
            </p:spPr>
          </p:pic>
        </p:grpSp>
        <p:pic>
          <p:nvPicPr>
            <p:cNvPr id="33" name="图片 32"/>
            <p:cNvPicPr>
              <a:picLocks noChangeAspect="1"/>
            </p:cNvPicPr>
            <p:nvPr userDrawn="1"/>
          </p:nvPicPr>
          <p:blipFill>
            <a:blip r:embed="rId6"/>
            <a:stretch>
              <a:fillRect/>
            </a:stretch>
          </p:blipFill>
          <p:spPr>
            <a:xfrm>
              <a:off x="1997" y="1376"/>
              <a:ext cx="2270" cy="748"/>
            </a:xfrm>
            <a:prstGeom prst="rect">
              <a:avLst/>
            </a:prstGeom>
          </p:spPr>
        </p:pic>
      </p:grpSp>
    </p:spTree>
    <p:extLst>
      <p:ext uri="{BB962C8B-B14F-4D97-AF65-F5344CB8AC3E}">
        <p14:creationId xmlns:p14="http://schemas.microsoft.com/office/powerpoint/2010/main" val="3878915280"/>
      </p:ext>
    </p:extLst>
  </p:cSld>
  <p:clrMapOvr>
    <a:masterClrMapping/>
  </p:clrMapOvr>
</p:sldLayout>
</file>

<file path=ppt/slideMasters/_rels/slideMaster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5.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4.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1.tiff"/></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image" Target="../media/image11.tiff"/></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image" Target="../media/image12.pn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image" Target="../media/image1.png"/><Relationship Id="rId5" Type="http://schemas.openxmlformats.org/officeDocument/2006/relationships/theme" Target="../theme/theme7.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4963" y="333375"/>
            <a:ext cx="2919412"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40000"/>
                    </a14:imgEffect>
                  </a14:imgLayer>
                </a14:imgProps>
              </a:ext>
              <a:ext uri="{28A0092B-C50C-407E-A947-70E740481C1C}">
                <a14:useLocalDpi xmlns:a14="http://schemas.microsoft.com/office/drawing/2010/main" val="0"/>
              </a:ext>
            </a:extLst>
          </a:blip>
          <a:srcRect b="25500"/>
          <a:stretch>
            <a:fillRect/>
          </a:stretch>
        </p:blipFill>
        <p:spPr>
          <a:xfrm>
            <a:off x="0" y="4657090"/>
            <a:ext cx="12192000" cy="22002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7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736152"/>
            <a:ext cx="12190319" cy="40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47930" y="239209"/>
            <a:ext cx="2338606" cy="268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p:cNvSpPr txBox="1">
            <a:spLocks noChangeArrowheads="1"/>
          </p:cNvSpPr>
          <p:nvPr/>
        </p:nvSpPr>
        <p:spPr bwMode="auto">
          <a:xfrm>
            <a:off x="10716434" y="6463187"/>
            <a:ext cx="1344026" cy="19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r" defTabSz="914400" rtl="0" eaLnBrk="1" latinLnBrk="0" hangingPunct="1">
              <a:buFont typeface="Arial" panose="020B0604020202020204" pitchFamily="34" charset="0"/>
              <a:buNone/>
              <a:defRPr sz="950" kern="1200">
                <a:solidFill>
                  <a:srgbClr val="0012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C3C1BB-2CB7-4B46-9869-50D2F6B9EAFD}" type="slidenum">
              <a:rPr lang="en-US" altLang="zh-CN" smtClean="0"/>
              <a:t>‹#›</a:t>
            </a:fld>
            <a:endParaRPr lang="zh-CN" altLang="en-US" dirty="0"/>
          </a:p>
        </p:txBody>
      </p:sp>
      <p:sp>
        <p:nvSpPr>
          <p:cNvPr id="5" name="标题占位符 1"/>
          <p:cNvSpPr>
            <a:spLocks noGrp="1"/>
          </p:cNvSpPr>
          <p:nvPr>
            <p:ph type="title"/>
          </p:nvPr>
        </p:nvSpPr>
        <p:spPr>
          <a:xfrm>
            <a:off x="318700" y="158750"/>
            <a:ext cx="9347835" cy="445770"/>
          </a:xfrm>
          <a:prstGeom prst="rect">
            <a:avLst/>
          </a:prstGeom>
        </p:spPr>
        <p:txBody>
          <a:bodyPr vert="horz" lIns="0" tIns="0" rIns="0" bIns="0" rtlCol="0" anchor="ctr">
            <a:normAutofit/>
          </a:bodyPr>
          <a:lstStyle/>
          <a:p>
            <a:r>
              <a:rPr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hdr="0" ftr="0" dt="0"/>
  <p:txStyles>
    <p:titleStyle>
      <a:lvl1pPr algn="l" defTabSz="914400" rtl="0" eaLnBrk="1" latinLnBrk="0" hangingPunct="1">
        <a:lnSpc>
          <a:spcPct val="90000"/>
        </a:lnSpc>
        <a:spcBef>
          <a:spcPct val="0"/>
        </a:spcBef>
        <a:buNone/>
        <a:defRPr lang="zh-CN" altLang="en-US" sz="2600" b="1" kern="1200" dirty="0">
          <a:solidFill>
            <a:srgbClr val="002060"/>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6"/>
          <p:cNvSpPr txBox="1">
            <a:spLocks noChangeArrowheads="1"/>
          </p:cNvSpPr>
          <p:nvPr/>
        </p:nvSpPr>
        <p:spPr bwMode="auto">
          <a:xfrm>
            <a:off x="10716434" y="6463187"/>
            <a:ext cx="1344026" cy="19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r" defTabSz="914400" rtl="0" eaLnBrk="1" latinLnBrk="0" hangingPunct="1">
              <a:buFont typeface="Arial" panose="020B0604020202020204" pitchFamily="34" charset="0"/>
              <a:buNone/>
              <a:defRPr sz="950" kern="1200">
                <a:solidFill>
                  <a:srgbClr val="0012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C3C1BB-2CB7-4B46-9869-50D2F6B9EAFD}" type="slidenum">
              <a:rPr lang="en-US" altLang="zh-CN" smtClean="0">
                <a:latin typeface="微软雅黑" panose="020B0503020204020204" pitchFamily="34" charset="-122"/>
                <a:ea typeface="微软雅黑" panose="020B0503020204020204" pitchFamily="34" charset="-122"/>
              </a:rPr>
              <a:t>‹#›</a:t>
            </a:fld>
            <a:endParaRPr lang="zh-CN" altLang="en-US" dirty="0">
              <a:latin typeface="微软雅黑" panose="020B0503020204020204" pitchFamily="34" charset="-122"/>
              <a:ea typeface="微软雅黑" panose="020B0503020204020204" pitchFamily="34" charset="-122"/>
            </a:endParaRPr>
          </a:p>
        </p:txBody>
      </p:sp>
      <p:pic>
        <p:nvPicPr>
          <p:cNvPr id="8"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7930" y="239209"/>
            <a:ext cx="2338606" cy="268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7" r:id="rId1"/>
  </p:sldLayoutIdLst>
  <p:hf hdr="0" ftr="0" dt="0"/>
  <p:txStyles>
    <p:titleStyle>
      <a:lvl1pPr algn="l" defTabSz="914400" rtl="0" eaLnBrk="1" latinLnBrk="0" hangingPunct="1">
        <a:lnSpc>
          <a:spcPct val="100000"/>
        </a:lnSpc>
        <a:spcBef>
          <a:spcPct val="0"/>
        </a:spcBef>
        <a:buNone/>
        <a:defRPr sz="2800" b="1" kern="1200">
          <a:solidFill>
            <a:srgbClr val="002060"/>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3"/>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736152"/>
            <a:ext cx="12189983" cy="40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p:cNvSpPr txBox="1">
            <a:spLocks noChangeArrowheads="1"/>
          </p:cNvSpPr>
          <p:nvPr userDrawn="1"/>
        </p:nvSpPr>
        <p:spPr bwMode="auto">
          <a:xfrm>
            <a:off x="10716139" y="6463187"/>
            <a:ext cx="1343989" cy="19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7" tIns="45718" rIns="91437" bIns="45718" numCol="1" anchor="t" anchorCtr="0" compatLnSpc="1"/>
          <a:lstStyle>
            <a:defPPr>
              <a:defRPr lang="zh-CN"/>
            </a:defPPr>
            <a:lvl1pPr marL="0" algn="r" defTabSz="914400" rtl="0" eaLnBrk="1" latinLnBrk="0" hangingPunct="1">
              <a:buFont typeface="Arial" panose="020B0604020202020204" pitchFamily="34" charset="0"/>
              <a:buNone/>
              <a:defRPr sz="950" kern="1200">
                <a:solidFill>
                  <a:srgbClr val="00125E"/>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C3C1BB-2CB7-4B46-9869-50D2F6B9EAFD}" type="slidenum">
              <a:rPr lang="en-US" altLang="zh-CN" sz="950" smtClean="0"/>
              <a:t>‹#›</a:t>
            </a:fld>
            <a:endParaRPr lang="zh-CN" altLang="en-US" sz="950" dirty="0"/>
          </a:p>
        </p:txBody>
      </p:sp>
      <p:sp>
        <p:nvSpPr>
          <p:cNvPr id="5" name="标题占位符 1"/>
          <p:cNvSpPr>
            <a:spLocks noGrp="1"/>
          </p:cNvSpPr>
          <p:nvPr>
            <p:ph type="title"/>
          </p:nvPr>
        </p:nvSpPr>
        <p:spPr>
          <a:xfrm>
            <a:off x="318691" y="158750"/>
            <a:ext cx="9347577" cy="445770"/>
          </a:xfrm>
          <a:prstGeom prst="rect">
            <a:avLst/>
          </a:prstGeom>
        </p:spPr>
        <p:txBody>
          <a:bodyPr vert="horz" lIns="0" tIns="0" rIns="0" bIns="0" rtlCol="0" anchor="ctr">
            <a:normAutofit/>
          </a:bodyPr>
          <a:lstStyle/>
          <a:p>
            <a:r>
              <a:rPr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3" r:id="rId4"/>
    <p:sldLayoutId id="2147483682" r:id="rId5"/>
  </p:sldLayoutIdLst>
  <p:hf hdr="0" ftr="0" dt="0"/>
  <p:txStyles>
    <p:titleStyle>
      <a:lvl1pPr algn="l" defTabSz="914400" rtl="0" eaLnBrk="1" latinLnBrk="0" hangingPunct="1">
        <a:lnSpc>
          <a:spcPct val="90000"/>
        </a:lnSpc>
        <a:spcBef>
          <a:spcPct val="0"/>
        </a:spcBef>
        <a:buNone/>
        <a:defRPr lang="zh-CN" altLang="en-US" sz="2600" b="1" kern="1200" dirty="0">
          <a:solidFill>
            <a:srgbClr val="002060"/>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165" indent="-228600" algn="l" defTabSz="914400" rtl="0" eaLnBrk="1" latinLnBrk="0" hangingPunct="1">
        <a:lnSpc>
          <a:spcPct val="90000"/>
        </a:lnSpc>
        <a:spcBef>
          <a:spcPct val="95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95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950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4400" rtl="0" eaLnBrk="1" latinLnBrk="0" hangingPunct="1">
        <a:lnSpc>
          <a:spcPct val="90000"/>
        </a:lnSpc>
        <a:spcBef>
          <a:spcPct val="95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95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950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ct val="95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950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040" y="6356939"/>
            <a:ext cx="3502597"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p:cNvSpPr txBox="1"/>
          <p:nvPr userDrawn="1"/>
        </p:nvSpPr>
        <p:spPr>
          <a:xfrm>
            <a:off x="733845" y="6402807"/>
            <a:ext cx="499534" cy="138499"/>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p:cNvGrpSpPr>
            <a:grpSpLocks noChangeAspect="1"/>
          </p:cNvGrpSpPr>
          <p:nvPr userDrawn="1"/>
        </p:nvGrpSpPr>
        <p:grpSpPr>
          <a:xfrm>
            <a:off x="12285671" y="2625390"/>
            <a:ext cx="1967204"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pic>
        <p:nvPicPr>
          <p:cNvPr id="47" name="Picture 4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2194" y="6323416"/>
            <a:ext cx="1270304" cy="275024"/>
          </a:xfrm>
          <a:prstGeom prst="rect">
            <a:avLst/>
          </a:prstGeom>
        </p:spPr>
      </p:pic>
    </p:spTree>
  </p:cSld>
  <p:clrMap bg1="lt1" tx1="dk1" bg2="lt2" tx2="dk2" accent1="accent1" accent2="accent2" accent3="accent3" accent4="accent4" accent5="accent5" accent6="accent6" hlink="hlink" folHlink="folHlink"/>
  <p:sldLayoutIdLst>
    <p:sldLayoutId id="2147483665" r:id="rId1"/>
    <p:sldLayoutId id="2147483666" r:id="rId2"/>
  </p:sldLayoutIdLst>
  <p:hf hdr="0" ftr="0" dt="0"/>
  <p:txStyles>
    <p:titleStyle>
      <a:lvl1pPr algn="l" defTabSz="118745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545" indent="-296545" algn="l" defTabSz="1187450"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270" indent="-296545" algn="l" defTabSz="1187450" rtl="0" eaLnBrk="1" latinLnBrk="0" hangingPunct="1">
        <a:lnSpc>
          <a:spcPct val="90000"/>
        </a:lnSpc>
        <a:spcBef>
          <a:spcPts val="650"/>
        </a:spcBef>
        <a:buFont typeface="Arial" panose="020B0604020202020204" pitchFamily="34" charset="0"/>
        <a:buChar char="•"/>
        <a:defRPr sz="3115" kern="1200">
          <a:solidFill>
            <a:schemeClr val="tx1"/>
          </a:solidFill>
          <a:latin typeface="+mn-lt"/>
          <a:ea typeface="+mn-ea"/>
          <a:cs typeface="+mn-cs"/>
        </a:defRPr>
      </a:lvl2pPr>
      <a:lvl3pPr marL="1483995" indent="-296545" algn="l" defTabSz="1187450" rtl="0" eaLnBrk="1" latinLnBrk="0" hangingPunct="1">
        <a:lnSpc>
          <a:spcPct val="90000"/>
        </a:lnSpc>
        <a:spcBef>
          <a:spcPts val="650"/>
        </a:spcBef>
        <a:buFont typeface="Arial" panose="020B0604020202020204" pitchFamily="34" charset="0"/>
        <a:buChar char="•"/>
        <a:defRPr sz="2595" kern="1200">
          <a:solidFill>
            <a:schemeClr val="tx1"/>
          </a:solidFill>
          <a:latin typeface="+mn-lt"/>
          <a:ea typeface="+mn-ea"/>
          <a:cs typeface="+mn-cs"/>
        </a:defRPr>
      </a:lvl3pPr>
      <a:lvl4pPr marL="20777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4pPr>
      <a:lvl5pPr marL="26714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040" y="6356939"/>
            <a:ext cx="3502597"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p:cNvSpPr txBox="1"/>
          <p:nvPr userDrawn="1"/>
        </p:nvSpPr>
        <p:spPr>
          <a:xfrm>
            <a:off x="733845" y="6402807"/>
            <a:ext cx="499534" cy="138499"/>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p:cNvGrpSpPr>
            <a:grpSpLocks noChangeAspect="1"/>
          </p:cNvGrpSpPr>
          <p:nvPr userDrawn="1"/>
        </p:nvGrpSpPr>
        <p:grpSpPr>
          <a:xfrm>
            <a:off x="12285671" y="2625390"/>
            <a:ext cx="1967204"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pic>
        <p:nvPicPr>
          <p:cNvPr id="47" name="Picture 4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2194" y="6323416"/>
            <a:ext cx="1270304" cy="275024"/>
          </a:xfrm>
          <a:prstGeom prst="rect">
            <a:avLst/>
          </a:prstGeom>
        </p:spPr>
      </p:pic>
    </p:spTree>
  </p:cSld>
  <p:clrMap bg1="lt1" tx1="dk1" bg2="lt2" tx2="dk2" accent1="accent1" accent2="accent2" accent3="accent3" accent4="accent4" accent5="accent5" accent6="accent6" hlink="hlink" folHlink="folHlink"/>
  <p:sldLayoutIdLst>
    <p:sldLayoutId id="2147483668" r:id="rId1"/>
    <p:sldLayoutId id="2147483669" r:id="rId2"/>
  </p:sldLayoutIdLst>
  <p:hf hdr="0" ftr="0" dt="0"/>
  <p:txStyles>
    <p:titleStyle>
      <a:lvl1pPr algn="l" defTabSz="118745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545" indent="-296545" algn="l" defTabSz="1187450"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270" indent="-296545" algn="l" defTabSz="1187450" rtl="0" eaLnBrk="1" latinLnBrk="0" hangingPunct="1">
        <a:lnSpc>
          <a:spcPct val="90000"/>
        </a:lnSpc>
        <a:spcBef>
          <a:spcPts val="650"/>
        </a:spcBef>
        <a:buFont typeface="Arial" panose="020B0604020202020204" pitchFamily="34" charset="0"/>
        <a:buChar char="•"/>
        <a:defRPr sz="3115" kern="1200">
          <a:solidFill>
            <a:schemeClr val="tx1"/>
          </a:solidFill>
          <a:latin typeface="+mn-lt"/>
          <a:ea typeface="+mn-ea"/>
          <a:cs typeface="+mn-cs"/>
        </a:defRPr>
      </a:lvl2pPr>
      <a:lvl3pPr marL="1483995" indent="-296545" algn="l" defTabSz="1187450" rtl="0" eaLnBrk="1" latinLnBrk="0" hangingPunct="1">
        <a:lnSpc>
          <a:spcPct val="90000"/>
        </a:lnSpc>
        <a:spcBef>
          <a:spcPts val="650"/>
        </a:spcBef>
        <a:buFont typeface="Arial" panose="020B0604020202020204" pitchFamily="34" charset="0"/>
        <a:buChar char="•"/>
        <a:defRPr sz="2595" kern="1200">
          <a:solidFill>
            <a:schemeClr val="tx1"/>
          </a:solidFill>
          <a:latin typeface="+mn-lt"/>
          <a:ea typeface="+mn-ea"/>
          <a:cs typeface="+mn-cs"/>
        </a:defRPr>
      </a:lvl3pPr>
      <a:lvl4pPr marL="20777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4pPr>
      <a:lvl5pPr marL="26714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5"/>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334963" y="333375"/>
            <a:ext cx="2919412"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a:xfrm>
            <a:off x="0" y="4657090"/>
            <a:ext cx="12192000" cy="2200275"/>
          </a:xfrm>
          <a:prstGeom prst="rect">
            <a:avLst/>
          </a:prstGeom>
        </p:spPr>
      </p:pic>
    </p:spTree>
    <p:extLst>
      <p:ext uri="{BB962C8B-B14F-4D97-AF65-F5344CB8AC3E}">
        <p14:creationId xmlns:p14="http://schemas.microsoft.com/office/powerpoint/2010/main" val="311239446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4.xml"/><Relationship Id="rId7" Type="http://schemas.openxmlformats.org/officeDocument/2006/relationships/notesSlide" Target="../notesSlides/notesSlide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10.xml"/><Relationship Id="rId11" Type="http://schemas.openxmlformats.org/officeDocument/2006/relationships/image" Target="../media/image22.png"/><Relationship Id="rId5" Type="http://schemas.openxmlformats.org/officeDocument/2006/relationships/tags" Target="../tags/tag6.xml"/><Relationship Id="rId10" Type="http://schemas.openxmlformats.org/officeDocument/2006/relationships/image" Target="../media/image21.png"/><Relationship Id="rId4" Type="http://schemas.openxmlformats.org/officeDocument/2006/relationships/tags" Target="../tags/tag5.xml"/><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6" Type="http://schemas.openxmlformats.org/officeDocument/2006/relationships/image" Target="../media/image23.png"/><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5" Type="http://schemas.openxmlformats.org/officeDocument/2006/relationships/notesSlide" Target="../notesSlides/notesSlide3.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image" Target="../media/image24.pn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notesSlide" Target="../notesSlides/notesSlide4.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slideLayout" Target="../slideLayouts/slideLayout10.xml"/><Relationship Id="rId5" Type="http://schemas.openxmlformats.org/officeDocument/2006/relationships/tags" Target="../tags/tag24.xml"/><Relationship Id="rId10" Type="http://schemas.openxmlformats.org/officeDocument/2006/relationships/tags" Target="../tags/tag29.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notesSlide" Target="../notesSlides/notesSlide5.xml"/><Relationship Id="rId5" Type="http://schemas.openxmlformats.org/officeDocument/2006/relationships/slideLayout" Target="../slideLayouts/slideLayout10.xml"/><Relationship Id="rId4" Type="http://schemas.openxmlformats.org/officeDocument/2006/relationships/tags" Target="../tags/tag3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image" Target="../media/image29.png"/><Relationship Id="rId3" Type="http://schemas.openxmlformats.org/officeDocument/2006/relationships/tags" Target="../tags/tag36.xml"/><Relationship Id="rId21" Type="http://schemas.openxmlformats.org/officeDocument/2006/relationships/image" Target="../media/image32.jpeg"/><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notesSlide" Target="../notesSlides/notesSlide7.xml"/><Relationship Id="rId2" Type="http://schemas.openxmlformats.org/officeDocument/2006/relationships/tags" Target="../tags/tag35.xml"/><Relationship Id="rId16" Type="http://schemas.openxmlformats.org/officeDocument/2006/relationships/slideLayout" Target="../slideLayouts/slideLayout10.xml"/><Relationship Id="rId20" Type="http://schemas.openxmlformats.org/officeDocument/2006/relationships/image" Target="../media/image31.png"/><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5" Type="http://schemas.openxmlformats.org/officeDocument/2006/relationships/tags" Target="../tags/tag48.xml"/><Relationship Id="rId10" Type="http://schemas.openxmlformats.org/officeDocument/2006/relationships/tags" Target="../tags/tag43.xml"/><Relationship Id="rId19" Type="http://schemas.openxmlformats.org/officeDocument/2006/relationships/image" Target="../media/image30.jpeg"/><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image" Target="../media/image33.jpeg"/></Relationships>
</file>

<file path=ppt/slides/_rels/slide11.xml.rels><?xml version="1.0" encoding="UTF-8" standalone="yes"?>
<Relationships xmlns="http://schemas.openxmlformats.org/package/2006/relationships"><Relationship Id="rId13" Type="http://schemas.openxmlformats.org/officeDocument/2006/relationships/tags" Target="../tags/tag61.xml"/><Relationship Id="rId18" Type="http://schemas.openxmlformats.org/officeDocument/2006/relationships/tags" Target="../tags/tag66.xml"/><Relationship Id="rId26" Type="http://schemas.openxmlformats.org/officeDocument/2006/relationships/tags" Target="../tags/tag74.xml"/><Relationship Id="rId21" Type="http://schemas.openxmlformats.org/officeDocument/2006/relationships/tags" Target="../tags/tag69.xml"/><Relationship Id="rId34" Type="http://schemas.openxmlformats.org/officeDocument/2006/relationships/image" Target="../media/image38.png"/><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tags" Target="../tags/tag65.xml"/><Relationship Id="rId25" Type="http://schemas.openxmlformats.org/officeDocument/2006/relationships/tags" Target="../tags/tag73.xml"/><Relationship Id="rId33" Type="http://schemas.openxmlformats.org/officeDocument/2006/relationships/image" Target="../media/image37.svg"/><Relationship Id="rId2" Type="http://schemas.openxmlformats.org/officeDocument/2006/relationships/tags" Target="../tags/tag50.xml"/><Relationship Id="rId16" Type="http://schemas.openxmlformats.org/officeDocument/2006/relationships/tags" Target="../tags/tag64.xml"/><Relationship Id="rId20" Type="http://schemas.openxmlformats.org/officeDocument/2006/relationships/tags" Target="../tags/tag68.xml"/><Relationship Id="rId29" Type="http://schemas.openxmlformats.org/officeDocument/2006/relationships/notesSlide" Target="../notesSlides/notesSlide8.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24" Type="http://schemas.openxmlformats.org/officeDocument/2006/relationships/tags" Target="../tags/tag72.xml"/><Relationship Id="rId32" Type="http://schemas.openxmlformats.org/officeDocument/2006/relationships/image" Target="../media/image36.png"/><Relationship Id="rId37" Type="http://schemas.openxmlformats.org/officeDocument/2006/relationships/image" Target="../media/image41.png"/><Relationship Id="rId5" Type="http://schemas.openxmlformats.org/officeDocument/2006/relationships/tags" Target="../tags/tag53.xml"/><Relationship Id="rId15" Type="http://schemas.openxmlformats.org/officeDocument/2006/relationships/tags" Target="../tags/tag63.xml"/><Relationship Id="rId23" Type="http://schemas.openxmlformats.org/officeDocument/2006/relationships/tags" Target="../tags/tag71.xml"/><Relationship Id="rId28" Type="http://schemas.openxmlformats.org/officeDocument/2006/relationships/slideLayout" Target="../slideLayouts/slideLayout10.xml"/><Relationship Id="rId36" Type="http://schemas.openxmlformats.org/officeDocument/2006/relationships/image" Target="../media/image40.png"/><Relationship Id="rId10" Type="http://schemas.openxmlformats.org/officeDocument/2006/relationships/tags" Target="../tags/tag58.xml"/><Relationship Id="rId19" Type="http://schemas.openxmlformats.org/officeDocument/2006/relationships/tags" Target="../tags/tag67.xml"/><Relationship Id="rId31" Type="http://schemas.openxmlformats.org/officeDocument/2006/relationships/image" Target="../media/image35.png"/><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tags" Target="../tags/tag62.xml"/><Relationship Id="rId22" Type="http://schemas.openxmlformats.org/officeDocument/2006/relationships/tags" Target="../tags/tag70.xml"/><Relationship Id="rId27" Type="http://schemas.openxmlformats.org/officeDocument/2006/relationships/tags" Target="../tags/tag75.xml"/><Relationship Id="rId30" Type="http://schemas.openxmlformats.org/officeDocument/2006/relationships/image" Target="../media/image34.png"/><Relationship Id="rId35" Type="http://schemas.openxmlformats.org/officeDocument/2006/relationships/image" Target="../media/image39.png"/><Relationship Id="rId8" Type="http://schemas.openxmlformats.org/officeDocument/2006/relationships/tags" Target="../tags/tag56.xml"/><Relationship Id="rId3" Type="http://schemas.openxmlformats.org/officeDocument/2006/relationships/tags" Target="../tags/tag51.xml"/></Relationships>
</file>

<file path=ppt/slides/_rels/slide12.xml.rels><?xml version="1.0" encoding="UTF-8" standalone="yes"?>
<Relationships xmlns="http://schemas.openxmlformats.org/package/2006/relationships"><Relationship Id="rId8" Type="http://schemas.openxmlformats.org/officeDocument/2006/relationships/tags" Target="../tags/tag83.xml"/><Relationship Id="rId3" Type="http://schemas.openxmlformats.org/officeDocument/2006/relationships/tags" Target="../tags/tag78.xml"/><Relationship Id="rId7" Type="http://schemas.openxmlformats.org/officeDocument/2006/relationships/tags" Target="../tags/tag8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notesSlide" Target="../notesSlides/notesSlide9.xml"/><Relationship Id="rId5" Type="http://schemas.openxmlformats.org/officeDocument/2006/relationships/tags" Target="../tags/tag80.xml"/><Relationship Id="rId10" Type="http://schemas.openxmlformats.org/officeDocument/2006/relationships/slideLayout" Target="../slideLayouts/slideLayout10.xml"/><Relationship Id="rId4" Type="http://schemas.openxmlformats.org/officeDocument/2006/relationships/tags" Target="../tags/tag79.xml"/><Relationship Id="rId9" Type="http://schemas.openxmlformats.org/officeDocument/2006/relationships/tags" Target="../tags/tag84.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44.png"/><Relationship Id="rId4" Type="http://schemas.openxmlformats.org/officeDocument/2006/relationships/image" Target="../media/image43.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87.xml"/><Relationship Id="rId7" Type="http://schemas.openxmlformats.org/officeDocument/2006/relationships/slideLayout" Target="../slideLayouts/slideLayout10.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4277843"/>
            <a:ext cx="9144000" cy="1655762"/>
          </a:xfrm>
        </p:spPr>
        <p:txBody>
          <a:bodyPr/>
          <a:lstStyle/>
          <a:p>
            <a:pPr>
              <a:lnSpc>
                <a:spcPct val="150000"/>
              </a:lnSpc>
            </a:pPr>
            <a:r>
              <a:rPr lang="zh-CN" altLang="en-US" dirty="0">
                <a:latin typeface="微软雅黑" panose="020B0503020204020204" pitchFamily="34" charset="-122"/>
                <a:ea typeface="微软雅黑" panose="020B0503020204020204" pitchFamily="34" charset="-122"/>
              </a:rPr>
              <a:t>中国信息通信研究院</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云计算与大数据研究所</a:t>
            </a:r>
            <a:endParaRPr lang="en-US" altLang="zh-CN"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A4013912-7B06-42C2-908C-D02074918650}"/>
              </a:ext>
            </a:extLst>
          </p:cNvPr>
          <p:cNvSpPr txBox="1"/>
          <p:nvPr/>
        </p:nvSpPr>
        <p:spPr>
          <a:xfrm>
            <a:off x="393290" y="2421728"/>
            <a:ext cx="11488993" cy="791499"/>
          </a:xfrm>
          <a:prstGeom prst="rect">
            <a:avLst/>
          </a:prstGeom>
          <a:noFill/>
        </p:spPr>
        <p:txBody>
          <a:bodyPr wrap="square">
            <a:spAutoFit/>
          </a:bodyPr>
          <a:lstStyle/>
          <a:p>
            <a:pPr algn="r">
              <a:lnSpc>
                <a:spcPct val="125000"/>
              </a:lnSpc>
            </a:pPr>
            <a:r>
              <a:rPr lang="en-US" altLang="zh-CN" sz="4000" b="1" dirty="0">
                <a:latin typeface="微软雅黑" panose="020B0503020204020204" pitchFamily="34" charset="-122"/>
                <a:ea typeface="微软雅黑" panose="020B0503020204020204" pitchFamily="34" charset="-122"/>
                <a:cs typeface="TTTGB Medium" panose="020C06030202040F0204" charset="-122"/>
              </a:rPr>
              <a:t>《</a:t>
            </a:r>
            <a:r>
              <a:rPr lang="zh-CN" altLang="en-US" sz="4000" b="1" dirty="0">
                <a:latin typeface="微软雅黑" panose="020B0503020204020204" pitchFamily="34" charset="-122"/>
                <a:ea typeface="微软雅黑" panose="020B0503020204020204" pitchFamily="34" charset="-122"/>
                <a:cs typeface="TTTGB Medium" panose="020C06030202040F0204" charset="-122"/>
              </a:rPr>
              <a:t>智能体驱动的大模型系统工程与产业实践</a:t>
            </a:r>
            <a:r>
              <a:rPr lang="en-US" altLang="zh-CN" sz="4000" b="1" dirty="0">
                <a:latin typeface="微软雅黑" panose="020B0503020204020204" pitchFamily="34" charset="-122"/>
                <a:ea typeface="微软雅黑" panose="020B0503020204020204" pitchFamily="34" charset="-122"/>
                <a:cs typeface="TTTGB Medium" panose="020C06030202040F0204" charset="-122"/>
              </a:rPr>
              <a:t>》</a:t>
            </a:r>
            <a:r>
              <a:rPr lang="zh-CN" altLang="en-US" sz="4000" b="1" dirty="0">
                <a:latin typeface="微软雅黑" panose="020B0503020204020204" pitchFamily="34" charset="-122"/>
                <a:ea typeface="微软雅黑" panose="020B0503020204020204" pitchFamily="34" charset="-122"/>
                <a:cs typeface="TTTGB Medium" panose="020C06030202040F0204" charset="-122"/>
              </a:rPr>
              <a:t>解读</a:t>
            </a:r>
          </a:p>
        </p:txBody>
      </p:sp>
      <p:sp>
        <p:nvSpPr>
          <p:cNvPr id="9" name="文本框 8">
            <a:extLst>
              <a:ext uri="{FF2B5EF4-FFF2-40B4-BE49-F238E27FC236}">
                <a16:creationId xmlns:a16="http://schemas.microsoft.com/office/drawing/2014/main" id="{959CE65F-9A65-4A6A-98DB-5C809E615D80}"/>
              </a:ext>
            </a:extLst>
          </p:cNvPr>
          <p:cNvSpPr txBox="1"/>
          <p:nvPr/>
        </p:nvSpPr>
        <p:spPr>
          <a:xfrm>
            <a:off x="5786283" y="3644774"/>
            <a:ext cx="6096000" cy="406971"/>
          </a:xfrm>
          <a:prstGeom prst="rect">
            <a:avLst/>
          </a:prstGeom>
          <a:noFill/>
        </p:spPr>
        <p:txBody>
          <a:bodyPr wrap="square">
            <a:spAutoFit/>
          </a:bodyPr>
          <a:lstStyle/>
          <a:p>
            <a:pPr algn="r">
              <a:lnSpc>
                <a:spcPct val="125000"/>
              </a:lnSpc>
            </a:pPr>
            <a:r>
              <a:rPr lang="zh-CN" altLang="en-US" sz="1800" b="1" dirty="0">
                <a:latin typeface="微软雅黑" panose="020B0503020204020204" pitchFamily="34" charset="-122"/>
                <a:ea typeface="微软雅黑" panose="020B0503020204020204" pitchFamily="34" charset="-122"/>
                <a:cs typeface="TTTGB Medium" panose="020C06030202040F0204" charset="-122"/>
              </a:rPr>
              <a:t>云服务商与电信运营商的合作探索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9009B-D8F0-1759-6E5A-539984B8AAA0}"/>
            </a:ext>
          </a:extLst>
        </p:cNvPr>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1598A816-8172-4D3F-60AF-81D09A9F81AB}"/>
              </a:ext>
            </a:extLst>
          </p:cNvPr>
          <p:cNvCxnSpPr/>
          <p:nvPr/>
        </p:nvCxnSpPr>
        <p:spPr>
          <a:xfrm>
            <a:off x="2999656" y="1988840"/>
            <a:ext cx="0" cy="2669540"/>
          </a:xfrm>
          <a:prstGeom prst="line">
            <a:avLst/>
          </a:prstGeom>
          <a:solidFill>
            <a:schemeClr val="accent1"/>
          </a:solidFill>
          <a:ln w="38100" cap="flat" cmpd="sng" algn="ctr">
            <a:solidFill>
              <a:schemeClr val="tx1"/>
            </a:solidFill>
            <a:prstDash val="solid"/>
            <a:round/>
            <a:headEnd type="none" w="med" len="med"/>
            <a:tailEnd type="none" w="med" len="med"/>
          </a:ln>
        </p:spPr>
      </p:cxnSp>
      <p:sp>
        <p:nvSpPr>
          <p:cNvPr id="8" name="文本框 7">
            <a:extLst>
              <a:ext uri="{FF2B5EF4-FFF2-40B4-BE49-F238E27FC236}">
                <a16:creationId xmlns:a16="http://schemas.microsoft.com/office/drawing/2014/main" id="{7C4960A0-5C7E-B429-F370-0A8BDD698EC6}"/>
              </a:ext>
            </a:extLst>
          </p:cNvPr>
          <p:cNvSpPr txBox="1"/>
          <p:nvPr/>
        </p:nvSpPr>
        <p:spPr>
          <a:xfrm>
            <a:off x="3616197" y="2063541"/>
            <a:ext cx="7957416"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01  </a:t>
            </a:r>
            <a:r>
              <a:rPr kumimoji="1" lang="zh-CN" altLang="en-US" sz="3200" b="1" dirty="0">
                <a:latin typeface="微软雅黑" panose="020B0503020204020204" pitchFamily="34" charset="-122"/>
                <a:ea typeface="微软雅黑" panose="020B0503020204020204" pitchFamily="34" charset="-122"/>
              </a:rPr>
              <a:t>研究背景</a:t>
            </a:r>
            <a:endParaRPr kumimoji="1" lang="zh-CN" altLang="en-US" sz="3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DAC72C9A-0B08-7587-C5BC-F447173E6ACC}"/>
              </a:ext>
            </a:extLst>
          </p:cNvPr>
          <p:cNvSpPr txBox="1"/>
          <p:nvPr/>
        </p:nvSpPr>
        <p:spPr>
          <a:xfrm>
            <a:off x="3616197" y="2845435"/>
            <a:ext cx="795741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02  </a:t>
            </a:r>
            <a:r>
              <a:rPr kumimoji="1" lang="zh-CN" altLang="en-US" sz="3200" b="1" dirty="0">
                <a:latin typeface="微软雅黑" panose="020B0503020204020204" pitchFamily="34" charset="-122"/>
                <a:ea typeface="微软雅黑" panose="020B0503020204020204" pitchFamily="34" charset="-122"/>
              </a:rPr>
              <a:t>智能体驱动的大模型系统工程研究</a:t>
            </a:r>
            <a:endParaRPr kumimoji="1" lang="zh-CN" altLang="en-US" sz="3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C894B93E-2FB4-EB55-FBA3-DEB9093125DE}"/>
              </a:ext>
            </a:extLst>
          </p:cNvPr>
          <p:cNvSpPr txBox="1"/>
          <p:nvPr/>
        </p:nvSpPr>
        <p:spPr>
          <a:xfrm>
            <a:off x="3616535" y="3692399"/>
            <a:ext cx="7957416"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03  </a:t>
            </a:r>
            <a:r>
              <a:rPr kumimoji="1" lang="zh-CN" altLang="en-US" sz="3200" b="1" dirty="0">
                <a:latin typeface="微软雅黑" panose="020B0503020204020204" pitchFamily="34" charset="-122"/>
                <a:ea typeface="微软雅黑" panose="020B0503020204020204" pitchFamily="34" charset="-122"/>
              </a:rPr>
              <a:t>未来发展趋势</a:t>
            </a:r>
            <a:endParaRPr kumimoji="1" lang="zh-CN" altLang="en-US" sz="3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655114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7A1CAE8-D3A2-4B6C-9AD8-21EEF777D29C}"/>
              </a:ext>
            </a:extLst>
          </p:cNvPr>
          <p:cNvSpPr/>
          <p:nvPr/>
        </p:nvSpPr>
        <p:spPr>
          <a:xfrm>
            <a:off x="5461850" y="2228671"/>
            <a:ext cx="1268297" cy="1200329"/>
          </a:xfrm>
          <a:prstGeom prst="rect">
            <a:avLst/>
          </a:prstGeom>
          <a:noFill/>
        </p:spPr>
        <p:txBody>
          <a:bodyPr wrap="none" lIns="91440" tIns="45720" rIns="91440" bIns="45720">
            <a:spAutoFit/>
          </a:bodyPr>
          <a:lstStyle/>
          <a:p>
            <a:pPr algn="ctr"/>
            <a:r>
              <a:rPr lang="en-US" altLang="zh-CN" sz="7200" b="0" cap="none" spc="0" dirty="0">
                <a:ln w="0"/>
                <a:solidFill>
                  <a:schemeClr val="accent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DINCond-BoldAlternate" charset="0"/>
              </a:rPr>
              <a:t>01</a:t>
            </a:r>
            <a:endParaRPr lang="zh-CN" altLang="en-US" sz="7200" b="0" cap="none" spc="0" dirty="0">
              <a:ln w="0"/>
              <a:solidFill>
                <a:schemeClr val="accent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p:txBody>
      </p:sp>
      <p:sp>
        <p:nvSpPr>
          <p:cNvPr id="2" name="TextBox 3"/>
          <p:cNvSpPr txBox="1">
            <a:spLocks noChangeArrowheads="1"/>
          </p:cNvSpPr>
          <p:nvPr/>
        </p:nvSpPr>
        <p:spPr bwMode="auto">
          <a:xfrm flipH="1">
            <a:off x="2042474" y="3429000"/>
            <a:ext cx="8107051" cy="699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charset="0"/>
              </a:defRPr>
            </a:lvl1pPr>
            <a:lvl2pPr marL="742950" indent="-285750">
              <a:defRPr>
                <a:solidFill>
                  <a:schemeClr val="tx1"/>
                </a:solidFill>
                <a:latin typeface="Calibri" panose="020F0502020204030204" charset="0"/>
              </a:defRPr>
            </a:lvl2pPr>
            <a:lvl3pPr marL="1143000" indent="-228600">
              <a:defRPr>
                <a:solidFill>
                  <a:schemeClr val="tx1"/>
                </a:solidFill>
                <a:latin typeface="Calibri" panose="020F0502020204030204" charset="0"/>
              </a:defRPr>
            </a:lvl3pPr>
            <a:lvl4pPr marL="1600200" indent="-228600">
              <a:defRPr>
                <a:solidFill>
                  <a:schemeClr val="tx1"/>
                </a:solidFill>
                <a:latin typeface="Calibri" panose="020F0502020204030204" charset="0"/>
              </a:defRPr>
            </a:lvl4pPr>
            <a:lvl5pPr marL="2057400" indent="-228600">
              <a:defRPr>
                <a:solidFill>
                  <a:schemeClr val="tx1"/>
                </a:solidFill>
                <a:latin typeface="Calibri" panose="020F0502020204030204" charset="0"/>
              </a:defRPr>
            </a:lvl5pPr>
            <a:lvl6pPr marL="2514600" indent="-228600" fontAlgn="base">
              <a:spcBef>
                <a:spcPct val="0"/>
              </a:spcBef>
              <a:spcAft>
                <a:spcPct val="0"/>
              </a:spcAft>
              <a:defRPr>
                <a:solidFill>
                  <a:schemeClr val="tx1"/>
                </a:solidFill>
                <a:latin typeface="Calibri" panose="020F0502020204030204" charset="0"/>
              </a:defRPr>
            </a:lvl6pPr>
            <a:lvl7pPr marL="2971800" indent="-228600" fontAlgn="base">
              <a:spcBef>
                <a:spcPct val="0"/>
              </a:spcBef>
              <a:spcAft>
                <a:spcPct val="0"/>
              </a:spcAft>
              <a:defRPr>
                <a:solidFill>
                  <a:schemeClr val="tx1"/>
                </a:solidFill>
                <a:latin typeface="Calibri" panose="020F0502020204030204" charset="0"/>
              </a:defRPr>
            </a:lvl7pPr>
            <a:lvl8pPr marL="3429000" indent="-228600" fontAlgn="base">
              <a:spcBef>
                <a:spcPct val="0"/>
              </a:spcBef>
              <a:spcAft>
                <a:spcPct val="0"/>
              </a:spcAft>
              <a:defRPr>
                <a:solidFill>
                  <a:schemeClr val="tx1"/>
                </a:solidFill>
                <a:latin typeface="Calibri" panose="020F0502020204030204" charset="0"/>
              </a:defRPr>
            </a:lvl8pPr>
            <a:lvl9pPr marL="3886200" indent="-228600" fontAlgn="base">
              <a:spcBef>
                <a:spcPct val="0"/>
              </a:spcBef>
              <a:spcAft>
                <a:spcPct val="0"/>
              </a:spcAft>
              <a:defRPr>
                <a:solidFill>
                  <a:schemeClr val="tx1"/>
                </a:solidFill>
                <a:latin typeface="Calibri" panose="020F0502020204030204" charset="0"/>
              </a:defRPr>
            </a:lvl9pPr>
          </a:lstStyle>
          <a:p>
            <a:pPr algn="ctr">
              <a:lnSpc>
                <a:spcPct val="125000"/>
              </a:lnSpc>
            </a:pPr>
            <a:r>
              <a:rPr kumimoji="1" lang="zh-CN" altLang="en-US" sz="4000" b="1" dirty="0">
                <a:latin typeface="微软雅黑" panose="020B0503020204020204" pitchFamily="34" charset="-122"/>
                <a:ea typeface="微软雅黑" panose="020B0503020204020204" pitchFamily="34" charset="-122"/>
              </a:rPr>
              <a:t>研究背景</a:t>
            </a:r>
            <a:endParaRPr lang="zh-CN" altLang="en-US" sz="3996" b="1" dirty="0">
              <a:latin typeface="微软雅黑" panose="020B0503020204020204" pitchFamily="34" charset="-122"/>
              <a:ea typeface="微软雅黑" panose="020B0503020204020204" pitchFamily="34" charset="-122"/>
              <a:cs typeface="TTTGB Medium" panose="020C06030202040F0204" charset="-122"/>
            </a:endParaRPr>
          </a:p>
        </p:txBody>
      </p:sp>
    </p:spTree>
    <p:extLst>
      <p:ext uri="{BB962C8B-B14F-4D97-AF65-F5344CB8AC3E}">
        <p14:creationId xmlns:p14="http://schemas.microsoft.com/office/powerpoint/2010/main" val="4087512469"/>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EE642-FDBE-48A2-F651-88A117535704}"/>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FA57331C-590D-3932-0139-E4D90FC2C0F9}"/>
              </a:ext>
            </a:extLst>
          </p:cNvPr>
          <p:cNvSpPr txBox="1">
            <a:spLocks noChangeArrowheads="1"/>
          </p:cNvSpPr>
          <p:nvPr/>
        </p:nvSpPr>
        <p:spPr bwMode="auto">
          <a:xfrm>
            <a:off x="466723" y="944315"/>
            <a:ext cx="11174602" cy="57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charset="0"/>
              </a:defRPr>
            </a:lvl1pPr>
            <a:lvl2pPr marL="742950" indent="-285750">
              <a:defRPr>
                <a:solidFill>
                  <a:schemeClr val="tx1"/>
                </a:solidFill>
                <a:latin typeface="Calibri" panose="020F0502020204030204" charset="0"/>
              </a:defRPr>
            </a:lvl2pPr>
            <a:lvl3pPr marL="1143000" indent="-228600">
              <a:defRPr>
                <a:solidFill>
                  <a:schemeClr val="tx1"/>
                </a:solidFill>
                <a:latin typeface="Calibri" panose="020F0502020204030204" charset="0"/>
              </a:defRPr>
            </a:lvl3pPr>
            <a:lvl4pPr marL="1600200" indent="-228600">
              <a:defRPr>
                <a:solidFill>
                  <a:schemeClr val="tx1"/>
                </a:solidFill>
                <a:latin typeface="Calibri" panose="020F0502020204030204" charset="0"/>
              </a:defRPr>
            </a:lvl4pPr>
            <a:lvl5pPr marL="2057400" indent="-228600">
              <a:defRPr>
                <a:solidFill>
                  <a:schemeClr val="tx1"/>
                </a:solidFill>
                <a:latin typeface="Calibri" panose="020F0502020204030204" charset="0"/>
              </a:defRPr>
            </a:lvl5pPr>
            <a:lvl6pPr marL="2514600" indent="-228600" fontAlgn="base">
              <a:spcBef>
                <a:spcPct val="0"/>
              </a:spcBef>
              <a:spcAft>
                <a:spcPct val="0"/>
              </a:spcAft>
              <a:defRPr>
                <a:solidFill>
                  <a:schemeClr val="tx1"/>
                </a:solidFill>
                <a:latin typeface="Calibri" panose="020F0502020204030204" charset="0"/>
              </a:defRPr>
            </a:lvl6pPr>
            <a:lvl7pPr marL="2971800" indent="-228600" fontAlgn="base">
              <a:spcBef>
                <a:spcPct val="0"/>
              </a:spcBef>
              <a:spcAft>
                <a:spcPct val="0"/>
              </a:spcAft>
              <a:defRPr>
                <a:solidFill>
                  <a:schemeClr val="tx1"/>
                </a:solidFill>
                <a:latin typeface="Calibri" panose="020F0502020204030204" charset="0"/>
              </a:defRPr>
            </a:lvl7pPr>
            <a:lvl8pPr marL="3429000" indent="-228600" fontAlgn="base">
              <a:spcBef>
                <a:spcPct val="0"/>
              </a:spcBef>
              <a:spcAft>
                <a:spcPct val="0"/>
              </a:spcAft>
              <a:defRPr>
                <a:solidFill>
                  <a:schemeClr val="tx1"/>
                </a:solidFill>
                <a:latin typeface="Calibri" panose="020F0502020204030204" charset="0"/>
              </a:defRPr>
            </a:lvl8pPr>
            <a:lvl9pPr marL="3886200" indent="-228600" fontAlgn="base">
              <a:spcBef>
                <a:spcPct val="0"/>
              </a:spcBef>
              <a:spcAft>
                <a:spcPct val="0"/>
              </a:spcAft>
              <a:defRPr>
                <a:solidFill>
                  <a:schemeClr val="tx1"/>
                </a:solidFill>
                <a:latin typeface="Calibri" panose="020F0502020204030204" charset="0"/>
              </a:defRPr>
            </a:lvl9pPr>
          </a:lstStyle>
          <a:p>
            <a:pPr eaLnBrk="1" hangingPunct="1">
              <a:lnSpc>
                <a:spcPct val="150000"/>
              </a:lnSpc>
            </a:pPr>
            <a:r>
              <a:rPr lang="zh-CN" altLang="en-US" sz="1332" b="1" dirty="0">
                <a:latin typeface="微软雅黑" panose="020B0503020204020204" pitchFamily="34" charset="-122"/>
                <a:ea typeface="微软雅黑" panose="020B0503020204020204" pitchFamily="34" charset="-122"/>
                <a:cs typeface="TTTGB Medium" panose="020C06030202040F0204" charset="-122"/>
              </a:rPr>
              <a:t>伴随人工智能发展，国家、地方政府陆续出台相关政策，支持各行业发展人工智能大模型、智能体相关研究，并逐步提升对智能体建设的关注程度，培育人工智能应用服务商。</a:t>
            </a:r>
          </a:p>
        </p:txBody>
      </p:sp>
      <p:sp>
        <p:nvSpPr>
          <p:cNvPr id="8" name="文本框 7">
            <a:extLst>
              <a:ext uri="{FF2B5EF4-FFF2-40B4-BE49-F238E27FC236}">
                <a16:creationId xmlns:a16="http://schemas.microsoft.com/office/drawing/2014/main" id="{970FB787-6658-3509-7C60-8C119BC18B71}"/>
              </a:ext>
            </a:extLst>
          </p:cNvPr>
          <p:cNvSpPr txBox="1"/>
          <p:nvPr/>
        </p:nvSpPr>
        <p:spPr>
          <a:xfrm>
            <a:off x="466723" y="119748"/>
            <a:ext cx="8929579" cy="526298"/>
          </a:xfrm>
          <a:prstGeom prst="rect">
            <a:avLst/>
          </a:prstGeom>
          <a:noFill/>
        </p:spPr>
        <p:txBody>
          <a:bodyPr wrap="square" rtlCol="0">
            <a:spAutoFit/>
          </a:bodyPr>
          <a:lstStyle/>
          <a:p>
            <a:pPr defTabSz="913909">
              <a:lnSpc>
                <a:spcPct val="150000"/>
              </a:lnSpc>
            </a:pPr>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人工智能蓬勃发展，智能体是构建完善人工智能应用服务链的关键一环</a:t>
            </a:r>
          </a:p>
        </p:txBody>
      </p:sp>
      <p:sp>
        <p:nvSpPr>
          <p:cNvPr id="9" name="圆角矩形 8">
            <a:extLst>
              <a:ext uri="{FF2B5EF4-FFF2-40B4-BE49-F238E27FC236}">
                <a16:creationId xmlns:a16="http://schemas.microsoft.com/office/drawing/2014/main" id="{3A259213-9306-9931-5EEC-2FB574583195}"/>
              </a:ext>
            </a:extLst>
          </p:cNvPr>
          <p:cNvSpPr/>
          <p:nvPr/>
        </p:nvSpPr>
        <p:spPr>
          <a:xfrm>
            <a:off x="466723" y="1728142"/>
            <a:ext cx="11092330" cy="1334864"/>
          </a:xfrm>
          <a:prstGeom prst="roundRect">
            <a:avLst>
              <a:gd name="adj" fmla="val 1711"/>
            </a:avLst>
          </a:prstGeom>
          <a:gradFill>
            <a:gsLst>
              <a:gs pos="0">
                <a:schemeClr val="accent1">
                  <a:lumMod val="5000"/>
                  <a:lumOff val="95000"/>
                  <a:alpha val="5000"/>
                </a:schemeClr>
              </a:gs>
              <a:gs pos="99000">
                <a:schemeClr val="bg1">
                  <a:alpha val="3000"/>
                </a:schemeClr>
              </a:gs>
            </a:gsLst>
            <a:lin ang="16200000" scaled="0"/>
          </a:gradFill>
          <a:ln w="25400">
            <a:gradFill>
              <a:gsLst>
                <a:gs pos="0">
                  <a:schemeClr val="bg1"/>
                </a:gs>
                <a:gs pos="100000">
                  <a:schemeClr val="accent5">
                    <a:lumMod val="10000"/>
                    <a:lumOff val="9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just">
              <a:lnSpc>
                <a:spcPct val="150000"/>
              </a:lnSpc>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17" name="文本框 16">
            <a:extLst>
              <a:ext uri="{FF2B5EF4-FFF2-40B4-BE49-F238E27FC236}">
                <a16:creationId xmlns:a16="http://schemas.microsoft.com/office/drawing/2014/main" id="{9D60DE1A-63B5-9C0A-469B-EBBDD4904AB5}"/>
              </a:ext>
            </a:extLst>
          </p:cNvPr>
          <p:cNvSpPr txBox="1"/>
          <p:nvPr>
            <p:custDataLst>
              <p:tags r:id="rId1"/>
            </p:custDataLst>
          </p:nvPr>
        </p:nvSpPr>
        <p:spPr>
          <a:xfrm>
            <a:off x="608440" y="1861981"/>
            <a:ext cx="7593804" cy="1166986"/>
          </a:xfrm>
          <a:prstGeom prst="rect">
            <a:avLst/>
          </a:prstGeom>
          <a:noFill/>
          <a:ln>
            <a:noFill/>
          </a:ln>
        </p:spPr>
        <p:txBody>
          <a:bodyPr wrap="square" rtlCol="0">
            <a:spAutoFit/>
          </a:bodyPr>
          <a:lstStyle/>
          <a:p>
            <a:pPr marL="190310" indent="-190310" algn="just" defTabSz="608990">
              <a:lnSpc>
                <a:spcPct val="150000"/>
              </a:lnSpc>
              <a:buFont typeface="Wingdings" panose="05000000000000000000" pitchFamily="2" charset="2"/>
              <a:buChar char="u"/>
            </a:pPr>
            <a:r>
              <a:rPr lang="en-US" altLang="zh-CN"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2025</a:t>
            </a:r>
            <a:r>
              <a:rPr lang="zh-CN" altLang="en-US"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年</a:t>
            </a:r>
            <a:r>
              <a:rPr lang="en-US" altLang="zh-CN"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8</a:t>
            </a:r>
            <a:r>
              <a:rPr lang="zh-CN" altLang="en-US"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月，国务院印发</a:t>
            </a:r>
            <a:r>
              <a:rPr lang="en-US" altLang="zh-CN"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a:t>
            </a:r>
            <a:r>
              <a:rPr lang="zh-CN" altLang="en-US"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关于深入实施“人工智能</a:t>
            </a:r>
            <a:r>
              <a:rPr lang="en-US" altLang="zh-CN"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a:t>
            </a:r>
            <a:r>
              <a:rPr lang="zh-CN" altLang="en-US"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行动的意见</a:t>
            </a:r>
            <a:r>
              <a:rPr lang="en-US" altLang="zh-CN"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a:t>
            </a:r>
            <a:r>
              <a:rPr lang="zh-CN" altLang="en-US" sz="1199" dirty="0">
                <a:latin typeface="微软雅黑" panose="020B0503020204020204" pitchFamily="34" charset="-122"/>
                <a:ea typeface="微软雅黑" panose="020B0503020204020204" pitchFamily="34" charset="-122"/>
                <a:cs typeface="方正兰亭黑简体" panose="02000000000000000000" pitchFamily="2" charset="-122"/>
              </a:rPr>
              <a:t>，其中加快实施重点行动包括“在软件、信息、金融、商务、法律、交通、物流、商贸等领域，推动新一代智能终端、智能体等广泛应用”，强化基础支撑能力，包括“培育人工智能应用服务商，发展</a:t>
            </a:r>
            <a:r>
              <a:rPr lang="zh-CN" altLang="en-US"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‘模型即服务’</a:t>
            </a:r>
            <a:r>
              <a:rPr lang="zh-CN" altLang="en-US" sz="1199" dirty="0">
                <a:latin typeface="微软雅黑" panose="020B0503020204020204" pitchFamily="34" charset="-122"/>
                <a:ea typeface="微软雅黑" panose="020B0503020204020204" pitchFamily="34" charset="-122"/>
                <a:cs typeface="方正兰亭黑简体" panose="02000000000000000000" pitchFamily="2" charset="-122"/>
              </a:rPr>
              <a:t>、‘智能体即服务’等，打造人工智能应用服务链。</a:t>
            </a:r>
            <a:endParaRPr lang="zh-CN" altLang="en-US" sz="1199"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899FAE7-4398-D499-0CF8-E680B9B9121A}"/>
              </a:ext>
            </a:extLst>
          </p:cNvPr>
          <p:cNvPicPr>
            <a:picLocks noChangeAspect="1"/>
          </p:cNvPicPr>
          <p:nvPr/>
        </p:nvPicPr>
        <p:blipFill>
          <a:blip r:embed="rId8"/>
          <a:stretch>
            <a:fillRect/>
          </a:stretch>
        </p:blipFill>
        <p:spPr>
          <a:xfrm>
            <a:off x="8630199" y="1883358"/>
            <a:ext cx="2557850" cy="1111990"/>
          </a:xfrm>
          <a:prstGeom prst="rect">
            <a:avLst/>
          </a:prstGeom>
          <a:ln>
            <a:noFill/>
          </a:ln>
          <a:effectLst>
            <a:outerShdw blurRad="50800" dist="38100" dir="2700000" algn="tl" rotWithShape="0">
              <a:prstClr val="black">
                <a:alpha val="40000"/>
              </a:prstClr>
            </a:outerShdw>
          </a:effectLst>
        </p:spPr>
      </p:pic>
      <p:sp>
        <p:nvSpPr>
          <p:cNvPr id="14" name="圆角矩形 8">
            <a:extLst>
              <a:ext uri="{FF2B5EF4-FFF2-40B4-BE49-F238E27FC236}">
                <a16:creationId xmlns:a16="http://schemas.microsoft.com/office/drawing/2014/main" id="{8FEB4520-ABA6-0862-B268-81448C1897D5}"/>
              </a:ext>
            </a:extLst>
          </p:cNvPr>
          <p:cNvSpPr/>
          <p:nvPr/>
        </p:nvSpPr>
        <p:spPr>
          <a:xfrm>
            <a:off x="466724" y="3325754"/>
            <a:ext cx="11092330" cy="1385912"/>
          </a:xfrm>
          <a:prstGeom prst="roundRect">
            <a:avLst>
              <a:gd name="adj" fmla="val 1711"/>
            </a:avLst>
          </a:prstGeom>
          <a:gradFill>
            <a:gsLst>
              <a:gs pos="0">
                <a:schemeClr val="accent1">
                  <a:alpha val="5000"/>
                  <a:lumMod val="7000"/>
                  <a:lumOff val="93000"/>
                </a:schemeClr>
              </a:gs>
              <a:gs pos="99000">
                <a:schemeClr val="bg1">
                  <a:alpha val="3000"/>
                </a:schemeClr>
              </a:gs>
            </a:gsLst>
            <a:lin ang="16200000" scaled="0"/>
          </a:gradFill>
          <a:ln w="25400">
            <a:gradFill>
              <a:gsLst>
                <a:gs pos="0">
                  <a:schemeClr val="bg1"/>
                </a:gs>
                <a:gs pos="100000">
                  <a:schemeClr val="accent3">
                    <a:lumMod val="10000"/>
                    <a:lumOff val="9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just">
              <a:lnSpc>
                <a:spcPct val="150000"/>
              </a:lnSpc>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11" name="文本框 10">
            <a:extLst>
              <a:ext uri="{FF2B5EF4-FFF2-40B4-BE49-F238E27FC236}">
                <a16:creationId xmlns:a16="http://schemas.microsoft.com/office/drawing/2014/main" id="{60EA73AD-560D-EF85-7066-460E548DE08C}"/>
              </a:ext>
            </a:extLst>
          </p:cNvPr>
          <p:cNvSpPr txBox="1"/>
          <p:nvPr>
            <p:custDataLst>
              <p:tags r:id="rId2"/>
            </p:custDataLst>
          </p:nvPr>
        </p:nvSpPr>
        <p:spPr>
          <a:xfrm>
            <a:off x="607389" y="3513695"/>
            <a:ext cx="7508715" cy="619568"/>
          </a:xfrm>
          <a:prstGeom prst="rect">
            <a:avLst/>
          </a:prstGeom>
          <a:noFill/>
          <a:ln>
            <a:noFill/>
          </a:ln>
        </p:spPr>
        <p:txBody>
          <a:bodyPr wrap="square" rtlCol="0">
            <a:spAutoFit/>
          </a:bodyPr>
          <a:lstStyle/>
          <a:p>
            <a:pPr marL="190310" indent="-190310" algn="just" defTabSz="608990">
              <a:lnSpc>
                <a:spcPct val="150000"/>
              </a:lnSpc>
              <a:buFont typeface="Wingdings" panose="05000000000000000000" pitchFamily="2" charset="2"/>
              <a:buChar char="u"/>
            </a:pPr>
            <a:r>
              <a:rPr lang="en-US" altLang="zh-CN"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2023</a:t>
            </a:r>
            <a:r>
              <a:rPr lang="zh-CN" altLang="en-US"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年</a:t>
            </a:r>
            <a:r>
              <a:rPr lang="en-US" altLang="zh-CN"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7</a:t>
            </a:r>
            <a:r>
              <a:rPr lang="zh-CN" altLang="en-US"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月，国家网信办等七部门发布</a:t>
            </a:r>
            <a:r>
              <a:rPr lang="en-US" altLang="zh-CN"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a:t>
            </a:r>
            <a:r>
              <a:rPr lang="zh-CN" altLang="en-US"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生成式人工智能服务管理暂行办法</a:t>
            </a:r>
            <a:r>
              <a:rPr lang="en-US" altLang="zh-CN" sz="1199" b="1" dirty="0">
                <a:solidFill>
                  <a:schemeClr val="accent6"/>
                </a:solidFill>
                <a:latin typeface="微软雅黑" panose="020B0503020204020204" pitchFamily="34" charset="-122"/>
                <a:ea typeface="微软雅黑" panose="020B0503020204020204" pitchFamily="34" charset="-122"/>
                <a:cs typeface="方正兰亭黑简体" panose="02000000000000000000" pitchFamily="2" charset="-122"/>
              </a:rPr>
              <a:t>》</a:t>
            </a:r>
            <a:r>
              <a:rPr lang="zh-CN" altLang="en-US" sz="1199" dirty="0">
                <a:latin typeface="微软雅黑" panose="020B0503020204020204" pitchFamily="34" charset="-122"/>
                <a:ea typeface="微软雅黑" panose="020B0503020204020204" pitchFamily="34" charset="-122"/>
                <a:cs typeface="方正兰亭黑简体" panose="02000000000000000000" pitchFamily="2" charset="-122"/>
              </a:rPr>
              <a:t>，鼓励生成式人工智能技术在各行业、各领域的创新应用，生成积极健康、向上向善的优质内容，探索优化应用场景，构建应用生态体系。</a:t>
            </a:r>
            <a:endParaRPr lang="zh-CN" altLang="en-US" sz="1199" dirty="0">
              <a:latin typeface="微软雅黑" panose="020B0503020204020204" pitchFamily="34" charset="-122"/>
              <a:ea typeface="微软雅黑" panose="020B0503020204020204" pitchFamily="34" charset="-122"/>
            </a:endParaRPr>
          </a:p>
        </p:txBody>
      </p:sp>
      <p:pic>
        <p:nvPicPr>
          <p:cNvPr id="18" name="图片 17">
            <a:extLst>
              <a:ext uri="{FF2B5EF4-FFF2-40B4-BE49-F238E27FC236}">
                <a16:creationId xmlns:a16="http://schemas.microsoft.com/office/drawing/2014/main" id="{80CF26B8-FFC8-1620-7075-1A85BCF4FD51}"/>
              </a:ext>
            </a:extLst>
          </p:cNvPr>
          <p:cNvPicPr>
            <a:picLocks noChangeAspect="1"/>
          </p:cNvPicPr>
          <p:nvPr/>
        </p:nvPicPr>
        <p:blipFill>
          <a:blip r:embed="rId9"/>
          <a:stretch>
            <a:fillRect/>
          </a:stretch>
        </p:blipFill>
        <p:spPr>
          <a:xfrm>
            <a:off x="8550641" y="3399292"/>
            <a:ext cx="2557850" cy="1219169"/>
          </a:xfrm>
          <a:prstGeom prst="rect">
            <a:avLst/>
          </a:prstGeom>
          <a:ln>
            <a:noFill/>
          </a:ln>
          <a:effectLst/>
        </p:spPr>
      </p:pic>
      <p:sp>
        <p:nvSpPr>
          <p:cNvPr id="34" name="圆角矩形 8">
            <a:extLst>
              <a:ext uri="{FF2B5EF4-FFF2-40B4-BE49-F238E27FC236}">
                <a16:creationId xmlns:a16="http://schemas.microsoft.com/office/drawing/2014/main" id="{CCE5B43B-3BB3-0A7A-9AC6-D751BF3590DB}"/>
              </a:ext>
            </a:extLst>
          </p:cNvPr>
          <p:cNvSpPr/>
          <p:nvPr/>
        </p:nvSpPr>
        <p:spPr>
          <a:xfrm>
            <a:off x="466724" y="4869162"/>
            <a:ext cx="11092330" cy="1481874"/>
          </a:xfrm>
          <a:prstGeom prst="roundRect">
            <a:avLst>
              <a:gd name="adj" fmla="val 1711"/>
            </a:avLst>
          </a:prstGeom>
          <a:gradFill>
            <a:gsLst>
              <a:gs pos="0">
                <a:schemeClr val="accent1">
                  <a:lumMod val="5000"/>
                  <a:lumOff val="95000"/>
                  <a:alpha val="6000"/>
                </a:schemeClr>
              </a:gs>
              <a:gs pos="99000">
                <a:schemeClr val="bg1">
                  <a:alpha val="3000"/>
                </a:schemeClr>
              </a:gs>
            </a:gsLst>
            <a:lin ang="16200000" scaled="0"/>
          </a:gradFill>
          <a:ln w="25400">
            <a:gradFill>
              <a:gsLst>
                <a:gs pos="0">
                  <a:schemeClr val="bg1"/>
                </a:gs>
                <a:gs pos="100000">
                  <a:schemeClr val="accent1">
                    <a:lumMod val="10000"/>
                    <a:lumOff val="9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33" name="文本框 32">
            <a:extLst>
              <a:ext uri="{FF2B5EF4-FFF2-40B4-BE49-F238E27FC236}">
                <a16:creationId xmlns:a16="http://schemas.microsoft.com/office/drawing/2014/main" id="{F0BD7DE6-E156-CC72-3CD5-0EF974B86488}"/>
              </a:ext>
            </a:extLst>
          </p:cNvPr>
          <p:cNvSpPr txBox="1"/>
          <p:nvPr>
            <p:custDataLst>
              <p:tags r:id="rId3"/>
            </p:custDataLst>
          </p:nvPr>
        </p:nvSpPr>
        <p:spPr>
          <a:xfrm>
            <a:off x="731822" y="4995650"/>
            <a:ext cx="2704584" cy="1166986"/>
          </a:xfrm>
          <a:prstGeom prst="rect">
            <a:avLst/>
          </a:prstGeom>
          <a:noFill/>
          <a:ln>
            <a:noFill/>
          </a:ln>
        </p:spPr>
        <p:txBody>
          <a:bodyPr wrap="square" rtlCol="0">
            <a:spAutoFit/>
          </a:bodyPr>
          <a:lstStyle/>
          <a:p>
            <a:pPr marL="190310" indent="-190310" algn="just" defTabSz="608990">
              <a:lnSpc>
                <a:spcPct val="150000"/>
              </a:lnSpc>
              <a:buFont typeface="Wingdings" panose="05000000000000000000" pitchFamily="2" charset="2"/>
              <a:buChar char="u"/>
            </a:pPr>
            <a:r>
              <a:rPr lang="zh-CN" altLang="en-US" sz="1199" b="1" dirty="0">
                <a:solidFill>
                  <a:schemeClr val="accent6"/>
                </a:solidFill>
                <a:latin typeface="微软雅黑" panose="020B0503020204020204" pitchFamily="34" charset="-122"/>
                <a:ea typeface="微软雅黑" panose="020B0503020204020204" pitchFamily="34" charset="-122"/>
              </a:rPr>
              <a:t>北京、深圳、上海、浙江厦门等省市陆续发布相关文件，鼓励企业结合地方优势开展人工智能大模型、智能体研究工作</a:t>
            </a:r>
            <a:r>
              <a:rPr lang="zh-CN" altLang="en-US" sz="1199" dirty="0">
                <a:solidFill>
                  <a:schemeClr val="accent6"/>
                </a:solidFill>
                <a:latin typeface="微软雅黑" panose="020B0503020204020204" pitchFamily="34" charset="-122"/>
                <a:ea typeface="微软雅黑" panose="020B0503020204020204" pitchFamily="34" charset="-122"/>
              </a:rPr>
              <a:t>。</a:t>
            </a:r>
          </a:p>
        </p:txBody>
      </p:sp>
      <p:sp>
        <p:nvSpPr>
          <p:cNvPr id="36" name="文本框 35">
            <a:extLst>
              <a:ext uri="{FF2B5EF4-FFF2-40B4-BE49-F238E27FC236}">
                <a16:creationId xmlns:a16="http://schemas.microsoft.com/office/drawing/2014/main" id="{51214AE2-4D36-0A60-FDAF-2D9014E64B1E}"/>
              </a:ext>
            </a:extLst>
          </p:cNvPr>
          <p:cNvSpPr txBox="1"/>
          <p:nvPr>
            <p:custDataLst>
              <p:tags r:id="rId4"/>
            </p:custDataLst>
          </p:nvPr>
        </p:nvSpPr>
        <p:spPr>
          <a:xfrm>
            <a:off x="3642705" y="5014243"/>
            <a:ext cx="6252224" cy="526491"/>
          </a:xfrm>
          <a:prstGeom prst="rect">
            <a:avLst/>
          </a:prstGeom>
          <a:noFill/>
        </p:spPr>
        <p:txBody>
          <a:bodyPr wrap="square" rtlCol="0">
            <a:spAutoFit/>
          </a:bodyPr>
          <a:lstStyle/>
          <a:p>
            <a:pPr marL="190310" indent="-190310" algn="just" defTabSz="608990">
              <a:lnSpc>
                <a:spcPct val="150000"/>
              </a:lnSpc>
              <a:buFont typeface="Arial" panose="020B0604020202020204" pitchFamily="34" charset="0"/>
              <a:buChar char="•"/>
            </a:pPr>
            <a:r>
              <a:rPr lang="en-US" altLang="zh-CN" sz="999" dirty="0">
                <a:latin typeface="微软雅黑" panose="020B0503020204020204" pitchFamily="34" charset="-122"/>
                <a:ea typeface="微软雅黑" panose="020B0503020204020204" pitchFamily="34" charset="-122"/>
              </a:rPr>
              <a:t>2024</a:t>
            </a:r>
            <a:r>
              <a:rPr lang="zh-CN" altLang="en-US" sz="999" dirty="0">
                <a:latin typeface="微软雅黑" panose="020B0503020204020204" pitchFamily="34" charset="-122"/>
                <a:ea typeface="微软雅黑" panose="020B0503020204020204" pitchFamily="34" charset="-122"/>
              </a:rPr>
              <a:t>年</a:t>
            </a:r>
            <a:r>
              <a:rPr lang="en-US" altLang="zh-CN" sz="999" dirty="0">
                <a:latin typeface="微软雅黑" panose="020B0503020204020204" pitchFamily="34" charset="-122"/>
                <a:ea typeface="微软雅黑" panose="020B0503020204020204" pitchFamily="34" charset="-122"/>
              </a:rPr>
              <a:t>11</a:t>
            </a:r>
            <a:r>
              <a:rPr lang="zh-CN" altLang="en-US" sz="999" dirty="0">
                <a:latin typeface="微软雅黑" panose="020B0503020204020204" pitchFamily="34" charset="-122"/>
                <a:ea typeface="微软雅黑" panose="020B0503020204020204" pitchFamily="34" charset="-122"/>
              </a:rPr>
              <a:t>月，</a:t>
            </a:r>
            <a:r>
              <a:rPr lang="zh-CN" altLang="en-US" sz="999" b="1" dirty="0">
                <a:solidFill>
                  <a:schemeClr val="accent6"/>
                </a:solidFill>
                <a:latin typeface="微软雅黑" panose="020B0503020204020204" pitchFamily="34" charset="-122"/>
                <a:ea typeface="微软雅黑" panose="020B0503020204020204" pitchFamily="34" charset="-122"/>
              </a:rPr>
              <a:t>北京</a:t>
            </a:r>
            <a:r>
              <a:rPr lang="zh-CN" altLang="en-US" sz="999" dirty="0">
                <a:latin typeface="微软雅黑" panose="020B0503020204020204" pitchFamily="34" charset="-122"/>
                <a:ea typeface="微软雅黑" panose="020B0503020204020204" pitchFamily="34" charset="-122"/>
              </a:rPr>
              <a:t>经济技术开发区管理委员会印发</a:t>
            </a:r>
            <a:r>
              <a:rPr lang="en-US" altLang="zh-CN" sz="999" dirty="0">
                <a:latin typeface="微软雅黑" panose="020B0503020204020204" pitchFamily="34" charset="-122"/>
                <a:ea typeface="微软雅黑" panose="020B0503020204020204" pitchFamily="34" charset="-122"/>
              </a:rPr>
              <a:t>《</a:t>
            </a:r>
            <a:r>
              <a:rPr lang="zh-CN" altLang="en-US" sz="999" dirty="0">
                <a:latin typeface="微软雅黑" panose="020B0503020204020204" pitchFamily="34" charset="-122"/>
                <a:ea typeface="微软雅黑" panose="020B0503020204020204" pitchFamily="34" charset="-122"/>
              </a:rPr>
              <a:t>北京经济技术开发区关于加快打造</a:t>
            </a:r>
            <a:r>
              <a:rPr lang="en-US" altLang="zh-CN" sz="999" dirty="0">
                <a:latin typeface="微软雅黑" panose="020B0503020204020204" pitchFamily="34" charset="-122"/>
                <a:ea typeface="微软雅黑" panose="020B0503020204020204" pitchFamily="34" charset="-122"/>
              </a:rPr>
              <a:t>AI</a:t>
            </a:r>
            <a:r>
              <a:rPr lang="zh-CN" altLang="en-US" sz="999" dirty="0">
                <a:latin typeface="微软雅黑" panose="020B0503020204020204" pitchFamily="34" charset="-122"/>
                <a:ea typeface="微软雅黑" panose="020B0503020204020204" pitchFamily="34" charset="-122"/>
              </a:rPr>
              <a:t>原生产业创新高地的若干政策</a:t>
            </a:r>
            <a:r>
              <a:rPr lang="en-US" altLang="zh-CN" sz="999" dirty="0">
                <a:latin typeface="微软雅黑" panose="020B0503020204020204" pitchFamily="34" charset="-122"/>
                <a:ea typeface="微软雅黑" panose="020B0503020204020204" pitchFamily="34" charset="-122"/>
              </a:rPr>
              <a:t>》</a:t>
            </a:r>
            <a:r>
              <a:rPr lang="zh-CN" altLang="en-US" sz="999" dirty="0">
                <a:latin typeface="微软雅黑" panose="020B0503020204020204" pitchFamily="34" charset="-122"/>
                <a:ea typeface="微软雅黑" panose="020B0503020204020204" pitchFamily="34" charset="-122"/>
              </a:rPr>
              <a:t>，</a:t>
            </a:r>
            <a:r>
              <a:rPr lang="zh-CN" altLang="en-US" sz="999" b="1" dirty="0">
                <a:solidFill>
                  <a:schemeClr val="accent6"/>
                </a:solidFill>
                <a:latin typeface="微软雅黑" panose="020B0503020204020204" pitchFamily="34" charset="-122"/>
                <a:ea typeface="微软雅黑" panose="020B0503020204020204" pitchFamily="34" charset="-122"/>
              </a:rPr>
              <a:t>培育性能达到国际先进水平的通用大模型，打造人工智能标杆应用场景</a:t>
            </a:r>
            <a:r>
              <a:rPr lang="en-US" altLang="zh-CN" sz="999" b="1" dirty="0">
                <a:solidFill>
                  <a:schemeClr val="accent6"/>
                </a:solidFill>
                <a:latin typeface="微软雅黑" panose="020B0503020204020204" pitchFamily="34" charset="-122"/>
                <a:ea typeface="微软雅黑" panose="020B0503020204020204" pitchFamily="34" charset="-122"/>
              </a:rPr>
              <a:t>10</a:t>
            </a:r>
            <a:r>
              <a:rPr lang="zh-CN" altLang="en-US" sz="999" b="1" dirty="0">
                <a:solidFill>
                  <a:schemeClr val="accent6"/>
                </a:solidFill>
                <a:latin typeface="微软雅黑" panose="020B0503020204020204" pitchFamily="34" charset="-122"/>
                <a:ea typeface="微软雅黑" panose="020B0503020204020204" pitchFamily="34" charset="-122"/>
              </a:rPr>
              <a:t>个</a:t>
            </a:r>
            <a:r>
              <a:rPr lang="zh-CN" altLang="en-US" sz="999" dirty="0">
                <a:solidFill>
                  <a:schemeClr val="accent6"/>
                </a:solidFill>
                <a:latin typeface="微软雅黑" panose="020B0503020204020204" pitchFamily="34" charset="-122"/>
                <a:ea typeface="微软雅黑" panose="020B0503020204020204" pitchFamily="34" charset="-122"/>
              </a:rPr>
              <a:t>。</a:t>
            </a:r>
            <a:endParaRPr lang="en-US" altLang="zh-CN" sz="999" dirty="0">
              <a:solidFill>
                <a:schemeClr val="accent6"/>
              </a:solidFill>
              <a:latin typeface="微软雅黑" panose="020B0503020204020204" pitchFamily="34" charset="-122"/>
              <a:ea typeface="微软雅黑" panose="020B0503020204020204" pitchFamily="34" charset="-122"/>
            </a:endParaRPr>
          </a:p>
        </p:txBody>
      </p:sp>
      <p:pic>
        <p:nvPicPr>
          <p:cNvPr id="38" name="图片 37">
            <a:extLst>
              <a:ext uri="{FF2B5EF4-FFF2-40B4-BE49-F238E27FC236}">
                <a16:creationId xmlns:a16="http://schemas.microsoft.com/office/drawing/2014/main" id="{94489A1D-9DB2-AB4E-1181-6EC53A50E885}"/>
              </a:ext>
            </a:extLst>
          </p:cNvPr>
          <p:cNvPicPr>
            <a:picLocks noChangeAspect="1"/>
          </p:cNvPicPr>
          <p:nvPr/>
        </p:nvPicPr>
        <p:blipFill>
          <a:blip r:embed="rId10"/>
          <a:stretch>
            <a:fillRect/>
          </a:stretch>
        </p:blipFill>
        <p:spPr>
          <a:xfrm>
            <a:off x="10018590" y="5071850"/>
            <a:ext cx="1096699" cy="396403"/>
          </a:xfrm>
          <a:prstGeom prst="rect">
            <a:avLst/>
          </a:prstGeom>
          <a:effectLst>
            <a:outerShdw blurRad="50800" dist="38100" dir="2700000" algn="tl" rotWithShape="0">
              <a:prstClr val="black">
                <a:alpha val="40000"/>
              </a:prstClr>
            </a:outerShdw>
          </a:effectLst>
        </p:spPr>
      </p:pic>
      <p:sp>
        <p:nvSpPr>
          <p:cNvPr id="39" name="文本框 38">
            <a:extLst>
              <a:ext uri="{FF2B5EF4-FFF2-40B4-BE49-F238E27FC236}">
                <a16:creationId xmlns:a16="http://schemas.microsoft.com/office/drawing/2014/main" id="{59C48476-F5E9-B449-73A7-47EFDDC2C6F4}"/>
              </a:ext>
            </a:extLst>
          </p:cNvPr>
          <p:cNvSpPr txBox="1"/>
          <p:nvPr>
            <p:custDataLst>
              <p:tags r:id="rId5"/>
            </p:custDataLst>
          </p:nvPr>
        </p:nvSpPr>
        <p:spPr>
          <a:xfrm>
            <a:off x="3642705" y="5609254"/>
            <a:ext cx="6252224" cy="757130"/>
          </a:xfrm>
          <a:prstGeom prst="rect">
            <a:avLst/>
          </a:prstGeom>
          <a:noFill/>
        </p:spPr>
        <p:txBody>
          <a:bodyPr wrap="square" rtlCol="0">
            <a:spAutoFit/>
          </a:bodyPr>
          <a:lstStyle/>
          <a:p>
            <a:pPr marL="190310" indent="-190310" algn="just" defTabSz="608990">
              <a:lnSpc>
                <a:spcPct val="150000"/>
              </a:lnSpc>
              <a:buFont typeface="Arial" panose="020B0604020202020204" pitchFamily="34" charset="0"/>
              <a:buChar char="•"/>
            </a:pPr>
            <a:r>
              <a:rPr lang="en-US" altLang="zh-CN" sz="999" dirty="0">
                <a:latin typeface="微软雅黑" panose="020B0503020204020204" pitchFamily="34" charset="-122"/>
                <a:ea typeface="微软雅黑" panose="020B0503020204020204" pitchFamily="34" charset="-122"/>
              </a:rPr>
              <a:t>2024</a:t>
            </a:r>
            <a:r>
              <a:rPr lang="zh-CN" altLang="en-US" sz="999" dirty="0">
                <a:latin typeface="微软雅黑" panose="020B0503020204020204" pitchFamily="34" charset="-122"/>
                <a:ea typeface="微软雅黑" panose="020B0503020204020204" pitchFamily="34" charset="-122"/>
              </a:rPr>
              <a:t>年</a:t>
            </a:r>
            <a:r>
              <a:rPr lang="en-US" altLang="zh-CN" sz="999" dirty="0">
                <a:latin typeface="微软雅黑" panose="020B0503020204020204" pitchFamily="34" charset="-122"/>
                <a:ea typeface="微软雅黑" panose="020B0503020204020204" pitchFamily="34" charset="-122"/>
              </a:rPr>
              <a:t>12</a:t>
            </a:r>
            <a:r>
              <a:rPr lang="zh-CN" altLang="en-US" sz="999" dirty="0">
                <a:latin typeface="微软雅黑" panose="020B0503020204020204" pitchFamily="34" charset="-122"/>
                <a:ea typeface="微软雅黑" panose="020B0503020204020204" pitchFamily="34" charset="-122"/>
              </a:rPr>
              <a:t>月，</a:t>
            </a:r>
            <a:r>
              <a:rPr lang="zh-CN" altLang="en-US" sz="999" b="1" dirty="0">
                <a:solidFill>
                  <a:schemeClr val="accent6"/>
                </a:solidFill>
                <a:latin typeface="微软雅黑" panose="020B0503020204020204" pitchFamily="34" charset="-122"/>
                <a:ea typeface="微软雅黑" panose="020B0503020204020204" pitchFamily="34" charset="-122"/>
              </a:rPr>
              <a:t>深圳市</a:t>
            </a:r>
            <a:r>
              <a:rPr lang="zh-CN" altLang="en-US" sz="999" dirty="0">
                <a:latin typeface="微软雅黑" panose="020B0503020204020204" pitchFamily="34" charset="-122"/>
                <a:ea typeface="微软雅黑" panose="020B0503020204020204" pitchFamily="34" charset="-122"/>
              </a:rPr>
              <a:t>工业和信息化局印发</a:t>
            </a:r>
            <a:r>
              <a:rPr lang="en-US" altLang="zh-CN" sz="999" dirty="0">
                <a:latin typeface="微软雅黑" panose="020B0503020204020204" pitchFamily="34" charset="-122"/>
                <a:ea typeface="微软雅黑" panose="020B0503020204020204" pitchFamily="34" charset="-122"/>
              </a:rPr>
              <a:t>《</a:t>
            </a:r>
            <a:r>
              <a:rPr lang="zh-CN" altLang="en-US" sz="999" dirty="0">
                <a:latin typeface="微软雅黑" panose="020B0503020204020204" pitchFamily="34" charset="-122"/>
                <a:ea typeface="微软雅黑" panose="020B0503020204020204" pitchFamily="34" charset="-122"/>
              </a:rPr>
              <a:t>深圳市打造人工智能先锋城市的若干措施</a:t>
            </a:r>
            <a:r>
              <a:rPr lang="en-US" altLang="zh-CN" sz="999" dirty="0">
                <a:latin typeface="微软雅黑" panose="020B0503020204020204" pitchFamily="34" charset="-122"/>
                <a:ea typeface="微软雅黑" panose="020B0503020204020204" pitchFamily="34" charset="-122"/>
              </a:rPr>
              <a:t>》</a:t>
            </a:r>
            <a:r>
              <a:rPr lang="zh-CN" altLang="en-US" sz="999" dirty="0">
                <a:latin typeface="微软雅黑" panose="020B0503020204020204" pitchFamily="34" charset="-122"/>
                <a:ea typeface="微软雅黑" panose="020B0503020204020204" pitchFamily="34" charset="-122"/>
              </a:rPr>
              <a:t>，对企业依托经国家网信办备案的</a:t>
            </a:r>
            <a:r>
              <a:rPr lang="zh-CN" altLang="en-US" sz="999" b="1" dirty="0">
                <a:solidFill>
                  <a:schemeClr val="accent6"/>
                </a:solidFill>
                <a:latin typeface="微软雅黑" panose="020B0503020204020204" pitchFamily="34" charset="-122"/>
                <a:ea typeface="微软雅黑" panose="020B0503020204020204" pitchFamily="34" charset="-122"/>
              </a:rPr>
              <a:t>生成式人工智能模型开展模型服务、智能体开发应用等，达到一定规模、具有良好成效的给予资金支持</a:t>
            </a:r>
            <a:r>
              <a:rPr lang="zh-CN" altLang="en-US" sz="999" dirty="0">
                <a:solidFill>
                  <a:schemeClr val="accent6"/>
                </a:solidFill>
                <a:latin typeface="微软雅黑" panose="020B0503020204020204" pitchFamily="34" charset="-122"/>
                <a:ea typeface="微软雅黑" panose="020B0503020204020204" pitchFamily="34" charset="-122"/>
              </a:rPr>
              <a:t>。</a:t>
            </a:r>
            <a:endParaRPr lang="en-US" altLang="zh-CN" sz="999" dirty="0">
              <a:solidFill>
                <a:schemeClr val="accent6"/>
              </a:solidFill>
              <a:latin typeface="微软雅黑" panose="020B0503020204020204" pitchFamily="34" charset="-122"/>
              <a:ea typeface="微软雅黑" panose="020B0503020204020204" pitchFamily="34" charset="-122"/>
            </a:endParaRPr>
          </a:p>
        </p:txBody>
      </p:sp>
      <p:pic>
        <p:nvPicPr>
          <p:cNvPr id="41" name="图片 40">
            <a:extLst>
              <a:ext uri="{FF2B5EF4-FFF2-40B4-BE49-F238E27FC236}">
                <a16:creationId xmlns:a16="http://schemas.microsoft.com/office/drawing/2014/main" id="{60E90D8C-CEDC-8E86-A7D1-4A764D578A51}"/>
              </a:ext>
            </a:extLst>
          </p:cNvPr>
          <p:cNvPicPr>
            <a:picLocks noChangeAspect="1"/>
          </p:cNvPicPr>
          <p:nvPr/>
        </p:nvPicPr>
        <p:blipFill>
          <a:blip r:embed="rId11"/>
          <a:stretch>
            <a:fillRect/>
          </a:stretch>
        </p:blipFill>
        <p:spPr>
          <a:xfrm>
            <a:off x="10025640" y="5609254"/>
            <a:ext cx="1089648" cy="49919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064795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59344" y="151689"/>
            <a:ext cx="9179262" cy="420243"/>
          </a:xfrm>
          <a:prstGeom prst="rect">
            <a:avLst/>
          </a:prstGeom>
          <a:noFill/>
        </p:spPr>
        <p:txBody>
          <a:bodyPr wrap="square" rtlCol="0">
            <a:spAutoFit/>
          </a:bodyPr>
          <a:lstStyle/>
          <a:p>
            <a:pPr defTabSz="913909"/>
            <a:r>
              <a:rPr lang="en-US" altLang="zh-CN" sz="2131" b="1" dirty="0">
                <a:latin typeface="微软雅黑" panose="020B0503020204020204" pitchFamily="34" charset="-122"/>
                <a:ea typeface="微软雅黑" panose="020B0503020204020204" pitchFamily="34" charset="-122"/>
                <a:cs typeface="微软雅黑 Light" panose="020B0502040204020203" charset="-122"/>
                <a:sym typeface="+mn-lt"/>
              </a:rPr>
              <a:t>AI</a:t>
            </a:r>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大模型向多模态融合发展，形成全球技术领先者与多元应用生态共生格局</a:t>
            </a:r>
          </a:p>
        </p:txBody>
      </p:sp>
      <p:sp>
        <p:nvSpPr>
          <p:cNvPr id="65" name="椭圆 64"/>
          <p:cNvSpPr/>
          <p:nvPr/>
        </p:nvSpPr>
        <p:spPr>
          <a:xfrm>
            <a:off x="8025510" y="-822075"/>
            <a:ext cx="8502152" cy="8502152"/>
          </a:xfrm>
          <a:prstGeom prst="ellipse">
            <a:avLst/>
          </a:prstGeom>
          <a:noFill/>
          <a:ln w="6350">
            <a:gradFill>
              <a:gsLst>
                <a:gs pos="19000">
                  <a:srgbClr val="F2F2F2">
                    <a:alpha val="0"/>
                  </a:srgbClr>
                </a:gs>
                <a:gs pos="2000">
                  <a:schemeClr val="bg1">
                    <a:lumMod val="95000"/>
                    <a:alpha val="63000"/>
                  </a:schemeClr>
                </a:gs>
              </a:gsLst>
              <a:lin ang="2136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79" name="椭圆 78"/>
          <p:cNvSpPr/>
          <p:nvPr/>
        </p:nvSpPr>
        <p:spPr>
          <a:xfrm>
            <a:off x="6590591" y="-1781915"/>
            <a:ext cx="10421829" cy="10421829"/>
          </a:xfrm>
          <a:prstGeom prst="ellipse">
            <a:avLst/>
          </a:prstGeom>
          <a:noFill/>
          <a:ln w="6350">
            <a:gradFill>
              <a:gsLst>
                <a:gs pos="13000">
                  <a:srgbClr val="F2F2F2">
                    <a:alpha val="0"/>
                  </a:srgbClr>
                </a:gs>
                <a:gs pos="2000">
                  <a:schemeClr val="bg1">
                    <a:lumMod val="95000"/>
                    <a:alpha val="55000"/>
                  </a:schemeClr>
                </a:gs>
              </a:gsLst>
              <a:lin ang="2136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11" name="圆角矩形 8"/>
          <p:cNvSpPr/>
          <p:nvPr/>
        </p:nvSpPr>
        <p:spPr>
          <a:xfrm>
            <a:off x="6017839" y="973601"/>
            <a:ext cx="5978079" cy="5746591"/>
          </a:xfrm>
          <a:prstGeom prst="roundRect">
            <a:avLst>
              <a:gd name="adj" fmla="val 1711"/>
            </a:avLst>
          </a:prstGeom>
          <a:solidFill>
            <a:schemeClr val="bg1"/>
          </a:solidFill>
          <a:ln w="25400">
            <a:gradFill>
              <a:gsLst>
                <a:gs pos="0">
                  <a:schemeClr val="bg1">
                    <a:alpha val="11000"/>
                  </a:schemeClr>
                </a:gs>
                <a:gs pos="55000">
                  <a:srgbClr val="F8FEFC">
                    <a:alpha val="82000"/>
                  </a:srgbClr>
                </a:gs>
                <a:gs pos="100000">
                  <a:schemeClr val="bg1">
                    <a:alpha val="19000"/>
                  </a:schemeClr>
                </a:gs>
              </a:gsLst>
              <a:lin ang="18900000" scaled="1"/>
            </a:grad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pic>
        <p:nvPicPr>
          <p:cNvPr id="12" name="图片 11" descr="图形用户界面&#10;&#10;AI 生成的内容可能不正确。"/>
          <p:cNvPicPr>
            <a:picLocks noChangeAspect="1"/>
          </p:cNvPicPr>
          <p:nvPr/>
        </p:nvPicPr>
        <p:blipFill>
          <a:blip r:embed="rId16"/>
          <a:stretch>
            <a:fillRect/>
          </a:stretch>
        </p:blipFill>
        <p:spPr>
          <a:xfrm>
            <a:off x="6130927" y="1113385"/>
            <a:ext cx="5673361" cy="5334316"/>
          </a:xfrm>
          <a:prstGeom prst="rect">
            <a:avLst/>
          </a:prstGeom>
        </p:spPr>
      </p:pic>
      <p:grpSp>
        <p:nvGrpSpPr>
          <p:cNvPr id="3" name="组合 2">
            <a:extLst>
              <a:ext uri="{FF2B5EF4-FFF2-40B4-BE49-F238E27FC236}">
                <a16:creationId xmlns:a16="http://schemas.microsoft.com/office/drawing/2014/main" id="{A7D33EA4-0352-44A9-BF0F-2C3D98816CAB}"/>
              </a:ext>
            </a:extLst>
          </p:cNvPr>
          <p:cNvGrpSpPr/>
          <p:nvPr/>
        </p:nvGrpSpPr>
        <p:grpSpPr>
          <a:xfrm>
            <a:off x="1321008" y="1545696"/>
            <a:ext cx="3765764" cy="4665618"/>
            <a:chOff x="790066" y="1631865"/>
            <a:chExt cx="3765764" cy="4665618"/>
          </a:xfrm>
        </p:grpSpPr>
        <p:grpSp>
          <p:nvGrpSpPr>
            <p:cNvPr id="19" name="组合 18"/>
            <p:cNvGrpSpPr/>
            <p:nvPr/>
          </p:nvGrpSpPr>
          <p:grpSpPr>
            <a:xfrm>
              <a:off x="790066" y="1631865"/>
              <a:ext cx="3765764" cy="969424"/>
              <a:chOff x="1338580" y="3662828"/>
              <a:chExt cx="5654040" cy="1455525"/>
            </a:xfrm>
          </p:grpSpPr>
          <p:sp>
            <p:nvSpPr>
              <p:cNvPr id="91" name="文本框 90"/>
              <p:cNvSpPr txBox="1"/>
              <p:nvPr>
                <p:custDataLst>
                  <p:tags r:id="rId11"/>
                </p:custDataLst>
              </p:nvPr>
            </p:nvSpPr>
            <p:spPr>
              <a:xfrm>
                <a:off x="1528594" y="3662828"/>
                <a:ext cx="2389088" cy="4911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r" defTabSz="653819">
                  <a:defRPr/>
                </a:pPr>
                <a:r>
                  <a:rPr lang="zh-CN" altLang="en-US" sz="1598" b="1" kern="0" dirty="0">
                    <a:solidFill>
                      <a:schemeClr val="accent6"/>
                    </a:solidFill>
                    <a:latin typeface="微软雅黑" panose="020B0503020204020204" pitchFamily="34" charset="-122"/>
                    <a:ea typeface="微软雅黑" panose="020B0503020204020204" pitchFamily="34" charset="-122"/>
                    <a:cs typeface="Helvetica Neue" panose="02000206000000020004"/>
                    <a:sym typeface="Helvetica Neue" panose="02000206000000020004"/>
                  </a:rPr>
                  <a:t>从发布数量来看</a:t>
                </a:r>
              </a:p>
            </p:txBody>
          </p:sp>
          <p:sp>
            <p:nvSpPr>
              <p:cNvPr id="92" name="文本框 91"/>
              <p:cNvSpPr txBox="1"/>
              <p:nvPr>
                <p:custDataLst>
                  <p:tags r:id="rId12"/>
                </p:custDataLst>
              </p:nvPr>
            </p:nvSpPr>
            <p:spPr>
              <a:xfrm>
                <a:off x="1338580" y="4109720"/>
                <a:ext cx="5654040" cy="1008633"/>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defTabSz="653819">
                  <a:lnSpc>
                    <a:spcPct val="120000"/>
                  </a:lnSpc>
                  <a:defRPr/>
                </a:pPr>
                <a:r>
                  <a:rPr lang="en-US" altLang="zh-CN"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2024</a:t>
                </a:r>
                <a:r>
                  <a:rPr lang="zh-CN" altLang="en-US"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年</a:t>
                </a:r>
                <a:r>
                  <a:rPr lang="en-US" altLang="zh-CN"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9</a:t>
                </a:r>
                <a:r>
                  <a:rPr lang="zh-CN" altLang="en-US"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月至今，</a:t>
                </a:r>
                <a:r>
                  <a:rPr lang="en-US" altLang="zh-CN"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AI</a:t>
                </a:r>
                <a:r>
                  <a:rPr lang="zh-CN" altLang="en-US"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大模型发布以版本更新为主，新发布大模型数量显著降低，但欧洲个别国家，如意大利等，开始研发自己的大语言模型，强调欧洲本地语言的支持</a:t>
                </a:r>
              </a:p>
            </p:txBody>
          </p:sp>
          <p:sp>
            <p:nvSpPr>
              <p:cNvPr id="99" name="椭圆 98"/>
              <p:cNvSpPr/>
              <p:nvPr>
                <p:custDataLst>
                  <p:tags r:id="rId13"/>
                </p:custDataLst>
              </p:nvPr>
            </p:nvSpPr>
            <p:spPr>
              <a:xfrm>
                <a:off x="1455624" y="3819151"/>
                <a:ext cx="145939" cy="145939"/>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dirty="0">
                  <a:solidFill>
                    <a:schemeClr val="tx1"/>
                  </a:solidFill>
                  <a:latin typeface="微软雅黑" panose="020B0503020204020204" pitchFamily="34" charset="-122"/>
                  <a:ea typeface="微软雅黑" panose="020B0503020204020204" pitchFamily="34" charset="-122"/>
                </a:endParaRPr>
              </a:p>
            </p:txBody>
          </p:sp>
        </p:grpSp>
        <p:grpSp>
          <p:nvGrpSpPr>
            <p:cNvPr id="2" name="组合 1">
              <a:extLst>
                <a:ext uri="{FF2B5EF4-FFF2-40B4-BE49-F238E27FC236}">
                  <a16:creationId xmlns:a16="http://schemas.microsoft.com/office/drawing/2014/main" id="{5B9DC9B4-ED28-4247-9919-0A7881B670FE}"/>
                </a:ext>
              </a:extLst>
            </p:cNvPr>
            <p:cNvGrpSpPr/>
            <p:nvPr/>
          </p:nvGrpSpPr>
          <p:grpSpPr>
            <a:xfrm>
              <a:off x="790066" y="2873143"/>
              <a:ext cx="3765764" cy="978544"/>
              <a:chOff x="790066" y="2873143"/>
              <a:chExt cx="3765764" cy="978544"/>
            </a:xfrm>
          </p:grpSpPr>
          <p:sp>
            <p:nvSpPr>
              <p:cNvPr id="93" name="文本框 92"/>
              <p:cNvSpPr txBox="1"/>
              <p:nvPr>
                <p:custDataLst>
                  <p:tags r:id="rId8"/>
                </p:custDataLst>
              </p:nvPr>
            </p:nvSpPr>
            <p:spPr>
              <a:xfrm>
                <a:off x="916621" y="2873143"/>
                <a:ext cx="1591206" cy="327135"/>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r" defTabSz="653819">
                  <a:defRPr/>
                </a:pPr>
                <a:r>
                  <a:rPr lang="zh-CN" altLang="en-US" sz="1598" b="1" kern="0" dirty="0">
                    <a:solidFill>
                      <a:schemeClr val="accent6"/>
                    </a:solidFill>
                    <a:latin typeface="微软雅黑" panose="020B0503020204020204" pitchFamily="34" charset="-122"/>
                    <a:ea typeface="微软雅黑" panose="020B0503020204020204" pitchFamily="34" charset="-122"/>
                    <a:cs typeface="Helvetica Neue" panose="02000206000000020004"/>
                    <a:sym typeface="Helvetica Neue" panose="02000206000000020004"/>
                  </a:rPr>
                  <a:t>从模型体量来看</a:t>
                </a:r>
              </a:p>
            </p:txBody>
          </p:sp>
          <p:sp>
            <p:nvSpPr>
              <p:cNvPr id="94" name="文本框 93"/>
              <p:cNvSpPr txBox="1"/>
              <p:nvPr>
                <p:custDataLst>
                  <p:tags r:id="rId9"/>
                </p:custDataLst>
              </p:nvPr>
            </p:nvSpPr>
            <p:spPr>
              <a:xfrm>
                <a:off x="790066" y="3179907"/>
                <a:ext cx="3765764" cy="671780"/>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defTabSz="653819">
                  <a:lnSpc>
                    <a:spcPct val="120000"/>
                  </a:lnSpc>
                  <a:defRPr/>
                </a:pP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AI</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大模型在不断突破参数规模上限的同时，也关注到了边缘与终端设备的需求，如</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Meta</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的</a:t>
                </a:r>
                <a:r>
                  <a:rPr lang="en-US" altLang="zh-CN" sz="1066" kern="0" dirty="0" err="1">
                    <a:latin typeface="微软雅黑" panose="020B0503020204020204" pitchFamily="34" charset="-122"/>
                    <a:ea typeface="微软雅黑" panose="020B0503020204020204" pitchFamily="34" charset="-122"/>
                    <a:cs typeface="Helvetica Neue" panose="02000206000000020004"/>
                    <a:sym typeface="Helvetica Neue" panose="02000206000000020004"/>
                  </a:rPr>
                  <a:t>LLaMa</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 3.1 8B</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等，已经在探索</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AI</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大模型小型化的可能性</a:t>
                </a:r>
              </a:p>
            </p:txBody>
          </p:sp>
          <p:sp>
            <p:nvSpPr>
              <p:cNvPr id="100" name="椭圆 99"/>
              <p:cNvSpPr/>
              <p:nvPr>
                <p:custDataLst>
                  <p:tags r:id="rId10"/>
                </p:custDataLst>
              </p:nvPr>
            </p:nvSpPr>
            <p:spPr>
              <a:xfrm>
                <a:off x="857652" y="2979925"/>
                <a:ext cx="97200" cy="97200"/>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dirty="0">
                  <a:solidFill>
                    <a:schemeClr val="tx1"/>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790066" y="4231101"/>
              <a:ext cx="3765763" cy="813907"/>
              <a:chOff x="1846580" y="7525074"/>
              <a:chExt cx="5654039" cy="1222026"/>
            </a:xfrm>
          </p:grpSpPr>
          <p:sp>
            <p:nvSpPr>
              <p:cNvPr id="97" name="文本框 96"/>
              <p:cNvSpPr txBox="1"/>
              <p:nvPr>
                <p:custDataLst>
                  <p:tags r:id="rId5"/>
                </p:custDataLst>
              </p:nvPr>
            </p:nvSpPr>
            <p:spPr>
              <a:xfrm>
                <a:off x="2021025" y="7525074"/>
                <a:ext cx="2389090" cy="4911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r" defTabSz="653819">
                  <a:defRPr/>
                </a:pPr>
                <a:r>
                  <a:rPr lang="zh-CN" altLang="en-US" sz="1598" b="1" kern="0" dirty="0">
                    <a:solidFill>
                      <a:schemeClr val="accent6"/>
                    </a:solidFill>
                    <a:latin typeface="微软雅黑" panose="020B0503020204020204" pitchFamily="34" charset="-122"/>
                    <a:ea typeface="微软雅黑" panose="020B0503020204020204" pitchFamily="34" charset="-122"/>
                    <a:cs typeface="Helvetica Neue" panose="02000206000000020004"/>
                    <a:sym typeface="Helvetica Neue" panose="02000206000000020004"/>
                  </a:rPr>
                  <a:t>从模型性能来看</a:t>
                </a:r>
              </a:p>
            </p:txBody>
          </p:sp>
          <p:sp>
            <p:nvSpPr>
              <p:cNvPr id="98" name="文本框 97"/>
              <p:cNvSpPr txBox="1"/>
              <p:nvPr>
                <p:custDataLst>
                  <p:tags r:id="rId6"/>
                </p:custDataLst>
              </p:nvPr>
            </p:nvSpPr>
            <p:spPr>
              <a:xfrm>
                <a:off x="1846580" y="8034023"/>
                <a:ext cx="5654039" cy="713077"/>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defTabSz="653819">
                  <a:lnSpc>
                    <a:spcPct val="120000"/>
                  </a:lnSpc>
                  <a:defRPr/>
                </a:pP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长上下文能力持续增强，上下文窗口从几十万</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token</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扩展到百万级别，更适合长文档分析、代码库理解等场景</a:t>
                </a:r>
              </a:p>
            </p:txBody>
          </p:sp>
          <p:sp>
            <p:nvSpPr>
              <p:cNvPr id="101" name="椭圆 100"/>
              <p:cNvSpPr/>
              <p:nvPr>
                <p:custDataLst>
                  <p:tags r:id="rId7"/>
                </p:custDataLst>
              </p:nvPr>
            </p:nvSpPr>
            <p:spPr>
              <a:xfrm>
                <a:off x="1965564" y="7717617"/>
                <a:ext cx="143999" cy="143999"/>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dirty="0">
                  <a:solidFill>
                    <a:schemeClr val="tx1"/>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790066" y="5495417"/>
              <a:ext cx="3765763" cy="802066"/>
              <a:chOff x="2458316" y="8977952"/>
              <a:chExt cx="5654039" cy="1204247"/>
            </a:xfrm>
          </p:grpSpPr>
          <p:sp>
            <p:nvSpPr>
              <p:cNvPr id="13" name="文本框 12"/>
              <p:cNvSpPr txBox="1"/>
              <p:nvPr>
                <p:custDataLst>
                  <p:tags r:id="rId2"/>
                </p:custDataLst>
              </p:nvPr>
            </p:nvSpPr>
            <p:spPr>
              <a:xfrm>
                <a:off x="2721299" y="8977952"/>
                <a:ext cx="2389090" cy="4911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r" defTabSz="653819">
                  <a:defRPr/>
                </a:pPr>
                <a:r>
                  <a:rPr lang="zh-CN" altLang="en-US" sz="1598" b="1" kern="0" dirty="0">
                    <a:solidFill>
                      <a:schemeClr val="accent6"/>
                    </a:solidFill>
                    <a:latin typeface="微软雅黑" panose="020B0503020204020204" pitchFamily="34" charset="-122"/>
                    <a:ea typeface="微软雅黑" panose="020B0503020204020204" pitchFamily="34" charset="-122"/>
                    <a:cs typeface="Helvetica Neue" panose="02000206000000020004"/>
                    <a:sym typeface="Helvetica Neue" panose="02000206000000020004"/>
                  </a:rPr>
                  <a:t>从产业生态来看</a:t>
                </a:r>
              </a:p>
            </p:txBody>
          </p:sp>
          <p:sp>
            <p:nvSpPr>
              <p:cNvPr id="14" name="文本框 13"/>
              <p:cNvSpPr txBox="1"/>
              <p:nvPr>
                <p:custDataLst>
                  <p:tags r:id="rId3"/>
                </p:custDataLst>
              </p:nvPr>
            </p:nvSpPr>
            <p:spPr>
              <a:xfrm>
                <a:off x="2458316" y="9469123"/>
                <a:ext cx="5654039" cy="713076"/>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defTabSz="653819">
                  <a:lnSpc>
                    <a:spcPct val="120000"/>
                  </a:lnSpc>
                  <a:defRPr/>
                </a:pP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Meta</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Mistral</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等持续推进开源，</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OpenAI</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Anthropic</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依旧坚持闭源路线，形成双轨生态</a:t>
                </a:r>
              </a:p>
            </p:txBody>
          </p:sp>
          <p:sp>
            <p:nvSpPr>
              <p:cNvPr id="15" name="椭圆 14"/>
              <p:cNvSpPr/>
              <p:nvPr>
                <p:custDataLst>
                  <p:tags r:id="rId4"/>
                </p:custDataLst>
              </p:nvPr>
            </p:nvSpPr>
            <p:spPr>
              <a:xfrm>
                <a:off x="2559792" y="9188129"/>
                <a:ext cx="143999" cy="14400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dirty="0">
                  <a:solidFill>
                    <a:schemeClr val="tx1"/>
                  </a:solidFill>
                  <a:latin typeface="微软雅黑" panose="020B0503020204020204" pitchFamily="34" charset="-122"/>
                  <a:ea typeface="微软雅黑" panose="020B0503020204020204" pitchFamily="34" charset="-122"/>
                </a:endParaRPr>
              </a:p>
            </p:txBody>
          </p:sp>
        </p:grpSp>
      </p:grpSp>
      <p:sp>
        <p:nvSpPr>
          <p:cNvPr id="24" name="文本框 23"/>
          <p:cNvSpPr txBox="1"/>
          <p:nvPr>
            <p:custDataLst>
              <p:tags r:id="rId1"/>
            </p:custDataLst>
          </p:nvPr>
        </p:nvSpPr>
        <p:spPr>
          <a:xfrm>
            <a:off x="359344" y="1079586"/>
            <a:ext cx="4229120" cy="327135"/>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r" defTabSz="653819">
              <a:defRPr/>
            </a:pPr>
            <a:r>
              <a:rPr lang="zh-CN" altLang="en-US" sz="1598" b="1"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海外，模型体量与效率并重，开放与闭源并行</a:t>
            </a:r>
          </a:p>
        </p:txBody>
      </p:sp>
    </p:spTree>
    <p:extLst>
      <p:ext uri="{BB962C8B-B14F-4D97-AF65-F5344CB8AC3E}">
        <p14:creationId xmlns:p14="http://schemas.microsoft.com/office/powerpoint/2010/main" val="3042610848"/>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rgbClr val="F8FEFC">
                <a:alpha val="82000"/>
              </a:srgbClr>
            </a:gs>
          </a:gsLst>
          <a:lin ang="10800000" scaled="0"/>
        </a:gradFill>
        <a:effectLst/>
      </p:bgPr>
    </p:bg>
    <p:spTree>
      <p:nvGrpSpPr>
        <p:cNvPr id="1" name=""/>
        <p:cNvGrpSpPr/>
        <p:nvPr/>
      </p:nvGrpSpPr>
      <p:grpSpPr>
        <a:xfrm>
          <a:off x="0" y="0"/>
          <a:ext cx="0" cy="0"/>
          <a:chOff x="0" y="0"/>
          <a:chExt cx="0" cy="0"/>
        </a:xfrm>
      </p:grpSpPr>
      <p:grpSp>
        <p:nvGrpSpPr>
          <p:cNvPr id="2" name="组合 1"/>
          <p:cNvGrpSpPr/>
          <p:nvPr/>
        </p:nvGrpSpPr>
        <p:grpSpPr>
          <a:xfrm rot="10800000">
            <a:off x="-5066878" y="-2052344"/>
            <a:ext cx="11961292" cy="11800579"/>
            <a:chOff x="7345045" y="-3710622"/>
            <a:chExt cx="17959070" cy="17717770"/>
          </a:xfrm>
        </p:grpSpPr>
        <p:sp>
          <p:nvSpPr>
            <p:cNvPr id="65" name="椭圆 64"/>
            <p:cNvSpPr/>
            <p:nvPr/>
          </p:nvSpPr>
          <p:spPr>
            <a:xfrm>
              <a:off x="12049760" y="-1234440"/>
              <a:ext cx="12765405" cy="12765405"/>
            </a:xfrm>
            <a:prstGeom prst="ellipse">
              <a:avLst/>
            </a:prstGeom>
            <a:noFill/>
            <a:ln w="6350">
              <a:gradFill>
                <a:gsLst>
                  <a:gs pos="19000">
                    <a:srgbClr val="F2F2F2">
                      <a:alpha val="0"/>
                    </a:srgbClr>
                  </a:gs>
                  <a:gs pos="2000">
                    <a:schemeClr val="bg1">
                      <a:lumMod val="95000"/>
                      <a:alpha val="63000"/>
                    </a:schemeClr>
                  </a:gs>
                </a:gsLst>
                <a:lin ang="2136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79" name="椭圆 78"/>
            <p:cNvSpPr/>
            <p:nvPr/>
          </p:nvSpPr>
          <p:spPr>
            <a:xfrm>
              <a:off x="9656445" y="-2675572"/>
              <a:ext cx="15647670" cy="15647670"/>
            </a:xfrm>
            <a:prstGeom prst="ellipse">
              <a:avLst/>
            </a:prstGeom>
            <a:noFill/>
            <a:ln w="6350">
              <a:gradFill>
                <a:gsLst>
                  <a:gs pos="13000">
                    <a:srgbClr val="F2F2F2">
                      <a:alpha val="0"/>
                    </a:srgbClr>
                  </a:gs>
                  <a:gs pos="2000">
                    <a:schemeClr val="bg1">
                      <a:lumMod val="95000"/>
                      <a:alpha val="55000"/>
                    </a:schemeClr>
                  </a:gs>
                </a:gsLst>
                <a:lin ang="2136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81" name="椭圆 80"/>
            <p:cNvSpPr/>
            <p:nvPr/>
          </p:nvSpPr>
          <p:spPr>
            <a:xfrm>
              <a:off x="7345045" y="-3710622"/>
              <a:ext cx="17717770" cy="17717770"/>
            </a:xfrm>
            <a:prstGeom prst="ellipse">
              <a:avLst/>
            </a:prstGeom>
            <a:noFill/>
            <a:ln w="6350">
              <a:gradFill>
                <a:gsLst>
                  <a:gs pos="13000">
                    <a:srgbClr val="F2F2F2">
                      <a:alpha val="0"/>
                    </a:srgbClr>
                  </a:gs>
                  <a:gs pos="2000">
                    <a:schemeClr val="bg1">
                      <a:lumMod val="95000"/>
                      <a:alpha val="55000"/>
                    </a:schemeClr>
                  </a:gs>
                </a:gsLst>
                <a:lin ang="2136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grpSp>
      <p:grpSp>
        <p:nvGrpSpPr>
          <p:cNvPr id="3" name="组合 2">
            <a:extLst>
              <a:ext uri="{FF2B5EF4-FFF2-40B4-BE49-F238E27FC236}">
                <a16:creationId xmlns:a16="http://schemas.microsoft.com/office/drawing/2014/main" id="{ED0D5B0A-5736-400A-8DF2-F94BFD3627A2}"/>
              </a:ext>
            </a:extLst>
          </p:cNvPr>
          <p:cNvGrpSpPr/>
          <p:nvPr/>
        </p:nvGrpSpPr>
        <p:grpSpPr>
          <a:xfrm>
            <a:off x="6064644" y="1729620"/>
            <a:ext cx="4293979" cy="4236650"/>
            <a:chOff x="5664681" y="1744301"/>
            <a:chExt cx="4293979" cy="4236650"/>
          </a:xfrm>
        </p:grpSpPr>
        <p:grpSp>
          <p:nvGrpSpPr>
            <p:cNvPr id="19" name="组合 18"/>
            <p:cNvGrpSpPr/>
            <p:nvPr/>
          </p:nvGrpSpPr>
          <p:grpSpPr>
            <a:xfrm>
              <a:off x="5664681" y="1744301"/>
              <a:ext cx="3765764" cy="816422"/>
              <a:chOff x="624477" y="1671468"/>
              <a:chExt cx="5654040" cy="1225802"/>
            </a:xfrm>
          </p:grpSpPr>
          <p:sp>
            <p:nvSpPr>
              <p:cNvPr id="91" name="文本框 90"/>
              <p:cNvSpPr txBox="1"/>
              <p:nvPr>
                <p:custDataLst>
                  <p:tags r:id="rId8"/>
                </p:custDataLst>
              </p:nvPr>
            </p:nvSpPr>
            <p:spPr>
              <a:xfrm>
                <a:off x="1130622" y="1671468"/>
                <a:ext cx="2389090" cy="4911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defTabSz="653819">
                  <a:defRPr/>
                </a:pPr>
                <a:r>
                  <a:rPr lang="zh-CN" altLang="en-US" sz="1598" b="1" kern="0" dirty="0">
                    <a:solidFill>
                      <a:schemeClr val="accent6"/>
                    </a:solidFill>
                    <a:latin typeface="微软雅黑" panose="020B0503020204020204" pitchFamily="34" charset="-122"/>
                    <a:ea typeface="微软雅黑" panose="020B0503020204020204" pitchFamily="34" charset="-122"/>
                    <a:cs typeface="Helvetica Neue" panose="02000206000000020004"/>
                    <a:sym typeface="Helvetica Neue" panose="02000206000000020004"/>
                  </a:rPr>
                  <a:t>从发布数量来看</a:t>
                </a:r>
              </a:p>
            </p:txBody>
          </p:sp>
          <p:sp>
            <p:nvSpPr>
              <p:cNvPr id="92" name="文本框 91"/>
              <p:cNvSpPr txBox="1"/>
              <p:nvPr>
                <p:custDataLst>
                  <p:tags r:id="rId9"/>
                </p:custDataLst>
              </p:nvPr>
            </p:nvSpPr>
            <p:spPr>
              <a:xfrm>
                <a:off x="624477" y="2184193"/>
                <a:ext cx="5654040" cy="713077"/>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defTabSz="653819">
                  <a:lnSpc>
                    <a:spcPct val="120000"/>
                  </a:lnSpc>
                  <a:defRPr/>
                </a:pPr>
                <a:r>
                  <a:rPr lang="en-US" altLang="zh-CN"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2024</a:t>
                </a:r>
                <a:r>
                  <a:rPr lang="zh-CN" altLang="en-US"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年</a:t>
                </a:r>
                <a:r>
                  <a:rPr lang="en-US" altLang="zh-CN"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9</a:t>
                </a:r>
                <a:r>
                  <a:rPr lang="zh-CN" altLang="en-US"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月至今，国内各家</a:t>
                </a:r>
                <a:r>
                  <a:rPr lang="en-US" altLang="zh-CN"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AI</a:t>
                </a:r>
                <a:r>
                  <a:rPr lang="zh-CN" altLang="en-US"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大模型研发方基本保持至少更新一次的频率，持续推动我国</a:t>
                </a:r>
                <a:r>
                  <a:rPr lang="en-US" altLang="zh-CN"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AI</a:t>
                </a:r>
                <a:r>
                  <a:rPr lang="zh-CN" altLang="en-US" sz="1066"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大模型产业向前发展</a:t>
                </a:r>
              </a:p>
            </p:txBody>
          </p:sp>
          <p:sp>
            <p:nvSpPr>
              <p:cNvPr id="99" name="椭圆 98"/>
              <p:cNvSpPr/>
              <p:nvPr>
                <p:custDataLst>
                  <p:tags r:id="rId10"/>
                </p:custDataLst>
              </p:nvPr>
            </p:nvSpPr>
            <p:spPr>
              <a:xfrm>
                <a:off x="740957" y="1849240"/>
                <a:ext cx="143999" cy="143999"/>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dirty="0">
                  <a:solidFill>
                    <a:schemeClr val="tx1"/>
                  </a:solidFill>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5664681" y="2966067"/>
              <a:ext cx="4293979" cy="1406668"/>
              <a:chOff x="1119197" y="4241684"/>
              <a:chExt cx="6447119" cy="2112017"/>
            </a:xfrm>
          </p:grpSpPr>
          <p:sp>
            <p:nvSpPr>
              <p:cNvPr id="93" name="文本框 92"/>
              <p:cNvSpPr txBox="1"/>
              <p:nvPr>
                <p:custDataLst>
                  <p:tags r:id="rId5"/>
                </p:custDataLst>
              </p:nvPr>
            </p:nvSpPr>
            <p:spPr>
              <a:xfrm>
                <a:off x="1625340" y="4241684"/>
                <a:ext cx="2389090" cy="4911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r" defTabSz="653819">
                  <a:defRPr/>
                </a:pPr>
                <a:r>
                  <a:rPr lang="zh-CN" altLang="en-US" sz="1598" b="1" kern="0" dirty="0">
                    <a:solidFill>
                      <a:schemeClr val="accent6"/>
                    </a:solidFill>
                    <a:latin typeface="微软雅黑" panose="020B0503020204020204" pitchFamily="34" charset="-122"/>
                    <a:ea typeface="微软雅黑" panose="020B0503020204020204" pitchFamily="34" charset="-122"/>
                    <a:cs typeface="Helvetica Neue" panose="02000206000000020004"/>
                    <a:sym typeface="Helvetica Neue" panose="02000206000000020004"/>
                  </a:rPr>
                  <a:t>从技术演进来看</a:t>
                </a:r>
              </a:p>
            </p:txBody>
          </p:sp>
          <p:sp>
            <p:nvSpPr>
              <p:cNvPr id="94" name="文本框 93"/>
              <p:cNvSpPr txBox="1"/>
              <p:nvPr>
                <p:custDataLst>
                  <p:tags r:id="rId6"/>
                </p:custDataLst>
              </p:nvPr>
            </p:nvSpPr>
            <p:spPr>
              <a:xfrm>
                <a:off x="1119197" y="4753960"/>
                <a:ext cx="6447119" cy="159974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defTabSz="653819">
                  <a:lnSpc>
                    <a:spcPct val="120000"/>
                  </a:lnSpc>
                  <a:defRPr/>
                </a:pP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多模态融合加速，模型普遍支持文本、图像、音频、视频等多模态输入与输出，并在多模态理解和生成上显著进步，推理与工具调用优化能力显著增强，越来越多的</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AI</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大模型集成代码执行、信息检索、规划能力，支持复杂任务链路处理，</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Mixture of Experts</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a:t>
                </a:r>
                <a:r>
                  <a:rPr lang="en-US" altLang="zh-CN" sz="1066" kern="0" dirty="0" err="1">
                    <a:latin typeface="微软雅黑" panose="020B0503020204020204" pitchFamily="34" charset="-122"/>
                    <a:ea typeface="微软雅黑" panose="020B0503020204020204" pitchFamily="34" charset="-122"/>
                    <a:cs typeface="Helvetica Neue" panose="02000206000000020004"/>
                    <a:sym typeface="Helvetica Neue" panose="02000206000000020004"/>
                  </a:rPr>
                  <a:t>MoE</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）稀疏架构被广泛采用以提升效率</a:t>
                </a:r>
              </a:p>
            </p:txBody>
          </p:sp>
          <p:sp>
            <p:nvSpPr>
              <p:cNvPr id="100" name="椭圆 99"/>
              <p:cNvSpPr/>
              <p:nvPr>
                <p:custDataLst>
                  <p:tags r:id="rId7"/>
                </p:custDataLst>
              </p:nvPr>
            </p:nvSpPr>
            <p:spPr>
              <a:xfrm>
                <a:off x="1312999" y="4390125"/>
                <a:ext cx="143999" cy="143999"/>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dirty="0">
                  <a:solidFill>
                    <a:schemeClr val="tx1"/>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5664681" y="4819580"/>
              <a:ext cx="4004329" cy="1161371"/>
              <a:chOff x="1697123" y="6824475"/>
              <a:chExt cx="6012229" cy="1743720"/>
            </a:xfrm>
          </p:grpSpPr>
          <p:sp>
            <p:nvSpPr>
              <p:cNvPr id="97" name="文本框 96"/>
              <p:cNvSpPr txBox="1"/>
              <p:nvPr>
                <p:custDataLst>
                  <p:tags r:id="rId2"/>
                </p:custDataLst>
              </p:nvPr>
            </p:nvSpPr>
            <p:spPr>
              <a:xfrm>
                <a:off x="2165035" y="6824475"/>
                <a:ext cx="2389090" cy="4911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r" defTabSz="653819">
                  <a:defRPr/>
                </a:pPr>
                <a:r>
                  <a:rPr lang="zh-CN" altLang="en-US" sz="1598" b="1" kern="0" dirty="0">
                    <a:solidFill>
                      <a:schemeClr val="accent6"/>
                    </a:solidFill>
                    <a:latin typeface="微软雅黑" panose="020B0503020204020204" pitchFamily="34" charset="-122"/>
                    <a:ea typeface="微软雅黑" panose="020B0503020204020204" pitchFamily="34" charset="-122"/>
                    <a:cs typeface="Helvetica Neue" panose="02000206000000020004"/>
                    <a:sym typeface="Helvetica Neue" panose="02000206000000020004"/>
                  </a:rPr>
                  <a:t>从产业生态来看</a:t>
                </a:r>
              </a:p>
            </p:txBody>
          </p:sp>
          <p:sp>
            <p:nvSpPr>
              <p:cNvPr id="98" name="文本框 97"/>
              <p:cNvSpPr txBox="1"/>
              <p:nvPr>
                <p:custDataLst>
                  <p:tags r:id="rId3"/>
                </p:custDataLst>
              </p:nvPr>
            </p:nvSpPr>
            <p:spPr>
              <a:xfrm>
                <a:off x="1697123" y="7264008"/>
                <a:ext cx="6012229" cy="1304187"/>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defTabSz="653819">
                  <a:lnSpc>
                    <a:spcPct val="120000"/>
                  </a:lnSpc>
                  <a:defRPr/>
                </a:pP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2024</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年</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12</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月</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DeepSeek V3</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系列模型的发布与开源引起产业的高度关注，后续腾讯混元、阿里</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Qwen</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、百度文心、智谱等都发布了</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Apache-2.0</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或</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MIT</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的开源版本，共同营造了国内</a:t>
                </a:r>
                <a:r>
                  <a:rPr lang="en-US" altLang="zh-CN"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AI</a:t>
                </a:r>
                <a:r>
                  <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大模型良好的开源交流氛围</a:t>
                </a:r>
              </a:p>
            </p:txBody>
          </p:sp>
          <p:sp>
            <p:nvSpPr>
              <p:cNvPr id="101" name="椭圆 100"/>
              <p:cNvSpPr/>
              <p:nvPr>
                <p:custDataLst>
                  <p:tags r:id="rId4"/>
                </p:custDataLst>
              </p:nvPr>
            </p:nvSpPr>
            <p:spPr>
              <a:xfrm>
                <a:off x="1894461" y="7026081"/>
                <a:ext cx="145939" cy="145939"/>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dirty="0">
                  <a:solidFill>
                    <a:schemeClr val="tx1"/>
                  </a:solidFill>
                  <a:latin typeface="微软雅黑" panose="020B0503020204020204" pitchFamily="34" charset="-122"/>
                  <a:ea typeface="微软雅黑" panose="020B0503020204020204" pitchFamily="34" charset="-122"/>
                </a:endParaRPr>
              </a:p>
            </p:txBody>
          </p:sp>
        </p:grpSp>
      </p:grpSp>
      <p:sp>
        <p:nvSpPr>
          <p:cNvPr id="11" name="圆角矩形 8"/>
          <p:cNvSpPr/>
          <p:nvPr/>
        </p:nvSpPr>
        <p:spPr>
          <a:xfrm>
            <a:off x="500512" y="903116"/>
            <a:ext cx="5047665" cy="5889658"/>
          </a:xfrm>
          <a:prstGeom prst="roundRect">
            <a:avLst>
              <a:gd name="adj" fmla="val 1711"/>
            </a:avLst>
          </a:prstGeom>
          <a:solidFill>
            <a:schemeClr val="bg1"/>
          </a:solidFill>
          <a:ln w="25400">
            <a:gradFill>
              <a:gsLst>
                <a:gs pos="0">
                  <a:schemeClr val="bg1">
                    <a:alpha val="11000"/>
                  </a:schemeClr>
                </a:gs>
                <a:gs pos="55000">
                  <a:srgbClr val="F8FEFC">
                    <a:alpha val="82000"/>
                  </a:srgbClr>
                </a:gs>
                <a:gs pos="100000">
                  <a:schemeClr val="bg1">
                    <a:alpha val="19000"/>
                  </a:schemeClr>
                </a:gs>
              </a:gsLst>
              <a:lin ang="18900000" scaled="1"/>
            </a:grad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sp>
        <p:nvSpPr>
          <p:cNvPr id="24" name="文本框 23"/>
          <p:cNvSpPr txBox="1"/>
          <p:nvPr>
            <p:custDataLst>
              <p:tags r:id="rId1"/>
            </p:custDataLst>
          </p:nvPr>
        </p:nvSpPr>
        <p:spPr>
          <a:xfrm>
            <a:off x="4789289" y="1205479"/>
            <a:ext cx="3765764" cy="327135"/>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r" defTabSz="653819">
              <a:defRPr/>
            </a:pPr>
            <a:r>
              <a:rPr lang="zh-CN" altLang="en-US" sz="1598" b="1"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国内，技术路线多元，开源热情高涨。</a:t>
            </a:r>
          </a:p>
        </p:txBody>
      </p:sp>
      <p:grpSp>
        <p:nvGrpSpPr>
          <p:cNvPr id="7" name="组合 6"/>
          <p:cNvGrpSpPr/>
          <p:nvPr/>
        </p:nvGrpSpPr>
        <p:grpSpPr>
          <a:xfrm>
            <a:off x="1318511" y="1002683"/>
            <a:ext cx="3401738" cy="5647024"/>
            <a:chOff x="1921513" y="1475162"/>
            <a:chExt cx="5210872" cy="8650261"/>
          </a:xfrm>
        </p:grpSpPr>
        <p:pic>
          <p:nvPicPr>
            <p:cNvPr id="4" name="图片 3" descr="图形用户界面&#10;&#10;AI 生成的内容可能不正确。"/>
            <p:cNvPicPr>
              <a:picLocks noChangeAspect="1"/>
            </p:cNvPicPr>
            <p:nvPr/>
          </p:nvPicPr>
          <p:blipFill>
            <a:blip r:embed="rId13"/>
            <a:stretch>
              <a:fillRect/>
            </a:stretch>
          </p:blipFill>
          <p:spPr>
            <a:xfrm>
              <a:off x="1921513" y="1475162"/>
              <a:ext cx="5210872" cy="6017533"/>
            </a:xfrm>
            <a:prstGeom prst="rect">
              <a:avLst/>
            </a:prstGeom>
          </p:spPr>
        </p:pic>
        <p:pic>
          <p:nvPicPr>
            <p:cNvPr id="6" name="图片 5" descr="图形用户界面&#10;&#10;AI 生成的内容可能不正确。"/>
            <p:cNvPicPr>
              <a:picLocks noChangeAspect="1"/>
            </p:cNvPicPr>
            <p:nvPr/>
          </p:nvPicPr>
          <p:blipFill>
            <a:blip r:embed="rId14"/>
            <a:stretch>
              <a:fillRect/>
            </a:stretch>
          </p:blipFill>
          <p:spPr>
            <a:xfrm>
              <a:off x="1921513" y="7213771"/>
              <a:ext cx="5210871" cy="2911652"/>
            </a:xfrm>
            <a:prstGeom prst="rect">
              <a:avLst/>
            </a:prstGeom>
          </p:spPr>
        </p:pic>
      </p:grpSp>
      <p:sp>
        <p:nvSpPr>
          <p:cNvPr id="27" name="文本框 26">
            <a:extLst>
              <a:ext uri="{FF2B5EF4-FFF2-40B4-BE49-F238E27FC236}">
                <a16:creationId xmlns:a16="http://schemas.microsoft.com/office/drawing/2014/main" id="{96ABD583-FB02-4FFC-B3A6-6D0E09A58141}"/>
              </a:ext>
            </a:extLst>
          </p:cNvPr>
          <p:cNvSpPr txBox="1"/>
          <p:nvPr/>
        </p:nvSpPr>
        <p:spPr>
          <a:xfrm>
            <a:off x="349591" y="246740"/>
            <a:ext cx="9179262" cy="420243"/>
          </a:xfrm>
          <a:prstGeom prst="rect">
            <a:avLst/>
          </a:prstGeom>
          <a:noFill/>
        </p:spPr>
        <p:txBody>
          <a:bodyPr wrap="square" rtlCol="0">
            <a:spAutoFit/>
          </a:bodyPr>
          <a:lstStyle/>
          <a:p>
            <a:pPr defTabSz="913909"/>
            <a:r>
              <a:rPr lang="en-US" altLang="zh-CN" sz="2131" b="1" dirty="0">
                <a:latin typeface="微软雅黑" panose="020B0503020204020204" pitchFamily="34" charset="-122"/>
                <a:ea typeface="微软雅黑" panose="020B0503020204020204" pitchFamily="34" charset="-122"/>
                <a:cs typeface="微软雅黑 Light" panose="020B0502040204020203" charset="-122"/>
                <a:sym typeface="+mn-lt"/>
              </a:rPr>
              <a:t>AI</a:t>
            </a:r>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大模型向多模态融合发展，形成全球技术领先者与多元应用生态共生格局</a:t>
            </a:r>
          </a:p>
        </p:txBody>
      </p:sp>
    </p:spTree>
    <p:extLst>
      <p:ext uri="{BB962C8B-B14F-4D97-AF65-F5344CB8AC3E}">
        <p14:creationId xmlns:p14="http://schemas.microsoft.com/office/powerpoint/2010/main" val="1993609414"/>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321334" y="200516"/>
            <a:ext cx="8944632" cy="420243"/>
          </a:xfrm>
          <a:prstGeom prst="rect">
            <a:avLst/>
          </a:prstGeom>
          <a:noFill/>
        </p:spPr>
        <p:txBody>
          <a:bodyPr wrap="square" rtlCol="0">
            <a:spAutoFit/>
          </a:bodyPr>
          <a:lstStyle/>
          <a:p>
            <a:pPr defTabSz="913909"/>
            <a:r>
              <a:rPr lang="en-US" altLang="zh-CN" sz="2131" b="1" dirty="0">
                <a:latin typeface="微软雅黑" panose="020B0503020204020204" pitchFamily="34" charset="-122"/>
                <a:ea typeface="微软雅黑" panose="020B0503020204020204" pitchFamily="34" charset="-122"/>
                <a:cs typeface="微软雅黑 Light" panose="020B0502040204020203" charset="-122"/>
                <a:sym typeface="+mn-lt"/>
              </a:rPr>
              <a:t>AI</a:t>
            </a:r>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大模型发展从重训练转为重推理、重应用，</a:t>
            </a:r>
            <a:r>
              <a:rPr lang="en-US" altLang="zh-CN" sz="2131" b="1" dirty="0">
                <a:latin typeface="微软雅黑" panose="020B0503020204020204" pitchFamily="34" charset="-122"/>
                <a:ea typeface="微软雅黑" panose="020B0503020204020204" pitchFamily="34" charset="-122"/>
                <a:cs typeface="微软雅黑 Light" panose="020B0502040204020203" charset="-122"/>
                <a:sym typeface="+mn-lt"/>
              </a:rPr>
              <a:t>AI</a:t>
            </a:r>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智能体迎来黄金发展时期</a:t>
            </a:r>
          </a:p>
        </p:txBody>
      </p:sp>
      <p:sp>
        <p:nvSpPr>
          <p:cNvPr id="2" name="椭圆 1"/>
          <p:cNvSpPr/>
          <p:nvPr/>
        </p:nvSpPr>
        <p:spPr>
          <a:xfrm>
            <a:off x="408741" y="1469618"/>
            <a:ext cx="1127107" cy="1127107"/>
          </a:xfrm>
          <a:prstGeom prst="ellipse">
            <a:avLst/>
          </a:prstGeom>
          <a:gradFill>
            <a:gsLst>
              <a:gs pos="99000">
                <a:schemeClr val="bg1">
                  <a:alpha val="0"/>
                </a:schemeClr>
              </a:gs>
              <a:gs pos="0">
                <a:schemeClr val="accent5">
                  <a:lumMod val="25000"/>
                  <a:lumOff val="75000"/>
                </a:schemeClr>
              </a:gs>
            </a:gsLst>
            <a:lin ang="2700000" scaled="0"/>
          </a:gradFill>
          <a:ln w="6350">
            <a:gradFill>
              <a:gsLst>
                <a:gs pos="0">
                  <a:srgbClr val="CCE2FF">
                    <a:lumMod val="20000"/>
                    <a:lumOff val="80000"/>
                    <a:alpha val="0"/>
                  </a:srgbClr>
                </a:gs>
                <a:gs pos="100000">
                  <a:srgbClr val="F5F9FF">
                    <a:alpha val="3000"/>
                  </a:srgbClr>
                </a:gs>
                <a:gs pos="54000">
                  <a:srgbClr val="CCE2FF">
                    <a:lumMod val="20000"/>
                    <a:lumOff val="80000"/>
                  </a:srgbClr>
                </a:gs>
              </a:gsLst>
              <a:lin ang="27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kumimoji="1" lang="zh-CN" altLang="en-US" sz="1066" dirty="0">
              <a:solidFill>
                <a:schemeClr val="tx1"/>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92976" y="1880832"/>
            <a:ext cx="783620" cy="327135"/>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1598"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重训练</a:t>
            </a:r>
          </a:p>
        </p:txBody>
      </p:sp>
      <p:grpSp>
        <p:nvGrpSpPr>
          <p:cNvPr id="34" name="组合 33"/>
          <p:cNvGrpSpPr/>
          <p:nvPr/>
        </p:nvGrpSpPr>
        <p:grpSpPr>
          <a:xfrm>
            <a:off x="1729917" y="1359856"/>
            <a:ext cx="3847919" cy="1894736"/>
            <a:chOff x="3008368" y="2620408"/>
            <a:chExt cx="5777390" cy="2844818"/>
          </a:xfrm>
        </p:grpSpPr>
        <p:sp>
          <p:nvSpPr>
            <p:cNvPr id="4" name="文本框 3"/>
            <p:cNvSpPr txBox="1"/>
            <p:nvPr>
              <p:custDataLst>
                <p:tags r:id="rId4"/>
              </p:custDataLst>
            </p:nvPr>
          </p:nvSpPr>
          <p:spPr>
            <a:xfrm>
              <a:off x="3045368" y="2620408"/>
              <a:ext cx="5483821" cy="415703"/>
            </a:xfrm>
            <a:prstGeom prst="rect">
              <a:avLst/>
            </a:prstGeom>
            <a:noFill/>
          </p:spPr>
          <p:txBody>
            <a:bodyPr wrap="square">
              <a:spAutoFit/>
            </a:bodyPr>
            <a:lstStyle>
              <a:defPPr>
                <a:defRPr lang="zh-CN"/>
              </a:defPPr>
              <a:lvl1pPr algn="ctr" defTabSz="914400">
                <a:defRPr sz="4400">
                  <a:solidFill>
                    <a:schemeClr val="bg1"/>
                  </a:solidFill>
                  <a:latin typeface="方正兰亭刊黑_GBK" panose="02000000000000000000" pitchFamily="2" charset="-122"/>
                  <a:ea typeface="方正兰亭刊黑_GBK" panose="02000000000000000000" pitchFamily="2" charset="-122"/>
                </a:defRPr>
              </a:lvl1pPr>
            </a:lstStyle>
            <a:p>
              <a:pPr algn="l"/>
              <a:r>
                <a:rPr lang="en-US" altLang="zh-CN" sz="1199"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AI</a:t>
              </a:r>
              <a:r>
                <a:rPr lang="zh-CN" altLang="en-US" sz="1199"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大模型早期研究聚焦模型训练</a:t>
              </a:r>
            </a:p>
          </p:txBody>
        </p:sp>
        <p:sp>
          <p:nvSpPr>
            <p:cNvPr id="5" name="矩形 4"/>
            <p:cNvSpPr/>
            <p:nvPr/>
          </p:nvSpPr>
          <p:spPr>
            <a:xfrm>
              <a:off x="3008368" y="2973622"/>
              <a:ext cx="5777390" cy="24916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marL="63437" defTabSz="320143" fontAlgn="base">
                <a:lnSpc>
                  <a:spcPct val="150000"/>
                </a:lnSpc>
                <a:spcBef>
                  <a:spcPct val="0"/>
                </a:spcBef>
                <a:spcAft>
                  <a:spcPct val="0"/>
                </a:spcAft>
                <a:defRPr/>
              </a:pP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过去几年，</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AI</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大模型的发展重心主要集中在参数规模的不断扩展和训练数据的海量积累上，以追求更强的语言理解和生成能力。</a:t>
              </a:r>
              <a:endParaRPr lang="en-US" altLang="zh-CN" sz="932" b="1"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endParaRPr>
            </a:p>
            <a:p>
              <a:pPr marL="63437" defTabSz="320143" fontAlgn="base">
                <a:lnSpc>
                  <a:spcPct val="150000"/>
                </a:lnSpc>
                <a:spcBef>
                  <a:spcPct val="0"/>
                </a:spcBef>
                <a:spcAft>
                  <a:spcPct val="0"/>
                </a:spcAft>
                <a:defRPr/>
              </a:pP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然而，通过模型体量增长带来的性能提升局限性逐渐显现，同时带来的训练成本与时间的攀升也决定了能进行“规模竞争”的企业越来越少，单纯注重模型训练已难以满足市场对实时性、精准性和参与度的需求。</a:t>
              </a:r>
              <a:endPar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endParaRPr>
            </a:p>
            <a:p>
              <a:pPr marL="63437" defTabSz="320143" fontAlgn="base">
                <a:lnSpc>
                  <a:spcPct val="150000"/>
                </a:lnSpc>
                <a:spcBef>
                  <a:spcPct val="0"/>
                </a:spcBef>
                <a:spcAft>
                  <a:spcPct val="0"/>
                </a:spcAft>
                <a:defRPr/>
              </a:pPr>
              <a:endPar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endParaRPr>
            </a:p>
          </p:txBody>
        </p:sp>
      </p:grpSp>
      <p:grpSp>
        <p:nvGrpSpPr>
          <p:cNvPr id="16" name="组合 15"/>
          <p:cNvGrpSpPr/>
          <p:nvPr/>
        </p:nvGrpSpPr>
        <p:grpSpPr>
          <a:xfrm>
            <a:off x="408741" y="3237696"/>
            <a:ext cx="1127107" cy="1127107"/>
            <a:chOff x="584612" y="2020170"/>
            <a:chExt cx="1970724" cy="1970724"/>
          </a:xfrm>
          <a:gradFill>
            <a:gsLst>
              <a:gs pos="0">
                <a:schemeClr val="accent5">
                  <a:lumMod val="25000"/>
                  <a:lumOff val="75000"/>
                </a:schemeClr>
              </a:gs>
              <a:gs pos="100000">
                <a:srgbClr val="F5F9FF">
                  <a:alpha val="3000"/>
                </a:srgbClr>
              </a:gs>
              <a:gs pos="54000">
                <a:srgbClr val="CCE2FF">
                  <a:lumMod val="20000"/>
                  <a:lumOff val="80000"/>
                </a:srgbClr>
              </a:gs>
            </a:gsLst>
            <a:lin ang="2700000" scaled="1"/>
          </a:gradFill>
        </p:grpSpPr>
        <p:sp>
          <p:nvSpPr>
            <p:cNvPr id="19" name="椭圆 18"/>
            <p:cNvSpPr/>
            <p:nvPr/>
          </p:nvSpPr>
          <p:spPr>
            <a:xfrm>
              <a:off x="584612" y="2020170"/>
              <a:ext cx="1970724" cy="1970724"/>
            </a:xfrm>
            <a:prstGeom prst="ellipse">
              <a:avLst/>
            </a:prstGeom>
            <a:grpFill/>
            <a:ln w="6350">
              <a:gradFill>
                <a:gsLst>
                  <a:gs pos="0">
                    <a:srgbClr val="CCE2FF">
                      <a:lumMod val="20000"/>
                      <a:lumOff val="80000"/>
                      <a:alpha val="0"/>
                    </a:srgbClr>
                  </a:gs>
                  <a:gs pos="100000">
                    <a:srgbClr val="F5F9FF">
                      <a:alpha val="3000"/>
                    </a:srgbClr>
                  </a:gs>
                  <a:gs pos="54000">
                    <a:srgbClr val="CCE2FF">
                      <a:lumMod val="20000"/>
                      <a:lumOff val="80000"/>
                    </a:srgbClr>
                  </a:gs>
                </a:gsLst>
                <a:lin ang="27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kumimoji="1" lang="zh-CN" altLang="en-US" sz="1066" dirty="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 24"/>
            <p:cNvSpPr txBox="1"/>
            <p:nvPr/>
          </p:nvSpPr>
          <p:spPr>
            <a:xfrm>
              <a:off x="906743" y="2729918"/>
              <a:ext cx="1370144" cy="571989"/>
            </a:xfrm>
            <a:prstGeom prst="rect">
              <a:avLst/>
            </a:prstGeom>
            <a:grp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1598"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重推理</a:t>
              </a:r>
            </a:p>
          </p:txBody>
        </p:sp>
      </p:grpSp>
      <p:sp>
        <p:nvSpPr>
          <p:cNvPr id="29" name="文本框 28"/>
          <p:cNvSpPr txBox="1"/>
          <p:nvPr>
            <p:custDataLst>
              <p:tags r:id="rId1"/>
            </p:custDataLst>
          </p:nvPr>
        </p:nvSpPr>
        <p:spPr>
          <a:xfrm>
            <a:off x="1754560" y="2943638"/>
            <a:ext cx="3798633" cy="276871"/>
          </a:xfrm>
          <a:prstGeom prst="rect">
            <a:avLst/>
          </a:prstGeom>
          <a:noFill/>
        </p:spPr>
        <p:txBody>
          <a:bodyPr wrap="square">
            <a:spAutoFit/>
          </a:bodyPr>
          <a:lstStyle>
            <a:defPPr>
              <a:defRPr lang="zh-CN"/>
            </a:defPPr>
            <a:lvl1pPr algn="ctr" defTabSz="914400">
              <a:defRPr sz="4400">
                <a:solidFill>
                  <a:schemeClr val="bg1"/>
                </a:solidFill>
                <a:latin typeface="方正兰亭刊黑_GBK" panose="02000000000000000000" pitchFamily="2" charset="-122"/>
                <a:ea typeface="方正兰亭刊黑_GBK" panose="02000000000000000000" pitchFamily="2" charset="-122"/>
              </a:defRPr>
            </a:lvl1pPr>
          </a:lstStyle>
          <a:p>
            <a:pPr algn="l"/>
            <a:r>
              <a:rPr lang="zh-CN" altLang="en-US" sz="1199"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重推理成为</a:t>
            </a:r>
            <a:r>
              <a:rPr lang="en-US" altLang="zh-CN" sz="1199"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AI</a:t>
            </a:r>
            <a:r>
              <a:rPr lang="zh-CN" altLang="en-US" sz="1199"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大模型建设方发展新趋势</a:t>
            </a:r>
          </a:p>
        </p:txBody>
      </p:sp>
      <p:sp>
        <p:nvSpPr>
          <p:cNvPr id="30" name="矩形 29"/>
          <p:cNvSpPr/>
          <p:nvPr/>
        </p:nvSpPr>
        <p:spPr>
          <a:xfrm>
            <a:off x="1734625" y="3206235"/>
            <a:ext cx="3775543" cy="18655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marL="63437" defTabSz="320143" fontAlgn="base">
              <a:lnSpc>
                <a:spcPct val="150000"/>
              </a:lnSpc>
              <a:spcBef>
                <a:spcPct val="0"/>
              </a:spcBef>
              <a:spcAft>
                <a:spcPct val="0"/>
              </a:spcAft>
              <a:defRPr/>
            </a:pP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重推理强调模型在推理链条上的优化，包括增强模型的逻辑推理、多步骤思考、因果分析和工具调用能力。</a:t>
            </a:r>
            <a:endPar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endParaRPr>
          </a:p>
          <a:p>
            <a:pPr marL="63437" defTabSz="320143" fontAlgn="base">
              <a:lnSpc>
                <a:spcPct val="150000"/>
              </a:lnSpc>
              <a:spcBef>
                <a:spcPct val="0"/>
              </a:spcBef>
              <a:spcAft>
                <a:spcPct val="0"/>
              </a:spcAft>
              <a:defRPr/>
            </a:pP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2024</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年以来，</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OpenAI</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发布的</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GPT-4.1</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和</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GPT-4.5</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，显著提升了推理能力和上下文理解深度，支持高达百万</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token</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的长上下文，使模型能处理更复杂的推理任务。谷歌的</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Gemini 2.0</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系列引入了“</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Thinking”</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模式，通过链式推理和工具调用进一步提高了解决复杂问题的能力，推动了智能体架构的实现。</a:t>
            </a:r>
          </a:p>
        </p:txBody>
      </p:sp>
      <p:sp>
        <p:nvSpPr>
          <p:cNvPr id="39" name="椭圆 38"/>
          <p:cNvSpPr/>
          <p:nvPr/>
        </p:nvSpPr>
        <p:spPr>
          <a:xfrm>
            <a:off x="408741" y="5107982"/>
            <a:ext cx="1127107" cy="1127107"/>
          </a:xfrm>
          <a:prstGeom prst="ellipse">
            <a:avLst/>
          </a:prstGeom>
          <a:gradFill>
            <a:gsLst>
              <a:gs pos="76000">
                <a:srgbClr val="FFFFFF">
                  <a:alpha val="23000"/>
                </a:srgbClr>
              </a:gs>
              <a:gs pos="100000">
                <a:schemeClr val="bg1"/>
              </a:gs>
              <a:gs pos="0">
                <a:schemeClr val="accent5">
                  <a:lumMod val="25000"/>
                  <a:lumOff val="75000"/>
                </a:schemeClr>
              </a:gs>
            </a:gsLst>
            <a:path path="circle">
              <a:fillToRect r="100000" b="100000"/>
            </a:path>
            <a:tileRect l="-100000" t="-100000"/>
          </a:gradFill>
          <a:ln w="6350">
            <a:gradFill>
              <a:gsLst>
                <a:gs pos="0">
                  <a:srgbClr val="CCE2FF">
                    <a:lumMod val="20000"/>
                    <a:lumOff val="80000"/>
                    <a:alpha val="0"/>
                  </a:srgbClr>
                </a:gs>
                <a:gs pos="100000">
                  <a:srgbClr val="F5F9FF">
                    <a:alpha val="3000"/>
                  </a:srgbClr>
                </a:gs>
                <a:gs pos="54000">
                  <a:srgbClr val="CCE2FF">
                    <a:lumMod val="20000"/>
                    <a:lumOff val="80000"/>
                  </a:srgbClr>
                </a:gs>
              </a:gsLst>
              <a:lin ang="27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kumimoji="1" lang="zh-CN" altLang="en-US" sz="1066" dirty="0">
              <a:solidFill>
                <a:schemeClr val="tx1"/>
              </a:solidFill>
              <a:latin typeface="微软雅黑" panose="020B0503020204020204" pitchFamily="34" charset="-122"/>
              <a:ea typeface="微软雅黑" panose="020B0503020204020204" pitchFamily="34" charset="-122"/>
              <a:sym typeface="+mn-ea"/>
            </a:endParaRPr>
          </a:p>
        </p:txBody>
      </p:sp>
      <p:sp>
        <p:nvSpPr>
          <p:cNvPr id="40" name="文本框 39"/>
          <p:cNvSpPr txBox="1"/>
          <p:nvPr/>
        </p:nvSpPr>
        <p:spPr>
          <a:xfrm>
            <a:off x="592976" y="5513905"/>
            <a:ext cx="783620" cy="327135"/>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1598"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重应用</a:t>
            </a:r>
          </a:p>
        </p:txBody>
      </p:sp>
      <p:sp>
        <p:nvSpPr>
          <p:cNvPr id="41" name="文本框 40"/>
          <p:cNvSpPr txBox="1"/>
          <p:nvPr>
            <p:custDataLst>
              <p:tags r:id="rId2"/>
            </p:custDataLst>
          </p:nvPr>
        </p:nvSpPr>
        <p:spPr>
          <a:xfrm>
            <a:off x="1738066" y="4839621"/>
            <a:ext cx="3798633" cy="276871"/>
          </a:xfrm>
          <a:prstGeom prst="rect">
            <a:avLst/>
          </a:prstGeom>
          <a:noFill/>
        </p:spPr>
        <p:txBody>
          <a:bodyPr wrap="square">
            <a:spAutoFit/>
          </a:bodyPr>
          <a:lstStyle>
            <a:defPPr>
              <a:defRPr lang="zh-CN"/>
            </a:defPPr>
            <a:lvl1pPr algn="ctr" defTabSz="914400">
              <a:defRPr sz="4400">
                <a:solidFill>
                  <a:schemeClr val="bg1"/>
                </a:solidFill>
                <a:latin typeface="方正兰亭刊黑_GBK" panose="02000000000000000000" pitchFamily="2" charset="-122"/>
                <a:ea typeface="方正兰亭刊黑_GBK" panose="02000000000000000000" pitchFamily="2" charset="-122"/>
              </a:defRPr>
            </a:lvl1pPr>
          </a:lstStyle>
          <a:p>
            <a:pPr algn="l"/>
            <a:r>
              <a:rPr lang="zh-CN" altLang="en-US" sz="1199"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应用方不断创新</a:t>
            </a:r>
            <a:r>
              <a:rPr lang="en-US" altLang="zh-CN" sz="1199"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AI</a:t>
            </a:r>
            <a:r>
              <a:rPr lang="zh-CN" altLang="en-US" sz="1199"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大模型应用新范式</a:t>
            </a:r>
          </a:p>
        </p:txBody>
      </p:sp>
      <p:sp>
        <p:nvSpPr>
          <p:cNvPr id="42" name="矩形 41"/>
          <p:cNvSpPr/>
          <p:nvPr/>
        </p:nvSpPr>
        <p:spPr>
          <a:xfrm>
            <a:off x="1738066" y="5114856"/>
            <a:ext cx="4004710" cy="1865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marL="63437" defTabSz="320143" fontAlgn="base">
              <a:lnSpc>
                <a:spcPct val="150000"/>
              </a:lnSpc>
              <a:spcBef>
                <a:spcPct val="0"/>
              </a:spcBef>
              <a:spcAft>
                <a:spcPct val="0"/>
              </a:spcAft>
              <a:defRPr/>
            </a:pP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AI</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大模型推理能力提升带来日益显著的商业价值，越来越多的应用方入局探索</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AI</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大模型的创新使用场景，促进</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AI</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大模型从语言生成工具，转变为多场景、多模态的智能助理。</a:t>
            </a:r>
            <a:endPar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endParaRPr>
          </a:p>
          <a:p>
            <a:pPr marL="63437" defTabSz="320143" fontAlgn="base">
              <a:lnSpc>
                <a:spcPct val="150000"/>
              </a:lnSpc>
              <a:spcBef>
                <a:spcPct val="0"/>
              </a:spcBef>
              <a:spcAft>
                <a:spcPct val="0"/>
              </a:spcAft>
              <a:defRPr/>
            </a:pP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例如，</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OpenAI</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通过插件（</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Plugins</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）和</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API</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将大模型深度集成到办公套件、搜索引擎、编程辅助工具中，提升了企业和个人的生产力。</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Meta</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推出的</a:t>
            </a:r>
            <a:r>
              <a:rPr lang="en-US" altLang="zh-CN" sz="932" dirty="0" err="1">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LLaMa</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 3.2</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微软雅黑" panose="020B0503020204020204" charset="-122"/>
              </a:rPr>
              <a:t>和轻量级版本，适配移动端和边缘设备，推动了模型在实时交互和低功耗设备上的应用</a:t>
            </a:r>
          </a:p>
        </p:txBody>
      </p:sp>
      <p:sp>
        <p:nvSpPr>
          <p:cNvPr id="45" name="文本框 44"/>
          <p:cNvSpPr txBox="1"/>
          <p:nvPr/>
        </p:nvSpPr>
        <p:spPr>
          <a:xfrm>
            <a:off x="321334" y="876008"/>
            <a:ext cx="11802631" cy="336567"/>
          </a:xfrm>
          <a:prstGeom prst="rect">
            <a:avLst/>
          </a:prstGeom>
          <a:noFill/>
        </p:spPr>
        <p:txBody>
          <a:bodyPr wrap="square">
            <a:spAutoFit/>
          </a:bodyPr>
          <a:lstStyle/>
          <a:p>
            <a:pPr algn="just">
              <a:lnSpc>
                <a:spcPct val="150000"/>
              </a:lnSpc>
              <a:buNone/>
            </a:pPr>
            <a:r>
              <a:rPr lang="en-US" altLang="zh-CN" sz="1199" dirty="0">
                <a:latin typeface="微软雅黑" panose="020B0503020204020204" pitchFamily="34" charset="-122"/>
                <a:ea typeface="微软雅黑" panose="020B0503020204020204" pitchFamily="34" charset="-122"/>
                <a:cs typeface="宋体" panose="02010600030101010101" pitchFamily="2" charset="-122"/>
              </a:rPr>
              <a:t>AI</a:t>
            </a:r>
            <a:r>
              <a:rPr lang="zh-CN" altLang="zh-CN" sz="1199" dirty="0">
                <a:latin typeface="微软雅黑" panose="020B0503020204020204" pitchFamily="34" charset="-122"/>
                <a:ea typeface="微软雅黑" panose="020B0503020204020204" pitchFamily="34" charset="-122"/>
                <a:cs typeface="宋体" panose="02010600030101010101" pitchFamily="2" charset="-122"/>
              </a:rPr>
              <a:t>大模型的发展重心向推理与应用的转变，不仅反映了技术进步的内在需求，也契合了实际应用场景对智能化水平的更高期待，为</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AI</a:t>
            </a:r>
            <a:r>
              <a:rPr lang="zh-CN" altLang="zh-CN" sz="1199" dirty="0">
                <a:latin typeface="微软雅黑" panose="020B0503020204020204" pitchFamily="34" charset="-122"/>
                <a:ea typeface="微软雅黑" panose="020B0503020204020204" pitchFamily="34" charset="-122"/>
                <a:cs typeface="宋体" panose="02010600030101010101" pitchFamily="2" charset="-122"/>
              </a:rPr>
              <a:t>智能体（</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AI Agent</a:t>
            </a:r>
            <a:r>
              <a:rPr lang="zh-CN" altLang="zh-CN" sz="1199" dirty="0">
                <a:latin typeface="微软雅黑" panose="020B0503020204020204" pitchFamily="34" charset="-122"/>
                <a:ea typeface="微软雅黑" panose="020B0503020204020204" pitchFamily="34" charset="-122"/>
                <a:cs typeface="宋体" panose="02010600030101010101" pitchFamily="2" charset="-122"/>
              </a:rPr>
              <a:t>）的出现奠定了基础。</a:t>
            </a:r>
          </a:p>
        </p:txBody>
      </p:sp>
      <p:sp>
        <p:nvSpPr>
          <p:cNvPr id="48" name="任意形状 33"/>
          <p:cNvSpPr/>
          <p:nvPr/>
        </p:nvSpPr>
        <p:spPr>
          <a:xfrm rot="16200000">
            <a:off x="691301" y="2690409"/>
            <a:ext cx="558566" cy="506458"/>
          </a:xfrm>
          <a:custGeom>
            <a:avLst/>
            <a:gdLst/>
            <a:ahLst/>
            <a:cxnLst>
              <a:cxn ang="0">
                <a:pos x="wd2" y="hd2"/>
              </a:cxn>
              <a:cxn ang="5400000">
                <a:pos x="wd2" y="hd2"/>
              </a:cxn>
              <a:cxn ang="10800000">
                <a:pos x="wd2" y="hd2"/>
              </a:cxn>
              <a:cxn ang="16200000">
                <a:pos x="wd2" y="hd2"/>
              </a:cxn>
            </a:cxnLst>
            <a:rect l="0" t="0" r="r" b="b"/>
            <a:pathLst>
              <a:path w="21600" h="21600" extrusionOk="0">
                <a:moveTo>
                  <a:pt x="0" y="10805"/>
                </a:moveTo>
                <a:lnTo>
                  <a:pt x="4925" y="14597"/>
                </a:lnTo>
                <a:lnTo>
                  <a:pt x="4925" y="13027"/>
                </a:lnTo>
                <a:cubicBezTo>
                  <a:pt x="4925" y="13027"/>
                  <a:pt x="15343" y="12792"/>
                  <a:pt x="21600" y="21600"/>
                </a:cubicBezTo>
                <a:lnTo>
                  <a:pt x="21600" y="0"/>
                </a:lnTo>
                <a:cubicBezTo>
                  <a:pt x="15343" y="8808"/>
                  <a:pt x="4925" y="8573"/>
                  <a:pt x="4925" y="8573"/>
                </a:cubicBezTo>
                <a:lnTo>
                  <a:pt x="4925" y="7003"/>
                </a:lnTo>
                <a:lnTo>
                  <a:pt x="0" y="10795"/>
                </a:lnTo>
                <a:lnTo>
                  <a:pt x="0" y="10805"/>
                </a:lnTo>
                <a:close/>
              </a:path>
            </a:pathLst>
          </a:custGeom>
          <a:gradFill>
            <a:gsLst>
              <a:gs pos="99000">
                <a:schemeClr val="bg1">
                  <a:alpha val="0"/>
                </a:schemeClr>
              </a:gs>
              <a:gs pos="0">
                <a:schemeClr val="accent5">
                  <a:lumMod val="50000"/>
                  <a:lumOff val="50000"/>
                </a:schemeClr>
              </a:gs>
            </a:gsLst>
          </a:gradFill>
          <a:ln w="12700">
            <a:miter lim="400000"/>
          </a:ln>
        </p:spPr>
        <p:txBody>
          <a:bodyPr lIns="50914" tIns="50914" rIns="50914" bIns="50914" anchor="ctr"/>
          <a:lstStyle/>
          <a:p>
            <a:pPr defTabSz="406839" hangingPunct="0">
              <a:defRPr sz="100">
                <a:solidFill>
                  <a:srgbClr val="FFFFFF"/>
                </a:solidFill>
                <a:effectLst>
                  <a:outerShdw blurRad="63500" rotWithShape="0">
                    <a:srgbClr val="000000">
                      <a:alpha val="40000"/>
                    </a:srgbClr>
                  </a:outerShdw>
                </a:effectLst>
                <a:latin typeface="TTTGB Medium" panose="020C06030202040F0204" charset="-122"/>
                <a:ea typeface="TTTGB Medium" panose="020C06030202040F0204" charset="-122"/>
                <a:cs typeface="TTTGB Medium" panose="020C06030202040F0204" charset="-122"/>
                <a:sym typeface="TTTGB Medium" panose="020C06030202040F0204" charset="-122"/>
              </a:defRPr>
            </a:pPr>
            <a:endParaRPr sz="167" kern="0" dirty="0">
              <a:effectLst>
                <a:outerShdw blurRad="63500" rotWithShape="0">
                  <a:srgbClr val="000000">
                    <a:alpha val="40000"/>
                  </a:srgbClr>
                </a:outerShdw>
              </a:effectLst>
              <a:latin typeface="微软雅黑" panose="020B0503020204020204" pitchFamily="34" charset="-122"/>
              <a:ea typeface="微软雅黑" panose="020B0503020204020204" pitchFamily="34" charset="-122"/>
              <a:cs typeface="TTTGB Medium" panose="020C06030202040F0204" charset="-122"/>
              <a:sym typeface="TTTGB Medium" panose="020C06030202040F0204" charset="-122"/>
            </a:endParaRPr>
          </a:p>
        </p:txBody>
      </p:sp>
      <p:sp>
        <p:nvSpPr>
          <p:cNvPr id="52" name="任意形状 33"/>
          <p:cNvSpPr/>
          <p:nvPr/>
        </p:nvSpPr>
        <p:spPr>
          <a:xfrm rot="16200000">
            <a:off x="705503" y="4484307"/>
            <a:ext cx="558566" cy="506458"/>
          </a:xfrm>
          <a:custGeom>
            <a:avLst/>
            <a:gdLst/>
            <a:ahLst/>
            <a:cxnLst>
              <a:cxn ang="0">
                <a:pos x="wd2" y="hd2"/>
              </a:cxn>
              <a:cxn ang="5400000">
                <a:pos x="wd2" y="hd2"/>
              </a:cxn>
              <a:cxn ang="10800000">
                <a:pos x="wd2" y="hd2"/>
              </a:cxn>
              <a:cxn ang="16200000">
                <a:pos x="wd2" y="hd2"/>
              </a:cxn>
            </a:cxnLst>
            <a:rect l="0" t="0" r="r" b="b"/>
            <a:pathLst>
              <a:path w="21600" h="21600" extrusionOk="0">
                <a:moveTo>
                  <a:pt x="0" y="10805"/>
                </a:moveTo>
                <a:lnTo>
                  <a:pt x="4925" y="14597"/>
                </a:lnTo>
                <a:lnTo>
                  <a:pt x="4925" y="13027"/>
                </a:lnTo>
                <a:cubicBezTo>
                  <a:pt x="4925" y="13027"/>
                  <a:pt x="15343" y="12792"/>
                  <a:pt x="21600" y="21600"/>
                </a:cubicBezTo>
                <a:lnTo>
                  <a:pt x="21600" y="0"/>
                </a:lnTo>
                <a:cubicBezTo>
                  <a:pt x="15343" y="8808"/>
                  <a:pt x="4925" y="8573"/>
                  <a:pt x="4925" y="8573"/>
                </a:cubicBezTo>
                <a:lnTo>
                  <a:pt x="4925" y="7003"/>
                </a:lnTo>
                <a:lnTo>
                  <a:pt x="0" y="10795"/>
                </a:lnTo>
                <a:lnTo>
                  <a:pt x="0" y="10805"/>
                </a:lnTo>
                <a:close/>
              </a:path>
            </a:pathLst>
          </a:custGeom>
          <a:gradFill>
            <a:gsLst>
              <a:gs pos="99000">
                <a:schemeClr val="bg1">
                  <a:alpha val="0"/>
                </a:schemeClr>
              </a:gs>
              <a:gs pos="0">
                <a:schemeClr val="bg1">
                  <a:alpha val="44000"/>
                </a:schemeClr>
              </a:gs>
              <a:gs pos="57000">
                <a:schemeClr val="accent5">
                  <a:lumMod val="50000"/>
                  <a:lumOff val="50000"/>
                </a:schemeClr>
              </a:gs>
            </a:gsLst>
          </a:gradFill>
          <a:ln w="12700">
            <a:miter lim="400000"/>
          </a:ln>
        </p:spPr>
        <p:txBody>
          <a:bodyPr lIns="50914" tIns="50914" rIns="50914" bIns="50914" anchor="ctr"/>
          <a:lstStyle/>
          <a:p>
            <a:pPr defTabSz="406839" hangingPunct="0">
              <a:defRPr sz="100">
                <a:solidFill>
                  <a:srgbClr val="FFFFFF"/>
                </a:solidFill>
                <a:effectLst>
                  <a:outerShdw blurRad="63500" rotWithShape="0">
                    <a:srgbClr val="000000">
                      <a:alpha val="40000"/>
                    </a:srgbClr>
                  </a:outerShdw>
                </a:effectLst>
                <a:latin typeface="TTTGB Medium" panose="020C06030202040F0204" charset="-122"/>
                <a:ea typeface="TTTGB Medium" panose="020C06030202040F0204" charset="-122"/>
                <a:cs typeface="TTTGB Medium" panose="020C06030202040F0204" charset="-122"/>
                <a:sym typeface="TTTGB Medium" panose="020C06030202040F0204" charset="-122"/>
              </a:defRPr>
            </a:pPr>
            <a:endParaRPr sz="167" kern="0" dirty="0">
              <a:effectLst>
                <a:outerShdw blurRad="63500" rotWithShape="0">
                  <a:srgbClr val="000000">
                    <a:alpha val="40000"/>
                  </a:srgbClr>
                </a:outerShdw>
              </a:effectLst>
              <a:latin typeface="微软雅黑" panose="020B0503020204020204" pitchFamily="34" charset="-122"/>
              <a:ea typeface="微软雅黑" panose="020B0503020204020204" pitchFamily="34" charset="-122"/>
              <a:cs typeface="TTTGB Medium" panose="020C06030202040F0204" charset="-122"/>
              <a:sym typeface="TTTGB Medium" panose="020C06030202040F0204" charset="-122"/>
            </a:endParaRPr>
          </a:p>
        </p:txBody>
      </p:sp>
      <p:sp>
        <p:nvSpPr>
          <p:cNvPr id="54" name="椭圆 53"/>
          <p:cNvSpPr/>
          <p:nvPr/>
        </p:nvSpPr>
        <p:spPr>
          <a:xfrm>
            <a:off x="6083607" y="4138418"/>
            <a:ext cx="5689670" cy="839092"/>
          </a:xfrm>
          <a:prstGeom prst="ellipse">
            <a:avLst/>
          </a:prstGeom>
          <a:gradFill>
            <a:gsLst>
              <a:gs pos="0">
                <a:schemeClr val="bg1">
                  <a:alpha val="34000"/>
                </a:schemeClr>
              </a:gs>
              <a:gs pos="69000">
                <a:schemeClr val="bg1">
                  <a:alpha val="0"/>
                </a:schemeClr>
              </a:gs>
            </a:gsLst>
            <a:lin ang="16200000" scaled="0"/>
          </a:gradFill>
          <a:ln w="25400">
            <a:gradFill>
              <a:gsLst>
                <a:gs pos="0">
                  <a:schemeClr val="bg1">
                    <a:alpha val="0"/>
                  </a:schemeClr>
                </a:gs>
                <a:gs pos="100000">
                  <a:srgbClr val="0070C0"/>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55" name="椭圆 54"/>
          <p:cNvSpPr/>
          <p:nvPr/>
        </p:nvSpPr>
        <p:spPr>
          <a:xfrm>
            <a:off x="6096718" y="3313282"/>
            <a:ext cx="5689670" cy="844167"/>
          </a:xfrm>
          <a:prstGeom prst="ellipse">
            <a:avLst/>
          </a:prstGeom>
          <a:gradFill>
            <a:gsLst>
              <a:gs pos="0">
                <a:schemeClr val="bg1">
                  <a:alpha val="34000"/>
                </a:schemeClr>
              </a:gs>
              <a:gs pos="69000">
                <a:schemeClr val="bg1">
                  <a:alpha val="0"/>
                </a:schemeClr>
              </a:gs>
            </a:gsLst>
            <a:lin ang="16200000" scaled="0"/>
          </a:gradFill>
          <a:ln w="25400">
            <a:gradFill>
              <a:gsLst>
                <a:gs pos="0">
                  <a:schemeClr val="bg1">
                    <a:alpha val="0"/>
                  </a:schemeClr>
                </a:gs>
                <a:gs pos="100000">
                  <a:srgbClr val="0070C0"/>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56" name="任意形状 33"/>
          <p:cNvSpPr/>
          <p:nvPr/>
        </p:nvSpPr>
        <p:spPr>
          <a:xfrm rot="5400000">
            <a:off x="7913427" y="2071737"/>
            <a:ext cx="2056251" cy="2377710"/>
          </a:xfrm>
          <a:custGeom>
            <a:avLst/>
            <a:gdLst/>
            <a:ahLst/>
            <a:cxnLst>
              <a:cxn ang="0">
                <a:pos x="wd2" y="hd2"/>
              </a:cxn>
              <a:cxn ang="5400000">
                <a:pos x="wd2" y="hd2"/>
              </a:cxn>
              <a:cxn ang="10800000">
                <a:pos x="wd2" y="hd2"/>
              </a:cxn>
              <a:cxn ang="16200000">
                <a:pos x="wd2" y="hd2"/>
              </a:cxn>
            </a:cxnLst>
            <a:rect l="0" t="0" r="r" b="b"/>
            <a:pathLst>
              <a:path w="21600" h="21600" extrusionOk="0">
                <a:moveTo>
                  <a:pt x="0" y="10805"/>
                </a:moveTo>
                <a:lnTo>
                  <a:pt x="4925" y="14597"/>
                </a:lnTo>
                <a:lnTo>
                  <a:pt x="4925" y="13027"/>
                </a:lnTo>
                <a:cubicBezTo>
                  <a:pt x="4925" y="13027"/>
                  <a:pt x="15343" y="12792"/>
                  <a:pt x="21600" y="21600"/>
                </a:cubicBezTo>
                <a:lnTo>
                  <a:pt x="21600" y="0"/>
                </a:lnTo>
                <a:cubicBezTo>
                  <a:pt x="15343" y="8808"/>
                  <a:pt x="4925" y="8573"/>
                  <a:pt x="4925" y="8573"/>
                </a:cubicBezTo>
                <a:lnTo>
                  <a:pt x="4925" y="7003"/>
                </a:lnTo>
                <a:lnTo>
                  <a:pt x="0" y="10795"/>
                </a:lnTo>
                <a:lnTo>
                  <a:pt x="0" y="10805"/>
                </a:lnTo>
                <a:close/>
              </a:path>
            </a:pathLst>
          </a:custGeom>
          <a:gradFill>
            <a:gsLst>
              <a:gs pos="99000">
                <a:srgbClr val="004E9D"/>
              </a:gs>
              <a:gs pos="0">
                <a:srgbClr val="1F74AD"/>
              </a:gs>
              <a:gs pos="57000">
                <a:schemeClr val="bg1">
                  <a:alpha val="23000"/>
                </a:schemeClr>
              </a:gs>
            </a:gsLst>
          </a:gradFill>
          <a:ln w="12700">
            <a:miter lim="400000"/>
          </a:ln>
        </p:spPr>
        <p:txBody>
          <a:bodyPr lIns="50914" tIns="50914" rIns="50914" bIns="50914" anchor="ctr"/>
          <a:lstStyle/>
          <a:p>
            <a:pPr defTabSz="406839" hangingPunct="0">
              <a:defRPr sz="100">
                <a:solidFill>
                  <a:srgbClr val="FFFFFF"/>
                </a:solidFill>
                <a:effectLst>
                  <a:outerShdw blurRad="63500" rotWithShape="0">
                    <a:srgbClr val="000000">
                      <a:alpha val="40000"/>
                    </a:srgbClr>
                  </a:outerShdw>
                </a:effectLst>
                <a:latin typeface="TTTGB Medium" panose="020C06030202040F0204" charset="-122"/>
                <a:ea typeface="TTTGB Medium" panose="020C06030202040F0204" charset="-122"/>
                <a:cs typeface="TTTGB Medium" panose="020C06030202040F0204" charset="-122"/>
                <a:sym typeface="TTTGB Medium" panose="020C06030202040F0204" charset="-122"/>
              </a:defRPr>
            </a:pPr>
            <a:endParaRPr sz="167" kern="0" dirty="0">
              <a:effectLst>
                <a:outerShdw blurRad="63500" rotWithShape="0">
                  <a:srgbClr val="000000">
                    <a:alpha val="40000"/>
                  </a:srgbClr>
                </a:outerShdw>
              </a:effectLst>
              <a:latin typeface="微软雅黑" panose="020B0503020204020204" pitchFamily="34" charset="-122"/>
              <a:ea typeface="微软雅黑" panose="020B0503020204020204" pitchFamily="34" charset="-122"/>
              <a:cs typeface="TTTGB Medium" panose="020C06030202040F0204" charset="-122"/>
              <a:sym typeface="TTTGB Medium" panose="020C06030202040F0204" charset="-122"/>
            </a:endParaRPr>
          </a:p>
        </p:txBody>
      </p:sp>
      <p:sp>
        <p:nvSpPr>
          <p:cNvPr id="58" name="文本框 57"/>
          <p:cNvSpPr txBox="1"/>
          <p:nvPr/>
        </p:nvSpPr>
        <p:spPr>
          <a:xfrm>
            <a:off x="8462457" y="5138347"/>
            <a:ext cx="1128799" cy="2246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932"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多模态工具调用</a:t>
            </a:r>
          </a:p>
        </p:txBody>
      </p:sp>
      <p:sp>
        <p:nvSpPr>
          <p:cNvPr id="59" name="椭圆 58"/>
          <p:cNvSpPr/>
          <p:nvPr/>
        </p:nvSpPr>
        <p:spPr>
          <a:xfrm>
            <a:off x="8973181" y="4946389"/>
            <a:ext cx="73167" cy="7232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61" name="文本框 60"/>
          <p:cNvSpPr txBox="1"/>
          <p:nvPr/>
        </p:nvSpPr>
        <p:spPr>
          <a:xfrm>
            <a:off x="6074446" y="4990188"/>
            <a:ext cx="1128799" cy="2246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932"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大模型技术突破</a:t>
            </a:r>
          </a:p>
        </p:txBody>
      </p:sp>
      <p:sp>
        <p:nvSpPr>
          <p:cNvPr id="62" name="椭圆 61"/>
          <p:cNvSpPr/>
          <p:nvPr/>
        </p:nvSpPr>
        <p:spPr>
          <a:xfrm>
            <a:off x="6565679" y="4802157"/>
            <a:ext cx="73167" cy="7232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63" name="文本框 62"/>
          <p:cNvSpPr txBox="1"/>
          <p:nvPr/>
        </p:nvSpPr>
        <p:spPr>
          <a:xfrm>
            <a:off x="10631262" y="4148172"/>
            <a:ext cx="1236857" cy="2246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932" kern="0" dirty="0">
                <a:latin typeface="微软雅黑" panose="020B0503020204020204" pitchFamily="34" charset="-122"/>
                <a:ea typeface="微软雅黑" panose="020B0503020204020204" pitchFamily="34" charset="-122"/>
                <a:cs typeface="方正兰亭黑简体" panose="02000000000000000000" pitchFamily="2" charset="-122"/>
                <a:sym typeface="Helvetica Neue" panose="02000206000000020004"/>
              </a:rPr>
              <a:t>自动化与效率红利</a:t>
            </a:r>
          </a:p>
        </p:txBody>
      </p:sp>
      <p:sp>
        <p:nvSpPr>
          <p:cNvPr id="449" name="文本框 448"/>
          <p:cNvSpPr txBox="1"/>
          <p:nvPr/>
        </p:nvSpPr>
        <p:spPr>
          <a:xfrm>
            <a:off x="8560279" y="4272862"/>
            <a:ext cx="906761" cy="2246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932"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复杂任务驱动</a:t>
            </a:r>
          </a:p>
        </p:txBody>
      </p:sp>
      <p:sp>
        <p:nvSpPr>
          <p:cNvPr id="450" name="文本框 449"/>
          <p:cNvSpPr txBox="1"/>
          <p:nvPr/>
        </p:nvSpPr>
        <p:spPr>
          <a:xfrm>
            <a:off x="8542093" y="3460893"/>
            <a:ext cx="906761" cy="2246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932"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开放生态</a:t>
            </a:r>
          </a:p>
        </p:txBody>
      </p:sp>
      <p:sp>
        <p:nvSpPr>
          <p:cNvPr id="451" name="文本框 450"/>
          <p:cNvSpPr txBox="1"/>
          <p:nvPr/>
        </p:nvSpPr>
        <p:spPr>
          <a:xfrm>
            <a:off x="10707710" y="3284414"/>
            <a:ext cx="906761" cy="2246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932"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政策伦理</a:t>
            </a:r>
          </a:p>
        </p:txBody>
      </p:sp>
      <p:sp>
        <p:nvSpPr>
          <p:cNvPr id="452" name="椭圆 451"/>
          <p:cNvSpPr/>
          <p:nvPr/>
        </p:nvSpPr>
        <p:spPr>
          <a:xfrm>
            <a:off x="10987792" y="3998926"/>
            <a:ext cx="73167" cy="7232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454" name="椭圆 453"/>
          <p:cNvSpPr/>
          <p:nvPr/>
        </p:nvSpPr>
        <p:spPr>
          <a:xfrm>
            <a:off x="8995474" y="4142647"/>
            <a:ext cx="73167" cy="7232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455" name="椭圆 454"/>
          <p:cNvSpPr/>
          <p:nvPr/>
        </p:nvSpPr>
        <p:spPr>
          <a:xfrm>
            <a:off x="6096718" y="2441995"/>
            <a:ext cx="5676559" cy="870812"/>
          </a:xfrm>
          <a:prstGeom prst="ellipse">
            <a:avLst/>
          </a:prstGeom>
          <a:gradFill>
            <a:gsLst>
              <a:gs pos="0">
                <a:schemeClr val="bg1">
                  <a:alpha val="35000"/>
                  <a:lumMod val="88000"/>
                </a:schemeClr>
              </a:gs>
              <a:gs pos="69000">
                <a:schemeClr val="bg1">
                  <a:alpha val="0"/>
                </a:schemeClr>
              </a:gs>
            </a:gsLst>
            <a:lin ang="16200000" scaled="0"/>
          </a:gradFill>
          <a:ln w="25400">
            <a:gradFill>
              <a:gsLst>
                <a:gs pos="100000">
                  <a:srgbClr val="0070C0"/>
                </a:gs>
                <a:gs pos="0">
                  <a:srgbClr val="F8FEFC">
                    <a:alpha val="82000"/>
                  </a:srgb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sp>
        <p:nvSpPr>
          <p:cNvPr id="460" name="文本框 459"/>
          <p:cNvSpPr txBox="1"/>
          <p:nvPr/>
        </p:nvSpPr>
        <p:spPr>
          <a:xfrm>
            <a:off x="10356675" y="5018737"/>
            <a:ext cx="1666342" cy="2246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932"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算力服务与云服务发展</a:t>
            </a:r>
          </a:p>
        </p:txBody>
      </p:sp>
      <p:sp>
        <p:nvSpPr>
          <p:cNvPr id="461" name="椭圆 460"/>
          <p:cNvSpPr/>
          <p:nvPr/>
        </p:nvSpPr>
        <p:spPr>
          <a:xfrm>
            <a:off x="11176524" y="4824335"/>
            <a:ext cx="73167" cy="7232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474" name="文本框 473"/>
          <p:cNvSpPr txBox="1"/>
          <p:nvPr/>
        </p:nvSpPr>
        <p:spPr>
          <a:xfrm>
            <a:off x="6153813" y="4044456"/>
            <a:ext cx="906761" cy="2246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932"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用户需求升级</a:t>
            </a:r>
          </a:p>
        </p:txBody>
      </p:sp>
      <p:sp>
        <p:nvSpPr>
          <p:cNvPr id="475" name="椭圆 474"/>
          <p:cNvSpPr/>
          <p:nvPr/>
        </p:nvSpPr>
        <p:spPr>
          <a:xfrm>
            <a:off x="6402496" y="3887198"/>
            <a:ext cx="73167" cy="7232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503" name="椭圆 502"/>
          <p:cNvSpPr/>
          <p:nvPr/>
        </p:nvSpPr>
        <p:spPr>
          <a:xfrm>
            <a:off x="6896401" y="3136373"/>
            <a:ext cx="72321" cy="7232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505" name="椭圆 504"/>
          <p:cNvSpPr/>
          <p:nvPr/>
        </p:nvSpPr>
        <p:spPr>
          <a:xfrm>
            <a:off x="8964177" y="3306994"/>
            <a:ext cx="72321" cy="7232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508" name="椭圆 507"/>
          <p:cNvSpPr/>
          <p:nvPr/>
        </p:nvSpPr>
        <p:spPr>
          <a:xfrm>
            <a:off x="11106871" y="3124023"/>
            <a:ext cx="72321" cy="72321"/>
          </a:xfrm>
          <a:prstGeom prst="ellipse">
            <a:avLst/>
          </a:prstGeom>
          <a:solidFill>
            <a:schemeClr val="accent6"/>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535" name="文本框 534"/>
          <p:cNvSpPr txBox="1"/>
          <p:nvPr/>
        </p:nvSpPr>
        <p:spPr>
          <a:xfrm>
            <a:off x="6693578" y="3354034"/>
            <a:ext cx="906761" cy="224671"/>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ctr">
            <a:spAutoFit/>
          </a:bodyPr>
          <a:lstStyle/>
          <a:p>
            <a:pPr algn="ctr" defTabSz="653819">
              <a:defRPr/>
            </a:pPr>
            <a:r>
              <a:rPr lang="zh-CN" altLang="en-US" sz="932"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rPr>
              <a:t>产业竞争</a:t>
            </a:r>
          </a:p>
        </p:txBody>
      </p:sp>
      <p:sp>
        <p:nvSpPr>
          <p:cNvPr id="536" name="文本框 535"/>
          <p:cNvSpPr txBox="1"/>
          <p:nvPr/>
        </p:nvSpPr>
        <p:spPr>
          <a:xfrm>
            <a:off x="6988227" y="1521092"/>
            <a:ext cx="3806206" cy="420243"/>
          </a:xfrm>
          <a:prstGeom prst="rect">
            <a:avLst/>
          </a:prstGeom>
          <a:noFill/>
          <a:effectLst>
            <a:reflection blurRad="6350" stA="50000" endA="300" endPos="94000" dist="50800" dir="5400000" sy="-100000" algn="bl" rotWithShape="0"/>
          </a:effectLst>
        </p:spPr>
        <p:txBody>
          <a:bodyPr wrap="square" rtlCol="0">
            <a:spAutoFit/>
          </a:bodyPr>
          <a:lstStyle/>
          <a:p>
            <a:pPr defTabSz="913909"/>
            <a:r>
              <a:rPr lang="en-US" altLang="zh-CN" sz="2131" b="1" dirty="0">
                <a:latin typeface="微软雅黑" panose="020B0503020204020204" pitchFamily="34" charset="-122"/>
                <a:ea typeface="微软雅黑" panose="020B0503020204020204" pitchFamily="34" charset="-122"/>
                <a:cs typeface="微软雅黑 Light" panose="020B0502040204020203" charset="-122"/>
                <a:sym typeface="+mn-lt"/>
              </a:rPr>
              <a:t>AI</a:t>
            </a:r>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智能体已具备快速发展要素</a:t>
            </a:r>
            <a:endParaRPr lang="en-US" altLang="zh-CN" sz="2131" b="1" dirty="0">
              <a:latin typeface="微软雅黑" panose="020B0503020204020204" pitchFamily="34" charset="-122"/>
              <a:ea typeface="微软雅黑" panose="020B0503020204020204" pitchFamily="34" charset="-122"/>
              <a:cs typeface="微软雅黑 Light" panose="020B0502040204020203" charset="-122"/>
              <a:sym typeface="+mn-lt"/>
            </a:endParaRPr>
          </a:p>
        </p:txBody>
      </p:sp>
      <p:sp>
        <p:nvSpPr>
          <p:cNvPr id="538" name="文本框 537"/>
          <p:cNvSpPr txBox="1"/>
          <p:nvPr/>
        </p:nvSpPr>
        <p:spPr>
          <a:xfrm>
            <a:off x="6958767" y="4560258"/>
            <a:ext cx="4101996" cy="256352"/>
          </a:xfrm>
          <a:prstGeom prst="rect">
            <a:avLst/>
          </a:prstGeom>
          <a:noFill/>
        </p:spPr>
        <p:txBody>
          <a:bodyPr wrap="square" rtlCol="0">
            <a:spAutoFit/>
          </a:bodyPr>
          <a:lstStyle/>
          <a:p>
            <a:pPr algn="ctr" defTabSz="913909"/>
            <a:r>
              <a:rPr lang="zh-CN" altLang="en-US" sz="1066" b="1" dirty="0">
                <a:latin typeface="微软雅黑" panose="020B0503020204020204" pitchFamily="34" charset="-122"/>
                <a:ea typeface="微软雅黑" panose="020B0503020204020204" pitchFamily="34" charset="-122"/>
                <a:cs typeface="微软雅黑 Light" panose="020B0502040204020203" charset="-122"/>
                <a:sym typeface="+mn-lt"/>
              </a:rPr>
              <a:t>从技术上看，</a:t>
            </a:r>
            <a:r>
              <a:rPr lang="en-US" altLang="zh-CN" sz="1066" b="1" dirty="0">
                <a:latin typeface="微软雅黑" panose="020B0503020204020204" pitchFamily="34" charset="-122"/>
                <a:ea typeface="微软雅黑" panose="020B0503020204020204" pitchFamily="34" charset="-122"/>
                <a:cs typeface="微软雅黑 Light" panose="020B0502040204020203" charset="-122"/>
                <a:sym typeface="+mn-lt"/>
              </a:rPr>
              <a:t>AI</a:t>
            </a:r>
            <a:r>
              <a:rPr lang="zh-CN" altLang="en-US" sz="1066" b="1" dirty="0">
                <a:latin typeface="微软雅黑" panose="020B0503020204020204" pitchFamily="34" charset="-122"/>
                <a:ea typeface="微软雅黑" panose="020B0503020204020204" pitchFamily="34" charset="-122"/>
                <a:cs typeface="微软雅黑 Light" panose="020B0502040204020203" charset="-122"/>
                <a:sym typeface="+mn-lt"/>
              </a:rPr>
              <a:t>大模型能力与计算基础日益成熟。</a:t>
            </a:r>
          </a:p>
        </p:txBody>
      </p:sp>
      <p:sp>
        <p:nvSpPr>
          <p:cNvPr id="544" name="文本框 543"/>
          <p:cNvSpPr txBox="1"/>
          <p:nvPr/>
        </p:nvSpPr>
        <p:spPr>
          <a:xfrm>
            <a:off x="7025529" y="3742960"/>
            <a:ext cx="4101996" cy="256352"/>
          </a:xfrm>
          <a:prstGeom prst="rect">
            <a:avLst/>
          </a:prstGeom>
          <a:noFill/>
        </p:spPr>
        <p:txBody>
          <a:bodyPr wrap="square" rtlCol="0">
            <a:spAutoFit/>
          </a:bodyPr>
          <a:lstStyle/>
          <a:p>
            <a:pPr algn="ctr" defTabSz="913909"/>
            <a:r>
              <a:rPr lang="zh-CN" altLang="en-US" sz="1066" b="1" dirty="0">
                <a:latin typeface="微软雅黑" panose="020B0503020204020204" pitchFamily="34" charset="-122"/>
                <a:ea typeface="微软雅黑" panose="020B0503020204020204" pitchFamily="34" charset="-122"/>
                <a:cs typeface="微软雅黑 Light" panose="020B0502040204020203" charset="-122"/>
                <a:sym typeface="+mn-lt"/>
              </a:rPr>
              <a:t>从需求上看，用户需要</a:t>
            </a:r>
            <a:r>
              <a:rPr lang="en-US" altLang="zh-CN" sz="1066" b="1" dirty="0">
                <a:latin typeface="微软雅黑" panose="020B0503020204020204" pitchFamily="34" charset="-122"/>
                <a:ea typeface="微软雅黑" panose="020B0503020204020204" pitchFamily="34" charset="-122"/>
                <a:cs typeface="微软雅黑 Light" panose="020B0502040204020203" charset="-122"/>
                <a:sym typeface="+mn-lt"/>
              </a:rPr>
              <a:t>AI</a:t>
            </a:r>
            <a:r>
              <a:rPr lang="zh-CN" altLang="en-US" sz="1066" b="1" dirty="0">
                <a:latin typeface="微软雅黑" panose="020B0503020204020204" pitchFamily="34" charset="-122"/>
                <a:ea typeface="微软雅黑" panose="020B0503020204020204" pitchFamily="34" charset="-122"/>
                <a:cs typeface="微软雅黑 Light" panose="020B0502040204020203" charset="-122"/>
                <a:sym typeface="+mn-lt"/>
              </a:rPr>
              <a:t>从回答问题到完成任务</a:t>
            </a:r>
          </a:p>
        </p:txBody>
      </p:sp>
      <p:sp>
        <p:nvSpPr>
          <p:cNvPr id="546" name="文本框 545"/>
          <p:cNvSpPr txBox="1"/>
          <p:nvPr/>
        </p:nvSpPr>
        <p:spPr>
          <a:xfrm>
            <a:off x="6877441" y="2772047"/>
            <a:ext cx="4101996" cy="256352"/>
          </a:xfrm>
          <a:prstGeom prst="rect">
            <a:avLst/>
          </a:prstGeom>
          <a:noFill/>
        </p:spPr>
        <p:txBody>
          <a:bodyPr wrap="square" rtlCol="0">
            <a:spAutoFit/>
          </a:bodyPr>
          <a:lstStyle/>
          <a:p>
            <a:pPr algn="ctr" defTabSz="913909"/>
            <a:r>
              <a:rPr lang="zh-CN" altLang="en-US" sz="1066" b="1" dirty="0">
                <a:latin typeface="微软雅黑" panose="020B0503020204020204" pitchFamily="34" charset="-122"/>
                <a:ea typeface="微软雅黑" panose="020B0503020204020204" pitchFamily="34" charset="-122"/>
                <a:cs typeface="微软雅黑 Light" panose="020B0502040204020203" charset="-122"/>
                <a:sym typeface="+mn-lt"/>
              </a:rPr>
              <a:t>从产业来看，</a:t>
            </a:r>
            <a:r>
              <a:rPr lang="en-US" altLang="zh-CN" sz="1066" b="1" dirty="0">
                <a:latin typeface="微软雅黑" panose="020B0503020204020204" pitchFamily="34" charset="-122"/>
                <a:ea typeface="微软雅黑" panose="020B0503020204020204" pitchFamily="34" charset="-122"/>
                <a:cs typeface="微软雅黑 Light" panose="020B0502040204020203" charset="-122"/>
                <a:sym typeface="+mn-lt"/>
              </a:rPr>
              <a:t>AI</a:t>
            </a:r>
            <a:r>
              <a:rPr lang="zh-CN" altLang="en-US" sz="1066" b="1" dirty="0">
                <a:latin typeface="微软雅黑" panose="020B0503020204020204" pitchFamily="34" charset="-122"/>
                <a:ea typeface="微软雅黑" panose="020B0503020204020204" pitchFamily="34" charset="-122"/>
                <a:cs typeface="微软雅黑 Light" panose="020B0502040204020203" charset="-122"/>
                <a:sym typeface="+mn-lt"/>
              </a:rPr>
              <a:t>应用向智能体发展已具备基本市场条件</a:t>
            </a:r>
          </a:p>
        </p:txBody>
      </p:sp>
      <p:sp>
        <p:nvSpPr>
          <p:cNvPr id="547" name="文本框 546"/>
          <p:cNvSpPr txBox="1"/>
          <p:nvPr>
            <p:custDataLst>
              <p:tags r:id="rId3"/>
            </p:custDataLst>
          </p:nvPr>
        </p:nvSpPr>
        <p:spPr>
          <a:xfrm>
            <a:off x="7068465" y="5671535"/>
            <a:ext cx="3652393" cy="927754"/>
          </a:xfrm>
          <a:prstGeom prst="rect">
            <a:avLst/>
          </a:prstGeom>
          <a:noFill/>
        </p:spPr>
        <p:txBody>
          <a:bodyPr wrap="square">
            <a:spAutoFit/>
          </a:bodyPr>
          <a:lstStyle>
            <a:defPPr>
              <a:defRPr lang="zh-CN"/>
            </a:defPPr>
            <a:lvl1pPr algn="ctr" defTabSz="914400">
              <a:defRPr sz="4400">
                <a:solidFill>
                  <a:schemeClr val="bg1"/>
                </a:solidFill>
                <a:latin typeface="方正兰亭刊黑_GBK" panose="02000000000000000000" pitchFamily="2" charset="-122"/>
                <a:ea typeface="方正兰亭刊黑_GBK" panose="02000000000000000000" pitchFamily="2" charset="-122"/>
              </a:defRPr>
            </a:lvl1pPr>
          </a:lstStyle>
          <a:p>
            <a:pPr>
              <a:lnSpc>
                <a:spcPct val="150000"/>
              </a:lnSpc>
            </a:pPr>
            <a:r>
              <a:rPr lang="zh-CN" altLang="en-US" sz="932" b="1" dirty="0">
                <a:solidFill>
                  <a:schemeClr val="tx1"/>
                </a:solidFill>
                <a:latin typeface="微软雅黑" panose="020B0503020204020204" pitchFamily="34" charset="-122"/>
                <a:ea typeface="微软雅黑" panose="020B0503020204020204" pitchFamily="34" charset="-122"/>
                <a:sym typeface="腾讯体 W7" panose="020C08030202040F0204" pitchFamily="34" charset="-122"/>
              </a:rPr>
              <a:t>相比于单一大模型对话，</a:t>
            </a:r>
            <a:r>
              <a:rPr lang="en-US" altLang="zh-CN" sz="932" b="1" dirty="0">
                <a:solidFill>
                  <a:schemeClr val="tx1"/>
                </a:solidFill>
                <a:latin typeface="微软雅黑" panose="020B0503020204020204" pitchFamily="34" charset="-122"/>
                <a:ea typeface="微软雅黑" panose="020B0503020204020204" pitchFamily="34" charset="-122"/>
                <a:sym typeface="腾讯体 W7" panose="020C08030202040F0204" pitchFamily="34" charset="-122"/>
              </a:rPr>
              <a:t>AI</a:t>
            </a:r>
            <a:r>
              <a:rPr lang="zh-CN" altLang="en-US" sz="932" b="1" dirty="0">
                <a:solidFill>
                  <a:schemeClr val="tx1"/>
                </a:solidFill>
                <a:latin typeface="微软雅黑" panose="020B0503020204020204" pitchFamily="34" charset="-122"/>
                <a:ea typeface="微软雅黑" panose="020B0503020204020204" pitchFamily="34" charset="-122"/>
                <a:sym typeface="腾讯体 W7" panose="020C08030202040F0204" pitchFamily="34" charset="-122"/>
              </a:rPr>
              <a:t>智能体被视为能够自主感知、推理、规划和执行的“全链条</a:t>
            </a:r>
            <a:r>
              <a:rPr lang="en-US" altLang="zh-CN" sz="932" b="1" dirty="0">
                <a:solidFill>
                  <a:schemeClr val="tx1"/>
                </a:solidFill>
                <a:latin typeface="微软雅黑" panose="020B0503020204020204" pitchFamily="34" charset="-122"/>
                <a:ea typeface="微软雅黑" panose="020B0503020204020204" pitchFamily="34" charset="-122"/>
                <a:sym typeface="腾讯体 W7" panose="020C08030202040F0204" pitchFamily="34" charset="-122"/>
              </a:rPr>
              <a:t>AI</a:t>
            </a:r>
            <a:r>
              <a:rPr lang="zh-CN" altLang="en-US" sz="932" b="1" dirty="0">
                <a:solidFill>
                  <a:schemeClr val="tx1"/>
                </a:solidFill>
                <a:latin typeface="微软雅黑" panose="020B0503020204020204" pitchFamily="34" charset="-122"/>
                <a:ea typeface="微软雅黑" panose="020B0503020204020204" pitchFamily="34" charset="-122"/>
                <a:sym typeface="腾讯体 W7" panose="020C08030202040F0204" pitchFamily="34" charset="-122"/>
              </a:rPr>
              <a:t>实体”，是推动</a:t>
            </a:r>
            <a:r>
              <a:rPr lang="en-US" altLang="zh-CN" sz="932" b="1" dirty="0">
                <a:solidFill>
                  <a:schemeClr val="tx1"/>
                </a:solidFill>
                <a:latin typeface="微软雅黑" panose="020B0503020204020204" pitchFamily="34" charset="-122"/>
                <a:ea typeface="微软雅黑" panose="020B0503020204020204" pitchFamily="34" charset="-122"/>
                <a:sym typeface="腾讯体 W7" panose="020C08030202040F0204" pitchFamily="34" charset="-122"/>
              </a:rPr>
              <a:t>AI</a:t>
            </a:r>
            <a:r>
              <a:rPr lang="zh-CN" altLang="en-US" sz="932" b="1" dirty="0">
                <a:solidFill>
                  <a:schemeClr val="tx1"/>
                </a:solidFill>
                <a:latin typeface="微软雅黑" panose="020B0503020204020204" pitchFamily="34" charset="-122"/>
                <a:ea typeface="微软雅黑" panose="020B0503020204020204" pitchFamily="34" charset="-122"/>
                <a:sym typeface="腾讯体 W7" panose="020C08030202040F0204" pitchFamily="34" charset="-122"/>
              </a:rPr>
              <a:t>从“工具”走向“助手”乃至“协作伙伴”的关键一步，正引领</a:t>
            </a:r>
            <a:r>
              <a:rPr lang="en-US" altLang="zh-CN" sz="932" b="1" dirty="0">
                <a:solidFill>
                  <a:schemeClr val="tx1"/>
                </a:solidFill>
                <a:latin typeface="微软雅黑" panose="020B0503020204020204" pitchFamily="34" charset="-122"/>
                <a:ea typeface="微软雅黑" panose="020B0503020204020204" pitchFamily="34" charset="-122"/>
                <a:sym typeface="腾讯体 W7" panose="020C08030202040F0204" pitchFamily="34" charset="-122"/>
              </a:rPr>
              <a:t>AI</a:t>
            </a:r>
            <a:r>
              <a:rPr lang="zh-CN" altLang="en-US" sz="932" b="1" dirty="0">
                <a:solidFill>
                  <a:schemeClr val="tx1"/>
                </a:solidFill>
                <a:latin typeface="微软雅黑" panose="020B0503020204020204" pitchFamily="34" charset="-122"/>
                <a:ea typeface="微软雅黑" panose="020B0503020204020204" pitchFamily="34" charset="-122"/>
                <a:sym typeface="腾讯体 W7" panose="020C08030202040F0204" pitchFamily="34" charset="-122"/>
              </a:rPr>
              <a:t>进入更高阶段的智能化时代。</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7A1CAE8-D3A2-4B6C-9AD8-21EEF777D29C}"/>
              </a:ext>
            </a:extLst>
          </p:cNvPr>
          <p:cNvSpPr/>
          <p:nvPr/>
        </p:nvSpPr>
        <p:spPr>
          <a:xfrm>
            <a:off x="5461850" y="2228671"/>
            <a:ext cx="1268297" cy="1200329"/>
          </a:xfrm>
          <a:prstGeom prst="rect">
            <a:avLst/>
          </a:prstGeom>
          <a:noFill/>
        </p:spPr>
        <p:txBody>
          <a:bodyPr wrap="none" lIns="91440" tIns="45720" rIns="91440" bIns="45720">
            <a:spAutoFit/>
          </a:bodyPr>
          <a:lstStyle/>
          <a:p>
            <a:pPr algn="ctr"/>
            <a:r>
              <a:rPr lang="en-US" altLang="zh-CN" sz="7200" b="0" cap="none" spc="0" dirty="0">
                <a:ln w="0"/>
                <a:solidFill>
                  <a:schemeClr val="accent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DINCond-BoldAlternate" charset="0"/>
              </a:rPr>
              <a:t>02</a:t>
            </a:r>
            <a:endParaRPr lang="zh-CN" altLang="en-US" sz="7200" b="0" cap="none" spc="0" dirty="0">
              <a:ln w="0"/>
              <a:solidFill>
                <a:schemeClr val="accent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p:txBody>
      </p:sp>
      <p:sp>
        <p:nvSpPr>
          <p:cNvPr id="2" name="TextBox 3"/>
          <p:cNvSpPr txBox="1">
            <a:spLocks noChangeArrowheads="1"/>
          </p:cNvSpPr>
          <p:nvPr/>
        </p:nvSpPr>
        <p:spPr bwMode="auto">
          <a:xfrm flipH="1">
            <a:off x="2042474" y="3429000"/>
            <a:ext cx="8107051" cy="699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charset="0"/>
              </a:defRPr>
            </a:lvl1pPr>
            <a:lvl2pPr marL="742950" indent="-285750">
              <a:defRPr>
                <a:solidFill>
                  <a:schemeClr val="tx1"/>
                </a:solidFill>
                <a:latin typeface="Calibri" panose="020F0502020204030204" charset="0"/>
              </a:defRPr>
            </a:lvl2pPr>
            <a:lvl3pPr marL="1143000" indent="-228600">
              <a:defRPr>
                <a:solidFill>
                  <a:schemeClr val="tx1"/>
                </a:solidFill>
                <a:latin typeface="Calibri" panose="020F0502020204030204" charset="0"/>
              </a:defRPr>
            </a:lvl3pPr>
            <a:lvl4pPr marL="1600200" indent="-228600">
              <a:defRPr>
                <a:solidFill>
                  <a:schemeClr val="tx1"/>
                </a:solidFill>
                <a:latin typeface="Calibri" panose="020F0502020204030204" charset="0"/>
              </a:defRPr>
            </a:lvl4pPr>
            <a:lvl5pPr marL="2057400" indent="-228600">
              <a:defRPr>
                <a:solidFill>
                  <a:schemeClr val="tx1"/>
                </a:solidFill>
                <a:latin typeface="Calibri" panose="020F0502020204030204" charset="0"/>
              </a:defRPr>
            </a:lvl5pPr>
            <a:lvl6pPr marL="2514600" indent="-228600" fontAlgn="base">
              <a:spcBef>
                <a:spcPct val="0"/>
              </a:spcBef>
              <a:spcAft>
                <a:spcPct val="0"/>
              </a:spcAft>
              <a:defRPr>
                <a:solidFill>
                  <a:schemeClr val="tx1"/>
                </a:solidFill>
                <a:latin typeface="Calibri" panose="020F0502020204030204" charset="0"/>
              </a:defRPr>
            </a:lvl6pPr>
            <a:lvl7pPr marL="2971800" indent="-228600" fontAlgn="base">
              <a:spcBef>
                <a:spcPct val="0"/>
              </a:spcBef>
              <a:spcAft>
                <a:spcPct val="0"/>
              </a:spcAft>
              <a:defRPr>
                <a:solidFill>
                  <a:schemeClr val="tx1"/>
                </a:solidFill>
                <a:latin typeface="Calibri" panose="020F0502020204030204" charset="0"/>
              </a:defRPr>
            </a:lvl7pPr>
            <a:lvl8pPr marL="3429000" indent="-228600" fontAlgn="base">
              <a:spcBef>
                <a:spcPct val="0"/>
              </a:spcBef>
              <a:spcAft>
                <a:spcPct val="0"/>
              </a:spcAft>
              <a:defRPr>
                <a:solidFill>
                  <a:schemeClr val="tx1"/>
                </a:solidFill>
                <a:latin typeface="Calibri" panose="020F0502020204030204" charset="0"/>
              </a:defRPr>
            </a:lvl8pPr>
            <a:lvl9pPr marL="3886200" indent="-228600" fontAlgn="base">
              <a:spcBef>
                <a:spcPct val="0"/>
              </a:spcBef>
              <a:spcAft>
                <a:spcPct val="0"/>
              </a:spcAft>
              <a:defRPr>
                <a:solidFill>
                  <a:schemeClr val="tx1"/>
                </a:solidFill>
                <a:latin typeface="Calibri" panose="020F0502020204030204" charset="0"/>
              </a:defRPr>
            </a:lvl9pPr>
          </a:lstStyle>
          <a:p>
            <a:pPr algn="ctr">
              <a:lnSpc>
                <a:spcPct val="125000"/>
              </a:lnSpc>
            </a:pPr>
            <a:r>
              <a:rPr kumimoji="1" lang="zh-CN" altLang="en-US" sz="4000" b="1" dirty="0">
                <a:latin typeface="微软雅黑" panose="020B0503020204020204" pitchFamily="34" charset="-122"/>
                <a:ea typeface="微软雅黑" panose="020B0503020204020204" pitchFamily="34" charset="-122"/>
              </a:rPr>
              <a:t>智能体驱动的大模型系统工程研究</a:t>
            </a:r>
            <a:endParaRPr lang="zh-CN" altLang="en-US" sz="3996" b="1" dirty="0">
              <a:latin typeface="微软雅黑" panose="020B0503020204020204" pitchFamily="34" charset="-122"/>
              <a:ea typeface="微软雅黑" panose="020B0503020204020204" pitchFamily="34" charset="-122"/>
              <a:cs typeface="TTTGB Medium" panose="020C06030202040F0204" charset="-122"/>
            </a:endParaRPr>
          </a:p>
        </p:txBody>
      </p:sp>
    </p:spTree>
    <p:extLst>
      <p:ext uri="{BB962C8B-B14F-4D97-AF65-F5344CB8AC3E}">
        <p14:creationId xmlns:p14="http://schemas.microsoft.com/office/powerpoint/2010/main" val="205034674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100000">
              <a:schemeClr val="bg1"/>
            </a:gs>
            <a:gs pos="0">
              <a:srgbClr val="F8FEFC">
                <a:alpha val="82000"/>
              </a:srgbClr>
            </a:gs>
          </a:gsLst>
          <a:lin ang="5400000" scaled="0"/>
        </a:gradFill>
        <a:effectLst/>
      </p:bgPr>
    </p:bg>
    <p:spTree>
      <p:nvGrpSpPr>
        <p:cNvPr id="1" name=""/>
        <p:cNvGrpSpPr/>
        <p:nvPr/>
      </p:nvGrpSpPr>
      <p:grpSpPr>
        <a:xfrm>
          <a:off x="0" y="0"/>
          <a:ext cx="0" cy="0"/>
          <a:chOff x="0" y="0"/>
          <a:chExt cx="0" cy="0"/>
        </a:xfrm>
      </p:grpSpPr>
      <p:sp>
        <p:nvSpPr>
          <p:cNvPr id="2" name="矩形: 圆角 20"/>
          <p:cNvSpPr/>
          <p:nvPr/>
        </p:nvSpPr>
        <p:spPr>
          <a:xfrm>
            <a:off x="389369" y="1659273"/>
            <a:ext cx="11469845" cy="2250454"/>
          </a:xfrm>
          <a:prstGeom prst="roundRect">
            <a:avLst>
              <a:gd name="adj" fmla="val 3010"/>
            </a:avLst>
          </a:prstGeom>
          <a:gradFill>
            <a:gsLst>
              <a:gs pos="0">
                <a:schemeClr val="accent1">
                  <a:lumMod val="5000"/>
                  <a:lumOff val="95000"/>
                  <a:alpha val="5000"/>
                </a:schemeClr>
              </a:gs>
              <a:gs pos="99000">
                <a:srgbClr val="FFFFFF">
                  <a:alpha val="30000"/>
                </a:srgbClr>
              </a:gs>
              <a:gs pos="80000">
                <a:schemeClr val="bg1">
                  <a:alpha val="0"/>
                </a:schemeClr>
              </a:gs>
            </a:gsLst>
            <a:lin ang="13500000" scaled="0"/>
          </a:gradFill>
          <a:ln w="25400">
            <a:gradFill>
              <a:gsLst>
                <a:gs pos="0">
                  <a:schemeClr val="accent1">
                    <a:lumMod val="5000"/>
                    <a:lumOff val="9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sp>
        <p:nvSpPr>
          <p:cNvPr id="20" name="文本框 19"/>
          <p:cNvSpPr txBox="1"/>
          <p:nvPr/>
        </p:nvSpPr>
        <p:spPr>
          <a:xfrm>
            <a:off x="417660" y="188444"/>
            <a:ext cx="8001552" cy="420243"/>
          </a:xfrm>
          <a:prstGeom prst="rect">
            <a:avLst/>
          </a:prstGeom>
          <a:noFill/>
        </p:spPr>
        <p:txBody>
          <a:bodyPr wrap="square" rtlCol="0">
            <a:spAutoFit/>
          </a:bodyPr>
          <a:lstStyle/>
          <a:p>
            <a:pPr defTabSz="913909"/>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智能体驱动大模型系统工程框架演进，自主智能成为框架中枢</a:t>
            </a:r>
          </a:p>
        </p:txBody>
      </p:sp>
      <p:pic>
        <p:nvPicPr>
          <p:cNvPr id="4" name="图片 3" descr="图片包含 文本&#10;&#10;AI 生成的内容可能不正确。"/>
          <p:cNvPicPr>
            <a:picLocks noChangeAspect="1"/>
          </p:cNvPicPr>
          <p:nvPr/>
        </p:nvPicPr>
        <p:blipFill>
          <a:blip r:embed="rId3"/>
          <a:stretch>
            <a:fillRect/>
          </a:stretch>
        </p:blipFill>
        <p:spPr>
          <a:xfrm>
            <a:off x="5049851" y="1714086"/>
            <a:ext cx="6474815" cy="2024185"/>
          </a:xfrm>
          <a:prstGeom prst="rect">
            <a:avLst/>
          </a:prstGeom>
        </p:spPr>
      </p:pic>
      <p:grpSp>
        <p:nvGrpSpPr>
          <p:cNvPr id="37" name="组合 36"/>
          <p:cNvGrpSpPr/>
          <p:nvPr/>
        </p:nvGrpSpPr>
        <p:grpSpPr>
          <a:xfrm>
            <a:off x="686671" y="1997688"/>
            <a:ext cx="3218072" cy="999993"/>
            <a:chOff x="988512" y="2233796"/>
            <a:chExt cx="5654162" cy="1501422"/>
          </a:xfrm>
        </p:grpSpPr>
        <p:sp>
          <p:nvSpPr>
            <p:cNvPr id="25" name="圆角矩形 519"/>
            <p:cNvSpPr/>
            <p:nvPr/>
          </p:nvSpPr>
          <p:spPr>
            <a:xfrm>
              <a:off x="988512" y="2656114"/>
              <a:ext cx="5654162" cy="1079104"/>
            </a:xfrm>
            <a:prstGeom prst="roundRect">
              <a:avLst>
                <a:gd name="adj" fmla="val 8988"/>
              </a:avLst>
            </a:prstGeom>
            <a:gradFill>
              <a:gsLst>
                <a:gs pos="0">
                  <a:schemeClr val="accent1">
                    <a:lumMod val="5000"/>
                    <a:lumOff val="95000"/>
                    <a:alpha val="0"/>
                  </a:schemeClr>
                </a:gs>
                <a:gs pos="97000">
                  <a:srgbClr val="FFFFFF">
                    <a:alpha val="36000"/>
                  </a:srgbClr>
                </a:gs>
                <a:gs pos="84000">
                  <a:srgbClr val="FFFFFF">
                    <a:alpha val="7000"/>
                  </a:srgbClr>
                </a:gs>
                <a:gs pos="67000">
                  <a:schemeClr val="bg1">
                    <a:alpha val="1100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99">
                <a:solidFill>
                  <a:schemeClr val="tx1"/>
                </a:solidFill>
                <a:latin typeface="微软雅黑" panose="020B0503020204020204" pitchFamily="34" charset="-122"/>
                <a:ea typeface="微软雅黑" panose="020B0503020204020204" pitchFamily="34" charset="-122"/>
                <a:sym typeface="Helvetica Neue Medium" panose="02000503000000020004"/>
              </a:endParaRPr>
            </a:p>
          </p:txBody>
        </p:sp>
        <p:sp>
          <p:nvSpPr>
            <p:cNvPr id="29" name="矩形 28"/>
            <p:cNvSpPr/>
            <p:nvPr/>
          </p:nvSpPr>
          <p:spPr>
            <a:xfrm>
              <a:off x="1128515" y="2233796"/>
              <a:ext cx="5514159" cy="1336545"/>
            </a:xfrm>
            <a:prstGeom prst="rect">
              <a:avLst/>
            </a:prstGeom>
          </p:spPr>
          <p:txBody>
            <a:bodyPr wrap="square">
              <a:spAutoFit/>
            </a:bodyPr>
            <a:lstStyle/>
            <a:p>
              <a:pPr algn="l">
                <a:lnSpc>
                  <a:spcPct val="150000"/>
                </a:lnSpc>
              </a:pPr>
              <a:r>
                <a:rPr lang="en-US" altLang="zh-CN" sz="1199" b="1" dirty="0">
                  <a:solidFill>
                    <a:schemeClr val="accent6"/>
                  </a:solidFill>
                  <a:latin typeface="微软雅黑" panose="020B0503020204020204" pitchFamily="34" charset="-122"/>
                  <a:ea typeface="微软雅黑" panose="020B0503020204020204" pitchFamily="34" charset="-122"/>
                  <a:sym typeface="+mn-ea"/>
                </a:rPr>
                <a:t>AI</a:t>
              </a:r>
              <a:r>
                <a:rPr lang="zh-CN" altLang="en-US" sz="1199" b="1" dirty="0">
                  <a:solidFill>
                    <a:schemeClr val="accent6"/>
                  </a:solidFill>
                  <a:latin typeface="微软雅黑" panose="020B0503020204020204" pitchFamily="34" charset="-122"/>
                  <a:ea typeface="微软雅黑" panose="020B0503020204020204" pitchFamily="34" charset="-122"/>
                  <a:sym typeface="+mn-ea"/>
                </a:rPr>
                <a:t>大模型系统工程</a:t>
              </a:r>
              <a:r>
                <a:rPr lang="zh-CN" altLang="en-US" sz="1199" dirty="0">
                  <a:latin typeface="微软雅黑" panose="020B0503020204020204" pitchFamily="34" charset="-122"/>
                  <a:ea typeface="微软雅黑" panose="020B0503020204020204" pitchFamily="34" charset="-122"/>
                  <a:sym typeface="+mn-ea"/>
                </a:rPr>
                <a:t>以模型训练和推理为核心，注重计算资源的高效利用和模型性能提升，较少关注模型的主动性和持续智能化能力</a:t>
              </a:r>
            </a:p>
          </p:txBody>
        </p:sp>
      </p:grpSp>
      <p:sp>
        <p:nvSpPr>
          <p:cNvPr id="38" name="矩形: 圆角 20"/>
          <p:cNvSpPr/>
          <p:nvPr/>
        </p:nvSpPr>
        <p:spPr>
          <a:xfrm>
            <a:off x="389368" y="4157267"/>
            <a:ext cx="11469845" cy="2250454"/>
          </a:xfrm>
          <a:prstGeom prst="roundRect">
            <a:avLst>
              <a:gd name="adj" fmla="val 3010"/>
            </a:avLst>
          </a:prstGeom>
          <a:gradFill>
            <a:gsLst>
              <a:gs pos="0">
                <a:schemeClr val="accent1">
                  <a:lumMod val="5000"/>
                  <a:lumOff val="95000"/>
                  <a:alpha val="5000"/>
                </a:schemeClr>
              </a:gs>
              <a:gs pos="99000">
                <a:srgbClr val="FFFFFF">
                  <a:alpha val="30000"/>
                </a:srgbClr>
              </a:gs>
              <a:gs pos="80000">
                <a:schemeClr val="bg1">
                  <a:alpha val="0"/>
                </a:schemeClr>
              </a:gs>
            </a:gsLst>
            <a:lin ang="13500000" scaled="0"/>
          </a:gradFill>
          <a:ln w="25400">
            <a:gradFill>
              <a:gsLst>
                <a:gs pos="0">
                  <a:schemeClr val="accent1">
                    <a:lumMod val="5000"/>
                    <a:lumOff val="9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pic>
        <p:nvPicPr>
          <p:cNvPr id="40" name="图片 39" descr="图形用户界面, 文本&#10;&#10;AI 生成的内容可能不正确。"/>
          <p:cNvPicPr>
            <a:picLocks noChangeAspect="1"/>
          </p:cNvPicPr>
          <p:nvPr/>
        </p:nvPicPr>
        <p:blipFill>
          <a:blip r:embed="rId4"/>
          <a:stretch>
            <a:fillRect/>
          </a:stretch>
        </p:blipFill>
        <p:spPr>
          <a:xfrm>
            <a:off x="5049850" y="4460312"/>
            <a:ext cx="6474815" cy="1705593"/>
          </a:xfrm>
          <a:prstGeom prst="rect">
            <a:avLst/>
          </a:prstGeom>
        </p:spPr>
      </p:pic>
      <p:pic>
        <p:nvPicPr>
          <p:cNvPr id="41" name="图片 40" descr="图片包含 游戏机, 体育, 仪表&#10;&#10;AI 生成的内容可能不正确。"/>
          <p:cNvPicPr>
            <a:picLocks noChangeAspect="1"/>
          </p:cNvPicPr>
          <p:nvPr/>
        </p:nvPicPr>
        <p:blipFill>
          <a:blip r:embed="rId5"/>
          <a:stretch>
            <a:fillRect/>
          </a:stretch>
        </p:blipFill>
        <p:spPr>
          <a:xfrm>
            <a:off x="503803" y="3298384"/>
            <a:ext cx="3914633" cy="1470225"/>
          </a:xfrm>
          <a:prstGeom prst="rect">
            <a:avLst/>
          </a:prstGeom>
        </p:spPr>
      </p:pic>
      <p:grpSp>
        <p:nvGrpSpPr>
          <p:cNvPr id="42" name="组合 41"/>
          <p:cNvGrpSpPr/>
          <p:nvPr/>
        </p:nvGrpSpPr>
        <p:grpSpPr>
          <a:xfrm>
            <a:off x="686671" y="5064226"/>
            <a:ext cx="3994317" cy="1166986"/>
            <a:chOff x="988512" y="2233796"/>
            <a:chExt cx="7018026" cy="1752151"/>
          </a:xfrm>
        </p:grpSpPr>
        <p:sp>
          <p:nvSpPr>
            <p:cNvPr id="43" name="圆角矩形 519"/>
            <p:cNvSpPr/>
            <p:nvPr/>
          </p:nvSpPr>
          <p:spPr>
            <a:xfrm>
              <a:off x="988512" y="2656114"/>
              <a:ext cx="5654162" cy="1079104"/>
            </a:xfrm>
            <a:prstGeom prst="roundRect">
              <a:avLst>
                <a:gd name="adj" fmla="val 8988"/>
              </a:avLst>
            </a:prstGeom>
            <a:gradFill>
              <a:gsLst>
                <a:gs pos="0">
                  <a:schemeClr val="accent1">
                    <a:lumMod val="5000"/>
                    <a:lumOff val="95000"/>
                    <a:alpha val="0"/>
                  </a:schemeClr>
                </a:gs>
                <a:gs pos="97000">
                  <a:srgbClr val="FFFFFF">
                    <a:alpha val="36000"/>
                  </a:srgbClr>
                </a:gs>
                <a:gs pos="84000">
                  <a:srgbClr val="FFFFFF">
                    <a:alpha val="7000"/>
                  </a:srgbClr>
                </a:gs>
                <a:gs pos="67000">
                  <a:schemeClr val="bg1">
                    <a:alpha val="1100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99">
                <a:solidFill>
                  <a:schemeClr val="tx1"/>
                </a:solidFill>
                <a:latin typeface="微软雅黑" panose="020B0503020204020204" pitchFamily="34" charset="-122"/>
                <a:ea typeface="微软雅黑" panose="020B0503020204020204" pitchFamily="34" charset="-122"/>
                <a:sym typeface="Helvetica Neue Medium" panose="02000503000000020004"/>
              </a:endParaRPr>
            </a:p>
          </p:txBody>
        </p:sp>
        <p:sp>
          <p:nvSpPr>
            <p:cNvPr id="44" name="矩形 43"/>
            <p:cNvSpPr/>
            <p:nvPr/>
          </p:nvSpPr>
          <p:spPr>
            <a:xfrm>
              <a:off x="1128515" y="2233796"/>
              <a:ext cx="6878023" cy="1752151"/>
            </a:xfrm>
            <a:prstGeom prst="rect">
              <a:avLst/>
            </a:prstGeom>
          </p:spPr>
          <p:txBody>
            <a:bodyPr wrap="square">
              <a:spAutoFit/>
            </a:bodyPr>
            <a:lstStyle/>
            <a:p>
              <a:pPr algn="l">
                <a:lnSpc>
                  <a:spcPct val="150000"/>
                </a:lnSpc>
              </a:pPr>
              <a:r>
                <a:rPr lang="zh-CN" altLang="en-US" sz="1199" b="1" dirty="0">
                  <a:solidFill>
                    <a:schemeClr val="accent6"/>
                  </a:solidFill>
                  <a:latin typeface="微软雅黑" panose="020B0503020204020204" pitchFamily="34" charset="-122"/>
                  <a:ea typeface="微软雅黑" panose="020B0503020204020204" pitchFamily="34" charset="-122"/>
                  <a:sym typeface="+mn-ea"/>
                </a:rPr>
                <a:t>智能体驱动的大模型系统工程</a:t>
              </a:r>
              <a:r>
                <a:rPr lang="zh-CN" altLang="en-US" sz="1199" dirty="0">
                  <a:latin typeface="微软雅黑" panose="020B0503020204020204" pitchFamily="34" charset="-122"/>
                  <a:ea typeface="微软雅黑" panose="020B0503020204020204" pitchFamily="34" charset="-122"/>
                  <a:sym typeface="+mn-ea"/>
                </a:rPr>
                <a:t>以自主智能为中枢，整合大模型、工具链、数据流和应用环境，形成一个高度自治、可扩展、面向多任务的智能系统生态，并通过调度完成动作执行</a:t>
              </a:r>
            </a:p>
          </p:txBody>
        </p:sp>
      </p:grpSp>
      <p:sp>
        <p:nvSpPr>
          <p:cNvPr id="45" name="文本框 44"/>
          <p:cNvSpPr txBox="1"/>
          <p:nvPr/>
        </p:nvSpPr>
        <p:spPr>
          <a:xfrm>
            <a:off x="389368" y="974011"/>
            <a:ext cx="11469845" cy="613373"/>
          </a:xfrm>
          <a:prstGeom prst="rect">
            <a:avLst/>
          </a:prstGeom>
          <a:noFill/>
        </p:spPr>
        <p:txBody>
          <a:bodyPr wrap="square">
            <a:spAutoFit/>
          </a:bodyPr>
          <a:lstStyle/>
          <a:p>
            <a:pPr algn="just">
              <a:lnSpc>
                <a:spcPct val="150000"/>
              </a:lnSpc>
              <a:buNone/>
            </a:pPr>
            <a:r>
              <a:rPr lang="en-US" altLang="zh-CN" sz="1199" dirty="0">
                <a:latin typeface="微软雅黑" panose="020B0503020204020204" pitchFamily="34" charset="-122"/>
                <a:ea typeface="微软雅黑" panose="020B0503020204020204" pitchFamily="34" charset="-122"/>
                <a:cs typeface="宋体" panose="02010600030101010101" pitchFamily="2" charset="-122"/>
              </a:rPr>
              <a:t>AI</a:t>
            </a:r>
            <a:r>
              <a:rPr lang="zh-CN" altLang="en-US" sz="1199" dirty="0">
                <a:latin typeface="微软雅黑" panose="020B0503020204020204" pitchFamily="34" charset="-122"/>
                <a:ea typeface="微软雅黑" panose="020B0503020204020204" pitchFamily="34" charset="-122"/>
                <a:cs typeface="宋体" panose="02010600030101010101" pitchFamily="2" charset="-122"/>
              </a:rPr>
              <a:t>大模型系统工程框架从以训练、推理为核心向以智能体为核心转变，代表着人工智能发展从“算力</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a:t>
            </a:r>
            <a:r>
              <a:rPr lang="zh-CN" altLang="en-US" sz="1199" dirty="0">
                <a:latin typeface="微软雅黑" panose="020B0503020204020204" pitchFamily="34" charset="-122"/>
                <a:ea typeface="微软雅黑" panose="020B0503020204020204" pitchFamily="34" charset="-122"/>
                <a:cs typeface="宋体" panose="02010600030101010101" pitchFamily="2" charset="-122"/>
              </a:rPr>
              <a:t>模型”驱动向“任务</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a:t>
            </a:r>
            <a:r>
              <a:rPr lang="zh-CN" altLang="en-US" sz="1199" dirty="0">
                <a:latin typeface="微软雅黑" panose="020B0503020204020204" pitchFamily="34" charset="-122"/>
                <a:ea typeface="微软雅黑" panose="020B0503020204020204" pitchFamily="34" charset="-122"/>
                <a:cs typeface="宋体" panose="02010600030101010101" pitchFamily="2" charset="-122"/>
              </a:rPr>
              <a:t>智能体”驱动的范式转变，</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AI</a:t>
            </a:r>
            <a:r>
              <a:rPr lang="zh-CN" altLang="en-US" sz="1199" dirty="0">
                <a:latin typeface="微软雅黑" panose="020B0503020204020204" pitchFamily="34" charset="-122"/>
                <a:ea typeface="微软雅黑" panose="020B0503020204020204" pitchFamily="34" charset="-122"/>
                <a:cs typeface="宋体" panose="02010600030101010101" pitchFamily="2" charset="-122"/>
              </a:rPr>
              <a:t>智能体正在成为连接模型能力与真实业务价值的核心枢纽。</a:t>
            </a:r>
            <a:endParaRPr lang="zh-CN" altLang="zh-CN" sz="1199" dirty="0">
              <a:latin typeface="微软雅黑" panose="020B0503020204020204" pitchFamily="34" charset="-122"/>
              <a:ea typeface="微软雅黑" panose="020B0503020204020204" pitchFamily="34" charset="-122"/>
              <a:cs typeface="宋体" panose="02010600030101010101" pitchFamily="2" charset="-122"/>
            </a:endParaRPr>
          </a:p>
        </p:txBody>
      </p:sp>
    </p:spTree>
    <p:extLst>
      <p:ext uri="{BB962C8B-B14F-4D97-AF65-F5344CB8AC3E}">
        <p14:creationId xmlns:p14="http://schemas.microsoft.com/office/powerpoint/2010/main" val="383912204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100000">
              <a:schemeClr val="bg1"/>
            </a:gs>
            <a:gs pos="0">
              <a:srgbClr val="F8FEFC">
                <a:alpha val="82000"/>
              </a:srgbClr>
            </a:gs>
          </a:gsLst>
          <a:lin ang="5400000" scaled="0"/>
        </a:gradFill>
        <a:effectLst/>
      </p:bgPr>
    </p:bg>
    <p:spTree>
      <p:nvGrpSpPr>
        <p:cNvPr id="1" name=""/>
        <p:cNvGrpSpPr/>
        <p:nvPr/>
      </p:nvGrpSpPr>
      <p:grpSpPr>
        <a:xfrm>
          <a:off x="0" y="0"/>
          <a:ext cx="0" cy="0"/>
          <a:chOff x="0" y="0"/>
          <a:chExt cx="0" cy="0"/>
        </a:xfrm>
      </p:grpSpPr>
      <p:sp>
        <p:nvSpPr>
          <p:cNvPr id="8" name="文本框 7"/>
          <p:cNvSpPr txBox="1"/>
          <p:nvPr/>
        </p:nvSpPr>
        <p:spPr>
          <a:xfrm>
            <a:off x="402386" y="-2582"/>
            <a:ext cx="9531739" cy="748154"/>
          </a:xfrm>
          <a:prstGeom prst="rect">
            <a:avLst/>
          </a:prstGeom>
          <a:noFill/>
        </p:spPr>
        <p:txBody>
          <a:bodyPr wrap="square" rtlCol="0">
            <a:spAutoFit/>
          </a:bodyPr>
          <a:lstStyle/>
          <a:p>
            <a:pPr defTabSz="913909"/>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应用形态从单一问答演进为多步骤任务闭环，电信运营商智能体正向行业定制与多智能体协同发展</a:t>
            </a:r>
          </a:p>
        </p:txBody>
      </p:sp>
      <p:sp>
        <p:nvSpPr>
          <p:cNvPr id="40" name="圆角矩形 39"/>
          <p:cNvSpPr/>
          <p:nvPr>
            <p:custDataLst>
              <p:tags r:id="rId1"/>
            </p:custDataLst>
          </p:nvPr>
        </p:nvSpPr>
        <p:spPr>
          <a:xfrm>
            <a:off x="934212" y="2148608"/>
            <a:ext cx="4878781" cy="1961031"/>
          </a:xfrm>
          <a:prstGeom prst="roundRect">
            <a:avLst>
              <a:gd name="adj" fmla="val 5531"/>
            </a:avLst>
          </a:prstGeom>
          <a:gradFill>
            <a:gsLst>
              <a:gs pos="0">
                <a:schemeClr val="accent1">
                  <a:alpha val="5000"/>
                  <a:lumMod val="12000"/>
                  <a:lumOff val="88000"/>
                </a:schemeClr>
              </a:gs>
              <a:gs pos="99000">
                <a:schemeClr val="bg1">
                  <a:alpha val="3000"/>
                </a:schemeClr>
              </a:gs>
            </a:gsLst>
            <a:lin ang="5400000" scaled="0"/>
          </a:gradFill>
          <a:ln w="25400">
            <a:gradFill>
              <a:gsLst>
                <a:gs pos="0">
                  <a:schemeClr val="accent1">
                    <a:lumMod val="5000"/>
                    <a:lumOff val="9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sp>
        <p:nvSpPr>
          <p:cNvPr id="48" name="文本框 47"/>
          <p:cNvSpPr txBox="1"/>
          <p:nvPr>
            <p:custDataLst>
              <p:tags r:id="rId2"/>
            </p:custDataLst>
          </p:nvPr>
        </p:nvSpPr>
        <p:spPr>
          <a:xfrm>
            <a:off x="1921561" y="2230839"/>
            <a:ext cx="2914854" cy="379335"/>
          </a:xfrm>
          <a:prstGeom prst="rect">
            <a:avLst/>
          </a:prstGeom>
          <a:noFill/>
        </p:spPr>
        <p:txBody>
          <a:bodyPr wrap="square">
            <a:spAutoFit/>
          </a:bodyPr>
          <a:lstStyle>
            <a:defPPr>
              <a:defRPr lang="zh-CN"/>
            </a:defPPr>
            <a:lvl1pPr algn="ctr" defTabSz="914400">
              <a:defRPr sz="4400">
                <a:solidFill>
                  <a:schemeClr val="bg1"/>
                </a:solidFill>
                <a:latin typeface="方正兰亭刊黑_GBK" panose="02000000000000000000" pitchFamily="2" charset="-122"/>
                <a:ea typeface="方正兰亭刊黑_GBK" panose="02000000000000000000" pitchFamily="2" charset="-122"/>
              </a:defRPr>
            </a:lvl1pPr>
          </a:lstStyle>
          <a:p>
            <a:r>
              <a:rPr lang="zh-CN" altLang="en-US" sz="1865"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通用智能体</a:t>
            </a:r>
          </a:p>
        </p:txBody>
      </p:sp>
      <p:pic>
        <p:nvPicPr>
          <p:cNvPr id="60" name="图片 59" descr="65958c422888d1f5bd0bbdd57883c83e2c123c7d6636-vvf6Sz"/>
          <p:cNvPicPr>
            <a:picLocks noChangeAspect="1"/>
          </p:cNvPicPr>
          <p:nvPr>
            <p:custDataLst>
              <p:tags r:id="rId3"/>
            </p:custDataLst>
          </p:nvPr>
        </p:nvPicPr>
        <p:blipFill>
          <a:blip r:embed="rId18"/>
          <a:stretch>
            <a:fillRect/>
          </a:stretch>
        </p:blipFill>
        <p:spPr>
          <a:xfrm flipV="1">
            <a:off x="986721" y="4058258"/>
            <a:ext cx="4099761" cy="74196"/>
          </a:xfrm>
          <a:prstGeom prst="rect">
            <a:avLst/>
          </a:prstGeom>
        </p:spPr>
      </p:pic>
      <p:sp>
        <p:nvSpPr>
          <p:cNvPr id="2" name="文本框 1"/>
          <p:cNvSpPr txBox="1"/>
          <p:nvPr/>
        </p:nvSpPr>
        <p:spPr>
          <a:xfrm>
            <a:off x="402386" y="1277017"/>
            <a:ext cx="10553540" cy="336567"/>
          </a:xfrm>
          <a:prstGeom prst="rect">
            <a:avLst/>
          </a:prstGeom>
          <a:noFill/>
        </p:spPr>
        <p:txBody>
          <a:bodyPr wrap="square">
            <a:spAutoFit/>
          </a:bodyPr>
          <a:lstStyle/>
          <a:p>
            <a:pPr algn="just">
              <a:lnSpc>
                <a:spcPct val="150000"/>
              </a:lnSpc>
              <a:buNone/>
            </a:pPr>
            <a:r>
              <a:rPr lang="zh-CN" altLang="en-US" sz="1199" dirty="0">
                <a:latin typeface="微软雅黑" panose="020B0503020204020204" pitchFamily="34" charset="-122"/>
                <a:ea typeface="微软雅黑" panose="020B0503020204020204" pitchFamily="34" charset="-122"/>
                <a:cs typeface="宋体" panose="02010600030101010101" pitchFamily="2" charset="-122"/>
              </a:rPr>
              <a:t>近</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1-2</a:t>
            </a:r>
            <a:r>
              <a:rPr lang="zh-CN" altLang="en-US" sz="1199" dirty="0">
                <a:latin typeface="微软雅黑" panose="020B0503020204020204" pitchFamily="34" charset="-122"/>
                <a:ea typeface="微软雅黑" panose="020B0503020204020204" pitchFamily="34" charset="-122"/>
                <a:cs typeface="宋体" panose="02010600030101010101" pitchFamily="2" charset="-122"/>
              </a:rPr>
              <a:t>年，国内外智能体技术快速发展，已经涌现出了一批典型的产品。除了云服务商与人工智能企业之外，电信运营商也在</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AI</a:t>
            </a:r>
            <a:r>
              <a:rPr lang="zh-CN" altLang="en-US" sz="1199" dirty="0">
                <a:latin typeface="微软雅黑" panose="020B0503020204020204" pitchFamily="34" charset="-122"/>
                <a:ea typeface="微软雅黑" panose="020B0503020204020204" pitchFamily="34" charset="-122"/>
                <a:cs typeface="宋体" panose="02010600030101010101" pitchFamily="2" charset="-122"/>
              </a:rPr>
              <a:t>智能体领域走在前列。</a:t>
            </a:r>
            <a:endParaRPr lang="zh-CN" altLang="zh-CN" sz="1199" dirty="0">
              <a:latin typeface="微软雅黑" panose="020B0503020204020204" pitchFamily="34" charset="-122"/>
              <a:ea typeface="微软雅黑" panose="020B0503020204020204" pitchFamily="34" charset="-122"/>
              <a:cs typeface="宋体" panose="02010600030101010101" pitchFamily="2" charset="-122"/>
            </a:endParaRPr>
          </a:p>
        </p:txBody>
      </p:sp>
      <p:sp>
        <p:nvSpPr>
          <p:cNvPr id="6" name="文本框 5"/>
          <p:cNvSpPr txBox="1"/>
          <p:nvPr/>
        </p:nvSpPr>
        <p:spPr>
          <a:xfrm>
            <a:off x="392173" y="1638944"/>
            <a:ext cx="7926125" cy="363626"/>
          </a:xfrm>
          <a:prstGeom prst="rect">
            <a:avLst/>
          </a:prstGeom>
          <a:noFill/>
        </p:spPr>
        <p:txBody>
          <a:bodyPr wrap="square">
            <a:spAutoFit/>
          </a:bodyPr>
          <a:lstStyle/>
          <a:p>
            <a:pPr>
              <a:lnSpc>
                <a:spcPct val="150000"/>
              </a:lnSpc>
            </a:pPr>
            <a:r>
              <a:rPr lang="zh-CN" altLang="zh-CN" sz="1332" dirty="0">
                <a:latin typeface="微软雅黑" panose="020B0503020204020204" pitchFamily="34" charset="-122"/>
                <a:ea typeface="微软雅黑" panose="020B0503020204020204" pitchFamily="34" charset="-122"/>
                <a:cs typeface="宋体" panose="02010600030101010101" pitchFamily="2" charset="-122"/>
              </a:rPr>
              <a:t>按照智能体能力范围，可分为通用智能体、垂直领域智能体、智能体框架以及平台级智能体系统四类。</a:t>
            </a:r>
            <a:endParaRPr lang="zh-CN" altLang="en-US" sz="1332" dirty="0">
              <a:latin typeface="微软雅黑" panose="020B0503020204020204" pitchFamily="34" charset="-122"/>
              <a:ea typeface="微软雅黑" panose="020B0503020204020204" pitchFamily="34" charset="-122"/>
            </a:endParaRPr>
          </a:p>
        </p:txBody>
      </p:sp>
      <p:sp>
        <p:nvSpPr>
          <p:cNvPr id="11" name="文本框 10"/>
          <p:cNvSpPr txBox="1"/>
          <p:nvPr>
            <p:custDataLst>
              <p:tags r:id="rId4"/>
            </p:custDataLst>
          </p:nvPr>
        </p:nvSpPr>
        <p:spPr>
          <a:xfrm>
            <a:off x="1099680" y="2630576"/>
            <a:ext cx="3180085" cy="1204625"/>
          </a:xfrm>
          <a:prstGeom prst="rect">
            <a:avLst/>
          </a:prstGeom>
          <a:noFill/>
        </p:spPr>
        <p:txBody>
          <a:bodyPr wrap="square" rtlCol="0">
            <a:spAutoFit/>
          </a:bodyPr>
          <a:lstStyle/>
          <a:p>
            <a:pPr algn="ctr" defTabSz="608990">
              <a:lnSpc>
                <a:spcPct val="150000"/>
              </a:lnSpc>
            </a:pPr>
            <a:r>
              <a:rPr lang="zh-CN" altLang="zh-CN" sz="1066" dirty="0">
                <a:latin typeface="微软雅黑" panose="020B0503020204020204" pitchFamily="34" charset="-122"/>
                <a:ea typeface="微软雅黑" panose="020B0503020204020204" pitchFamily="34" charset="-122"/>
              </a:rPr>
              <a:t>通常依托于企业自身的大语言模型，具备较为广泛的任务适应能力，适合个人和企业的多领域应用。</a:t>
            </a:r>
            <a:endParaRPr lang="en-US" altLang="zh-CN" sz="1066" dirty="0">
              <a:latin typeface="微软雅黑" panose="020B0503020204020204" pitchFamily="34" charset="-122"/>
              <a:ea typeface="微软雅黑" panose="020B0503020204020204" pitchFamily="34" charset="-122"/>
            </a:endParaRPr>
          </a:p>
          <a:p>
            <a:pPr algn="ctr" defTabSz="608990">
              <a:lnSpc>
                <a:spcPct val="150000"/>
              </a:lnSpc>
            </a:pP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例如：中国移动灵犀智能体</a:t>
            </a:r>
            <a:r>
              <a:rPr lang="en-US" altLang="zh-CN" sz="932" dirty="0">
                <a:latin typeface="微软雅黑" panose="020B0503020204020204" pitchFamily="34" charset="-122"/>
                <a:ea typeface="微软雅黑" panose="020B0503020204020204" pitchFamily="34" charset="-122"/>
                <a:cs typeface="方正兰亭黑简体" panose="02000000000000000000" pitchFamily="2" charset="-122"/>
              </a:rPr>
              <a:t>2.0</a:t>
            </a: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，依托</a:t>
            </a:r>
            <a:r>
              <a:rPr lang="en-US" altLang="zh-CN" sz="932" dirty="0">
                <a:latin typeface="微软雅黑" panose="020B0503020204020204" pitchFamily="34" charset="-122"/>
                <a:ea typeface="微软雅黑" panose="020B0503020204020204" pitchFamily="34" charset="-122"/>
                <a:cs typeface="方正兰亭黑简体" panose="02000000000000000000" pitchFamily="2" charset="-122"/>
              </a:rPr>
              <a:t>MoMA</a:t>
            </a: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智能决策引擎和主从智能体协同架构，拓展全场景服务能力，尤其注重出行、生活、家庭、办公、通信五大高频场景支持。</a:t>
            </a:r>
          </a:p>
        </p:txBody>
      </p:sp>
      <p:sp>
        <p:nvSpPr>
          <p:cNvPr id="15" name="圆角矩形 14"/>
          <p:cNvSpPr/>
          <p:nvPr>
            <p:custDataLst>
              <p:tags r:id="rId5"/>
            </p:custDataLst>
          </p:nvPr>
        </p:nvSpPr>
        <p:spPr>
          <a:xfrm>
            <a:off x="5974426" y="2154216"/>
            <a:ext cx="5506220" cy="1961032"/>
          </a:xfrm>
          <a:prstGeom prst="roundRect">
            <a:avLst>
              <a:gd name="adj" fmla="val 5531"/>
            </a:avLst>
          </a:prstGeom>
          <a:gradFill>
            <a:gsLst>
              <a:gs pos="0">
                <a:schemeClr val="accent1">
                  <a:lumMod val="5000"/>
                  <a:lumOff val="95000"/>
                  <a:alpha val="5000"/>
                </a:schemeClr>
              </a:gs>
              <a:gs pos="99000">
                <a:schemeClr val="bg1">
                  <a:alpha val="3000"/>
                </a:schemeClr>
              </a:gs>
            </a:gsLst>
            <a:lin ang="16200000" scaled="0"/>
          </a:gradFill>
          <a:ln w="25400">
            <a:gradFill>
              <a:gsLst>
                <a:gs pos="0">
                  <a:schemeClr val="accent1">
                    <a:lumMod val="5000"/>
                    <a:lumOff val="9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43" name="圆角矩形 42"/>
          <p:cNvSpPr/>
          <p:nvPr>
            <p:custDataLst>
              <p:tags r:id="rId6"/>
            </p:custDataLst>
          </p:nvPr>
        </p:nvSpPr>
        <p:spPr>
          <a:xfrm>
            <a:off x="5942067" y="4328275"/>
            <a:ext cx="5538579" cy="1961032"/>
          </a:xfrm>
          <a:prstGeom prst="roundRect">
            <a:avLst>
              <a:gd name="adj" fmla="val 5531"/>
            </a:avLst>
          </a:prstGeom>
          <a:gradFill>
            <a:gsLst>
              <a:gs pos="0">
                <a:schemeClr val="accent1">
                  <a:lumMod val="5000"/>
                  <a:lumOff val="95000"/>
                  <a:alpha val="5000"/>
                </a:schemeClr>
              </a:gs>
              <a:gs pos="99000">
                <a:schemeClr val="bg1">
                  <a:alpha val="3000"/>
                </a:schemeClr>
              </a:gs>
            </a:gsLst>
            <a:lin ang="16200000" scaled="0"/>
          </a:gradFill>
          <a:ln w="25400">
            <a:gradFill>
              <a:gsLst>
                <a:gs pos="0">
                  <a:schemeClr val="accent1">
                    <a:lumMod val="5000"/>
                    <a:lumOff val="9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50" name="文本框 49"/>
          <p:cNvSpPr txBox="1"/>
          <p:nvPr>
            <p:custDataLst>
              <p:tags r:id="rId7"/>
            </p:custDataLst>
          </p:nvPr>
        </p:nvSpPr>
        <p:spPr>
          <a:xfrm>
            <a:off x="6200284" y="2215094"/>
            <a:ext cx="3592713" cy="379335"/>
          </a:xfrm>
          <a:prstGeom prst="rect">
            <a:avLst/>
          </a:prstGeom>
          <a:noFill/>
        </p:spPr>
        <p:txBody>
          <a:bodyPr wrap="square">
            <a:spAutoFit/>
          </a:bodyPr>
          <a:lstStyle>
            <a:defPPr>
              <a:defRPr lang="zh-CN"/>
            </a:defPPr>
            <a:lvl1pPr algn="ctr" defTabSz="914400">
              <a:defRPr sz="4400">
                <a:solidFill>
                  <a:schemeClr val="bg1"/>
                </a:solidFill>
                <a:latin typeface="方正兰亭刊黑_GBK" panose="02000000000000000000" pitchFamily="2" charset="-122"/>
                <a:ea typeface="方正兰亭刊黑_GBK" panose="02000000000000000000" pitchFamily="2" charset="-122"/>
              </a:defRPr>
            </a:lvl1pPr>
          </a:lstStyle>
          <a:p>
            <a:r>
              <a:rPr lang="zh-CN" altLang="en-US" sz="1865"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垂直领域智能体</a:t>
            </a:r>
          </a:p>
        </p:txBody>
      </p:sp>
      <p:sp>
        <p:nvSpPr>
          <p:cNvPr id="54" name="文本框 53"/>
          <p:cNvSpPr txBox="1"/>
          <p:nvPr>
            <p:custDataLst>
              <p:tags r:id="rId8"/>
            </p:custDataLst>
          </p:nvPr>
        </p:nvSpPr>
        <p:spPr>
          <a:xfrm>
            <a:off x="5751602" y="4371942"/>
            <a:ext cx="4322113" cy="379335"/>
          </a:xfrm>
          <a:prstGeom prst="rect">
            <a:avLst/>
          </a:prstGeom>
          <a:noFill/>
        </p:spPr>
        <p:txBody>
          <a:bodyPr wrap="square">
            <a:spAutoFit/>
          </a:bodyPr>
          <a:lstStyle>
            <a:defPPr>
              <a:defRPr lang="zh-CN"/>
            </a:defPPr>
            <a:lvl1pPr algn="ctr" defTabSz="914400">
              <a:defRPr sz="4400">
                <a:solidFill>
                  <a:schemeClr val="bg1"/>
                </a:solidFill>
                <a:latin typeface="方正兰亭刊黑_GBK" panose="02000000000000000000" pitchFamily="2" charset="-122"/>
                <a:ea typeface="方正兰亭刊黑_GBK" panose="02000000000000000000" pitchFamily="2" charset="-122"/>
              </a:defRPr>
            </a:lvl1pPr>
          </a:lstStyle>
          <a:p>
            <a:r>
              <a:rPr lang="zh-CN" altLang="en-US" sz="1865"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平台级智能体系统</a:t>
            </a:r>
          </a:p>
        </p:txBody>
      </p:sp>
      <p:pic>
        <p:nvPicPr>
          <p:cNvPr id="61" name="图片 60" descr="65958c422888d1f5bd0bbdd57883c83e2c123c7d6636-vvf6Sz"/>
          <p:cNvPicPr>
            <a:picLocks noChangeAspect="1"/>
          </p:cNvPicPr>
          <p:nvPr>
            <p:custDataLst>
              <p:tags r:id="rId9"/>
            </p:custDataLst>
          </p:nvPr>
        </p:nvPicPr>
        <p:blipFill>
          <a:blip r:embed="rId18"/>
          <a:stretch>
            <a:fillRect/>
          </a:stretch>
        </p:blipFill>
        <p:spPr>
          <a:xfrm flipV="1">
            <a:off x="6006787" y="4072541"/>
            <a:ext cx="5053174" cy="74196"/>
          </a:xfrm>
          <a:prstGeom prst="rect">
            <a:avLst/>
          </a:prstGeom>
        </p:spPr>
      </p:pic>
      <p:sp>
        <p:nvSpPr>
          <p:cNvPr id="13" name="文本框 12"/>
          <p:cNvSpPr txBox="1"/>
          <p:nvPr>
            <p:custDataLst>
              <p:tags r:id="rId10"/>
            </p:custDataLst>
          </p:nvPr>
        </p:nvSpPr>
        <p:spPr>
          <a:xfrm>
            <a:off x="6200284" y="4686679"/>
            <a:ext cx="3489798" cy="1419812"/>
          </a:xfrm>
          <a:prstGeom prst="rect">
            <a:avLst/>
          </a:prstGeom>
          <a:noFill/>
        </p:spPr>
        <p:txBody>
          <a:bodyPr wrap="square" rtlCol="0">
            <a:spAutoFit/>
          </a:bodyPr>
          <a:lstStyle/>
          <a:p>
            <a:pPr algn="ctr" defTabSz="608990">
              <a:lnSpc>
                <a:spcPct val="150000"/>
              </a:lnSpc>
            </a:pPr>
            <a:r>
              <a:rPr lang="zh-CN" altLang="zh-CN" sz="1066" dirty="0">
                <a:latin typeface="微软雅黑" panose="020B0503020204020204" pitchFamily="34" charset="-122"/>
                <a:ea typeface="微软雅黑" panose="020B0503020204020204" pitchFamily="34" charset="-122"/>
              </a:rPr>
              <a:t>具备多个智能体协作能力，形成一个</a:t>
            </a:r>
            <a:r>
              <a:rPr lang="en-US" altLang="zh-CN" sz="1066" dirty="0">
                <a:latin typeface="微软雅黑" panose="020B0503020204020204" pitchFamily="34" charset="-122"/>
                <a:ea typeface="微软雅黑" panose="020B0503020204020204" pitchFamily="34" charset="-122"/>
              </a:rPr>
              <a:t>“AI</a:t>
            </a:r>
            <a:r>
              <a:rPr lang="zh-CN" altLang="zh-CN" sz="1066" dirty="0">
                <a:latin typeface="微软雅黑" panose="020B0503020204020204" pitchFamily="34" charset="-122"/>
                <a:ea typeface="微软雅黑" panose="020B0503020204020204" pitchFamily="34" charset="-122"/>
              </a:rPr>
              <a:t>团队</a:t>
            </a:r>
            <a:r>
              <a:rPr lang="en-US" altLang="zh-CN" sz="1066" dirty="0">
                <a:latin typeface="微软雅黑" panose="020B0503020204020204" pitchFamily="34" charset="-122"/>
                <a:ea typeface="微软雅黑" panose="020B0503020204020204" pitchFamily="34" charset="-122"/>
              </a:rPr>
              <a:t>”</a:t>
            </a:r>
            <a:r>
              <a:rPr lang="zh-CN" altLang="zh-CN" sz="1066" dirty="0">
                <a:latin typeface="微软雅黑" panose="020B0503020204020204" pitchFamily="34" charset="-122"/>
                <a:ea typeface="微软雅黑" panose="020B0503020204020204" pitchFamily="34" charset="-122"/>
              </a:rPr>
              <a:t>，完成大型复杂任务。</a:t>
            </a:r>
            <a:endParaRPr lang="en-US" altLang="zh-CN" sz="1066" dirty="0">
              <a:latin typeface="微软雅黑" panose="020B0503020204020204" pitchFamily="34" charset="-122"/>
              <a:ea typeface="微软雅黑" panose="020B0503020204020204" pitchFamily="34" charset="-122"/>
            </a:endParaRPr>
          </a:p>
          <a:p>
            <a:pPr algn="ctr" defTabSz="608990">
              <a:lnSpc>
                <a:spcPct val="150000"/>
              </a:lnSpc>
            </a:pP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例如：中国电信星辰智能体平台以星辰大模型为技术底座，覆盖语义、语音、视觉、多模态四大领域，开放超过</a:t>
            </a:r>
            <a:r>
              <a:rPr lang="en-US" altLang="zh-CN" sz="932" dirty="0">
                <a:latin typeface="微软雅黑" panose="020B0503020204020204" pitchFamily="34" charset="-122"/>
                <a:ea typeface="微软雅黑" panose="020B0503020204020204" pitchFamily="34" charset="-122"/>
                <a:cs typeface="方正兰亭黑简体" panose="02000000000000000000" pitchFamily="2" charset="-122"/>
              </a:rPr>
              <a:t>300</a:t>
            </a: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种场景化</a:t>
            </a:r>
            <a:r>
              <a:rPr lang="en-US" altLang="zh-CN" sz="932" dirty="0">
                <a:latin typeface="微软雅黑" panose="020B0503020204020204" pitchFamily="34" charset="-122"/>
                <a:ea typeface="微软雅黑" panose="020B0503020204020204" pitchFamily="34" charset="-122"/>
                <a:cs typeface="方正兰亭黑简体" panose="02000000000000000000" pitchFamily="2" charset="-122"/>
              </a:rPr>
              <a:t>AI</a:t>
            </a: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算法能力，集成智能体开发、低门槛模型训推、数据飞轮等功能模块，支持用户进行智能体构建。</a:t>
            </a:r>
          </a:p>
        </p:txBody>
      </p:sp>
      <p:sp>
        <p:nvSpPr>
          <p:cNvPr id="14" name="文本框 13"/>
          <p:cNvSpPr txBox="1"/>
          <p:nvPr>
            <p:custDataLst>
              <p:tags r:id="rId11"/>
            </p:custDataLst>
          </p:nvPr>
        </p:nvSpPr>
        <p:spPr>
          <a:xfrm>
            <a:off x="6147152" y="2632409"/>
            <a:ext cx="3592713" cy="1388970"/>
          </a:xfrm>
          <a:prstGeom prst="rect">
            <a:avLst/>
          </a:prstGeom>
          <a:noFill/>
        </p:spPr>
        <p:txBody>
          <a:bodyPr wrap="square" rtlCol="0">
            <a:spAutoFit/>
          </a:bodyPr>
          <a:lstStyle/>
          <a:p>
            <a:pPr algn="ctr" defTabSz="608990">
              <a:lnSpc>
                <a:spcPct val="150000"/>
              </a:lnSpc>
            </a:pPr>
            <a:r>
              <a:rPr lang="zh-CN" altLang="zh-CN" sz="1066" dirty="0">
                <a:latin typeface="微软雅黑" panose="020B0503020204020204" pitchFamily="34" charset="-122"/>
                <a:ea typeface="微软雅黑" panose="020B0503020204020204" pitchFamily="34" charset="-122"/>
              </a:rPr>
              <a:t>专注某一行业或场景，深度优化工具链与领域知识。</a:t>
            </a:r>
            <a:endParaRPr lang="en-US" altLang="zh-CN" sz="1066" dirty="0">
              <a:latin typeface="微软雅黑" panose="020B0503020204020204" pitchFamily="34" charset="-122"/>
              <a:ea typeface="微软雅黑" panose="020B0503020204020204" pitchFamily="34" charset="-122"/>
            </a:endParaRPr>
          </a:p>
          <a:p>
            <a:pPr algn="ctr" defTabSz="608990">
              <a:lnSpc>
                <a:spcPct val="150000"/>
              </a:lnSpc>
            </a:pP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例如：腾讯在</a:t>
            </a:r>
            <a:r>
              <a:rPr lang="en-US" altLang="zh-CN" sz="932" dirty="0" err="1">
                <a:latin typeface="微软雅黑" panose="020B0503020204020204" pitchFamily="34" charset="-122"/>
                <a:ea typeface="微软雅黑" panose="020B0503020204020204" pitchFamily="34" charset="-122"/>
                <a:cs typeface="方正兰亭黑简体" panose="02000000000000000000" pitchFamily="2" charset="-122"/>
              </a:rPr>
              <a:t>ToC</a:t>
            </a: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（面向消费者）方面发布了超过</a:t>
            </a:r>
            <a:r>
              <a:rPr lang="en-US" altLang="zh-CN" sz="932" dirty="0">
                <a:latin typeface="微软雅黑" panose="020B0503020204020204" pitchFamily="34" charset="-122"/>
                <a:ea typeface="微软雅黑" panose="020B0503020204020204" pitchFamily="34" charset="-122"/>
                <a:cs typeface="方正兰亭黑简体" panose="02000000000000000000" pitchFamily="2" charset="-122"/>
              </a:rPr>
              <a:t>10</a:t>
            </a: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个智能体，涵盖生活、学习、工作等多个场景；中国联通聚焦家庭场景，基于其</a:t>
            </a:r>
            <a:r>
              <a:rPr lang="en-US" altLang="zh-CN" sz="932" dirty="0">
                <a:latin typeface="微软雅黑" panose="020B0503020204020204" pitchFamily="34" charset="-122"/>
                <a:ea typeface="微软雅黑" panose="020B0503020204020204" pitchFamily="34" charset="-122"/>
                <a:cs typeface="方正兰亭黑简体" panose="02000000000000000000" pitchFamily="2" charset="-122"/>
              </a:rPr>
              <a:t>AI</a:t>
            </a:r>
            <a:r>
              <a:rPr lang="zh-CN" altLang="en-US" sz="932" dirty="0">
                <a:latin typeface="微软雅黑" panose="020B0503020204020204" pitchFamily="34" charset="-122"/>
                <a:ea typeface="微软雅黑" panose="020B0503020204020204" pitchFamily="34" charset="-122"/>
                <a:cs typeface="方正兰亭黑简体" panose="02000000000000000000" pitchFamily="2" charset="-122"/>
              </a:rPr>
              <a:t>服务平台，孵化“通通”智能体，通过账号融合、数据融通，使“通通”成为用户的智能数字分身，打通家庭和个人、大屏和小屏的畅享体验。</a:t>
            </a:r>
          </a:p>
        </p:txBody>
      </p:sp>
      <p:pic>
        <p:nvPicPr>
          <p:cNvPr id="1026" name="Picture 2">
            <a:extLst>
              <a:ext uri="{FF2B5EF4-FFF2-40B4-BE49-F238E27FC236}">
                <a16:creationId xmlns:a16="http://schemas.microsoft.com/office/drawing/2014/main" id="{C1AB9052-06D2-009B-45EE-1BADF78A6D43}"/>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314159" y="2749034"/>
            <a:ext cx="1381280" cy="92027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6" name="圆角矩形 45"/>
          <p:cNvSpPr/>
          <p:nvPr>
            <p:custDataLst>
              <p:tags r:id="rId12"/>
            </p:custDataLst>
          </p:nvPr>
        </p:nvSpPr>
        <p:spPr>
          <a:xfrm>
            <a:off x="934212" y="4302769"/>
            <a:ext cx="4878781" cy="1961032"/>
          </a:xfrm>
          <a:prstGeom prst="roundRect">
            <a:avLst>
              <a:gd name="adj" fmla="val 5531"/>
            </a:avLst>
          </a:prstGeom>
          <a:gradFill>
            <a:gsLst>
              <a:gs pos="0">
                <a:schemeClr val="accent1">
                  <a:lumMod val="5000"/>
                  <a:lumOff val="95000"/>
                  <a:alpha val="5000"/>
                </a:schemeClr>
              </a:gs>
              <a:gs pos="99000">
                <a:schemeClr val="bg1">
                  <a:alpha val="3000"/>
                </a:schemeClr>
              </a:gs>
            </a:gsLst>
            <a:lin ang="16200000" scaled="0"/>
          </a:gradFill>
          <a:ln w="25400">
            <a:gradFill>
              <a:gsLst>
                <a:gs pos="0">
                  <a:schemeClr val="accent1">
                    <a:lumMod val="5000"/>
                    <a:lumOff val="9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pic>
        <p:nvPicPr>
          <p:cNvPr id="47" name="图片 46" descr="65958c422888d1f5bd0bbdd57883c83e2c123c7d6636-vvf6Sz"/>
          <p:cNvPicPr>
            <a:picLocks noChangeAspect="1"/>
          </p:cNvPicPr>
          <p:nvPr>
            <p:custDataLst>
              <p:tags r:id="rId13"/>
            </p:custDataLst>
          </p:nvPr>
        </p:nvPicPr>
        <p:blipFill>
          <a:blip r:embed="rId18"/>
          <a:stretch>
            <a:fillRect/>
          </a:stretch>
        </p:blipFill>
        <p:spPr>
          <a:xfrm flipV="1">
            <a:off x="986721" y="6252209"/>
            <a:ext cx="4099761" cy="74196"/>
          </a:xfrm>
          <a:prstGeom prst="rect">
            <a:avLst/>
          </a:prstGeom>
        </p:spPr>
      </p:pic>
      <p:sp>
        <p:nvSpPr>
          <p:cNvPr id="52" name="文本框 51"/>
          <p:cNvSpPr txBox="1"/>
          <p:nvPr>
            <p:custDataLst>
              <p:tags r:id="rId14"/>
            </p:custDataLst>
          </p:nvPr>
        </p:nvSpPr>
        <p:spPr>
          <a:xfrm>
            <a:off x="1858418" y="4407177"/>
            <a:ext cx="2914854" cy="379335"/>
          </a:xfrm>
          <a:prstGeom prst="rect">
            <a:avLst/>
          </a:prstGeom>
          <a:noFill/>
        </p:spPr>
        <p:txBody>
          <a:bodyPr wrap="square">
            <a:spAutoFit/>
          </a:bodyPr>
          <a:lstStyle>
            <a:defPPr>
              <a:defRPr lang="zh-CN"/>
            </a:defPPr>
            <a:lvl1pPr algn="ctr" defTabSz="914400">
              <a:defRPr sz="4400">
                <a:solidFill>
                  <a:schemeClr val="bg1"/>
                </a:solidFill>
                <a:latin typeface="方正兰亭刊黑_GBK" panose="02000000000000000000" pitchFamily="2" charset="-122"/>
                <a:ea typeface="方正兰亭刊黑_GBK" panose="02000000000000000000" pitchFamily="2" charset="-122"/>
              </a:defRPr>
            </a:lvl1pPr>
          </a:lstStyle>
          <a:p>
            <a:r>
              <a:rPr lang="zh-CN" altLang="en-US" sz="1865" b="1" dirty="0">
                <a:solidFill>
                  <a:schemeClr val="accent6"/>
                </a:solidFill>
                <a:latin typeface="微软雅黑" panose="020B0503020204020204" pitchFamily="34" charset="-122"/>
                <a:ea typeface="微软雅黑" panose="020B0503020204020204" pitchFamily="34" charset="-122"/>
                <a:sym typeface="腾讯体 W7" panose="020C08030202040F0204" pitchFamily="34" charset="-122"/>
              </a:rPr>
              <a:t>智能体框架</a:t>
            </a:r>
          </a:p>
        </p:txBody>
      </p:sp>
      <p:sp>
        <p:nvSpPr>
          <p:cNvPr id="16" name="文本框 15"/>
          <p:cNvSpPr txBox="1"/>
          <p:nvPr>
            <p:custDataLst>
              <p:tags r:id="rId15"/>
            </p:custDataLst>
          </p:nvPr>
        </p:nvSpPr>
        <p:spPr>
          <a:xfrm>
            <a:off x="1063285" y="4794109"/>
            <a:ext cx="3155341" cy="1204625"/>
          </a:xfrm>
          <a:prstGeom prst="rect">
            <a:avLst/>
          </a:prstGeom>
          <a:noFill/>
        </p:spPr>
        <p:txBody>
          <a:bodyPr wrap="square" rtlCol="0">
            <a:spAutoFit/>
          </a:bodyPr>
          <a:lstStyle/>
          <a:p>
            <a:pPr algn="ctr" defTabSz="608990">
              <a:lnSpc>
                <a:spcPct val="150000"/>
              </a:lnSpc>
            </a:pPr>
            <a:r>
              <a:rPr lang="zh-CN" altLang="zh-CN" sz="1066" dirty="0">
                <a:latin typeface="微软雅黑" panose="020B0503020204020204" pitchFamily="34" charset="-122"/>
                <a:ea typeface="微软雅黑" panose="020B0503020204020204" pitchFamily="34" charset="-122"/>
              </a:rPr>
              <a:t>通常不直接提供</a:t>
            </a:r>
            <a:r>
              <a:rPr lang="en-US" altLang="zh-CN" sz="1066" dirty="0">
                <a:latin typeface="微软雅黑" panose="020B0503020204020204" pitchFamily="34" charset="-122"/>
                <a:ea typeface="微软雅黑" panose="020B0503020204020204" pitchFamily="34" charset="-122"/>
              </a:rPr>
              <a:t>“</a:t>
            </a:r>
            <a:r>
              <a:rPr lang="zh-CN" altLang="zh-CN" sz="1066" dirty="0">
                <a:latin typeface="微软雅黑" panose="020B0503020204020204" pitchFamily="34" charset="-122"/>
                <a:ea typeface="微软雅黑" panose="020B0503020204020204" pitchFamily="34" charset="-122"/>
              </a:rPr>
              <a:t>成品</a:t>
            </a:r>
            <a:r>
              <a:rPr lang="en-US" altLang="zh-CN" sz="1066" dirty="0">
                <a:latin typeface="微软雅黑" panose="020B0503020204020204" pitchFamily="34" charset="-122"/>
                <a:ea typeface="微软雅黑" panose="020B0503020204020204" pitchFamily="34" charset="-122"/>
              </a:rPr>
              <a:t>”</a:t>
            </a:r>
            <a:r>
              <a:rPr lang="zh-CN" altLang="zh-CN" sz="1066" dirty="0">
                <a:latin typeface="微软雅黑" panose="020B0503020204020204" pitchFamily="34" charset="-122"/>
                <a:ea typeface="微软雅黑" panose="020B0503020204020204" pitchFamily="34" charset="-122"/>
              </a:rPr>
              <a:t>智能体，而是支持开发者通过框架构建定制化</a:t>
            </a:r>
            <a:r>
              <a:rPr lang="en-US" altLang="zh-CN" sz="1066" dirty="0">
                <a:latin typeface="微软雅黑" panose="020B0503020204020204" pitchFamily="34" charset="-122"/>
                <a:ea typeface="微软雅黑" panose="020B0503020204020204" pitchFamily="34" charset="-122"/>
              </a:rPr>
              <a:t>AI</a:t>
            </a:r>
            <a:r>
              <a:rPr lang="zh-CN" altLang="zh-CN" sz="1066" dirty="0">
                <a:latin typeface="微软雅黑" panose="020B0503020204020204" pitchFamily="34" charset="-122"/>
                <a:ea typeface="微软雅黑" panose="020B0503020204020204" pitchFamily="34" charset="-122"/>
              </a:rPr>
              <a:t>智能体。</a:t>
            </a:r>
            <a:endParaRPr lang="en-US" altLang="zh-CN" sz="1066" dirty="0">
              <a:latin typeface="微软雅黑" panose="020B0503020204020204" pitchFamily="34" charset="-122"/>
              <a:ea typeface="微软雅黑" panose="020B0503020204020204" pitchFamily="34" charset="-122"/>
            </a:endParaRPr>
          </a:p>
          <a:p>
            <a:pPr algn="ctr" defTabSz="608990">
              <a:lnSpc>
                <a:spcPct val="150000"/>
              </a:lnSpc>
            </a:pPr>
            <a:r>
              <a:rPr lang="zh-CN" altLang="en-US" sz="932" dirty="0">
                <a:latin typeface="微软雅黑" panose="020B0503020204020204" pitchFamily="34" charset="-122"/>
                <a:ea typeface="微软雅黑" panose="020B0503020204020204" pitchFamily="34" charset="-122"/>
                <a:cs typeface="方正兰亭刊黑_GBK" panose="02000000000000000000" pitchFamily="2" charset="-122"/>
              </a:rPr>
              <a:t>例如</a:t>
            </a:r>
            <a:r>
              <a:rPr lang="en-US" altLang="zh-CN" sz="932" dirty="0">
                <a:latin typeface="微软雅黑" panose="020B0503020204020204" pitchFamily="34" charset="-122"/>
                <a:ea typeface="微软雅黑" panose="020B0503020204020204" pitchFamily="34" charset="-122"/>
                <a:cs typeface="方正兰亭刊黑_GBK" panose="02000000000000000000" pitchFamily="2" charset="-122"/>
              </a:rPr>
              <a:t>:</a:t>
            </a:r>
            <a:r>
              <a:rPr lang="zh-CN" altLang="en-US" sz="932" dirty="0">
                <a:latin typeface="微软雅黑" panose="020B0503020204020204" pitchFamily="34" charset="-122"/>
                <a:ea typeface="微软雅黑" panose="020B0503020204020204" pitchFamily="34" charset="-122"/>
                <a:cs typeface="方正兰亭刊黑_GBK" panose="02000000000000000000" pitchFamily="2" charset="-122"/>
              </a:rPr>
              <a:t>腾讯</a:t>
            </a:r>
            <a:r>
              <a:rPr lang="en-US" altLang="zh-CN" sz="932" dirty="0">
                <a:latin typeface="微软雅黑" panose="020B0503020204020204" pitchFamily="34" charset="-122"/>
                <a:ea typeface="微软雅黑" panose="020B0503020204020204" pitchFamily="34" charset="-122"/>
                <a:cs typeface="方正兰亭刊黑_GBK" panose="02000000000000000000" pitchFamily="2" charset="-122"/>
              </a:rPr>
              <a:t>Cognitive Kernel-Pro</a:t>
            </a:r>
            <a:r>
              <a:rPr lang="zh-CN" altLang="en-US" sz="932" dirty="0">
                <a:latin typeface="微软雅黑" panose="020B0503020204020204" pitchFamily="34" charset="-122"/>
                <a:ea typeface="微软雅黑" panose="020B0503020204020204" pitchFamily="34" charset="-122"/>
                <a:cs typeface="方正兰亭刊黑_GBK" panose="02000000000000000000" pitchFamily="2" charset="-122"/>
              </a:rPr>
              <a:t>智能体框架，采用多模块层次化架构设计，支持使用</a:t>
            </a:r>
            <a:r>
              <a:rPr lang="en-US" altLang="zh-CN" sz="932" dirty="0">
                <a:latin typeface="微软雅黑" panose="020B0503020204020204" pitchFamily="34" charset="-122"/>
                <a:ea typeface="微软雅黑" panose="020B0503020204020204" pitchFamily="34" charset="-122"/>
                <a:cs typeface="方正兰亭刊黑_GBK" panose="02000000000000000000" pitchFamily="2" charset="-122"/>
              </a:rPr>
              <a:t>Python</a:t>
            </a:r>
            <a:r>
              <a:rPr lang="zh-CN" altLang="en-US" sz="932" dirty="0">
                <a:latin typeface="微软雅黑" panose="020B0503020204020204" pitchFamily="34" charset="-122"/>
                <a:ea typeface="微软雅黑" panose="020B0503020204020204" pitchFamily="34" charset="-122"/>
                <a:cs typeface="方正兰亭刊黑_GBK" panose="02000000000000000000" pitchFamily="2" charset="-122"/>
              </a:rPr>
              <a:t>作为行动语言，打破了智能体构建依赖平台预定义能力的限制。</a:t>
            </a:r>
          </a:p>
        </p:txBody>
      </p:sp>
      <p:pic>
        <p:nvPicPr>
          <p:cNvPr id="19" name="图片 18" descr="银色的手机截图&#10;&#10;AI 生成的内容可能不正确。">
            <a:extLst>
              <a:ext uri="{FF2B5EF4-FFF2-40B4-BE49-F238E27FC236}">
                <a16:creationId xmlns:a16="http://schemas.microsoft.com/office/drawing/2014/main" id="{ED5DCFD6-48F7-BE44-B221-F8D8EF477C2F}"/>
              </a:ext>
            </a:extLst>
          </p:cNvPr>
          <p:cNvPicPr>
            <a:picLocks noChangeAspect="1"/>
          </p:cNvPicPr>
          <p:nvPr/>
        </p:nvPicPr>
        <p:blipFill>
          <a:blip r:embed="rId20"/>
          <a:srcRect t="10241" b="53870"/>
          <a:stretch>
            <a:fillRect/>
          </a:stretch>
        </p:blipFill>
        <p:spPr>
          <a:xfrm>
            <a:off x="4274790" y="4758873"/>
            <a:ext cx="1420648" cy="1105331"/>
          </a:xfrm>
          <a:prstGeom prst="rect">
            <a:avLst/>
          </a:prstGeom>
          <a:effectLst>
            <a:outerShdw blurRad="50800" dist="38100" dir="2700000" algn="tl" rotWithShape="0">
              <a:prstClr val="black">
                <a:alpha val="40000"/>
              </a:prstClr>
            </a:outerShdw>
          </a:effectLst>
        </p:spPr>
      </p:pic>
      <p:pic>
        <p:nvPicPr>
          <p:cNvPr id="1028" name="Picture 4">
            <a:extLst>
              <a:ext uri="{FF2B5EF4-FFF2-40B4-BE49-F238E27FC236}">
                <a16:creationId xmlns:a16="http://schemas.microsoft.com/office/drawing/2014/main" id="{EA1A4518-23C6-EA6D-9948-EE9129AE0605}"/>
              </a:ext>
            </a:extLst>
          </p:cNvPr>
          <p:cNvPicPr>
            <a:picLocks noChangeAspect="1" noChangeArrowheads="1"/>
          </p:cNvPicPr>
          <p:nvPr/>
        </p:nvPicPr>
        <p:blipFill rotWithShape="1">
          <a:blip r:embed="rId21" cstate="print">
            <a:extLst>
              <a:ext uri="{28A0092B-C50C-407E-A947-70E740481C1C}">
                <a14:useLocalDpi xmlns:a14="http://schemas.microsoft.com/office/drawing/2010/main" val="0"/>
              </a:ext>
            </a:extLst>
          </a:blip>
          <a:srcRect l="14017" t="5234" r="11841" b="7271"/>
          <a:stretch>
            <a:fillRect/>
          </a:stretch>
        </p:blipFill>
        <p:spPr bwMode="auto">
          <a:xfrm>
            <a:off x="10018852" y="2424305"/>
            <a:ext cx="956990" cy="149039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87DE59C-763C-3F70-3364-558E0646D0B5}"/>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9781815" y="4794109"/>
            <a:ext cx="1475974" cy="105504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98534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 name="矩形: 圆角 20"/>
          <p:cNvSpPr/>
          <p:nvPr>
            <p:custDataLst>
              <p:tags r:id="rId1"/>
            </p:custDataLst>
          </p:nvPr>
        </p:nvSpPr>
        <p:spPr>
          <a:xfrm>
            <a:off x="4094613" y="1252912"/>
            <a:ext cx="7648122" cy="5413771"/>
          </a:xfrm>
          <a:prstGeom prst="roundRect">
            <a:avLst>
              <a:gd name="adj" fmla="val 14595"/>
            </a:avLst>
          </a:prstGeom>
          <a:gradFill>
            <a:gsLst>
              <a:gs pos="0">
                <a:schemeClr val="accent1">
                  <a:lumMod val="5000"/>
                  <a:lumOff val="95000"/>
                  <a:alpha val="5000"/>
                </a:schemeClr>
              </a:gs>
              <a:gs pos="99000">
                <a:schemeClr val="bg1">
                  <a:alpha val="3000"/>
                </a:schemeClr>
              </a:gs>
            </a:gsLst>
            <a:lin ang="16200000" scaled="0"/>
          </a:gradFill>
          <a:ln w="25400">
            <a:gradFill>
              <a:gsLst>
                <a:gs pos="0">
                  <a:schemeClr val="accent1">
                    <a:lumMod val="5000"/>
                    <a:lumOff val="9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31307" y="17550"/>
            <a:ext cx="9419715" cy="748154"/>
          </a:xfrm>
          <a:prstGeom prst="rect">
            <a:avLst/>
          </a:prstGeom>
          <a:noFill/>
        </p:spPr>
        <p:txBody>
          <a:bodyPr wrap="square" rtlCol="0">
            <a:spAutoFit/>
          </a:bodyPr>
          <a:lstStyle/>
          <a:p>
            <a:pPr defTabSz="913909"/>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建设路径从开发效率到运行效能攻关，构建智能体驱动的大模型系统工程所需六大关键技术和能力</a:t>
            </a:r>
          </a:p>
        </p:txBody>
      </p:sp>
      <p:grpSp>
        <p:nvGrpSpPr>
          <p:cNvPr id="69" name="组合 68"/>
          <p:cNvGrpSpPr/>
          <p:nvPr/>
        </p:nvGrpSpPr>
        <p:grpSpPr>
          <a:xfrm>
            <a:off x="9126422" y="4089514"/>
            <a:ext cx="1843550" cy="278711"/>
            <a:chOff x="15559" y="3302"/>
            <a:chExt cx="4359" cy="659"/>
          </a:xfrm>
        </p:grpSpPr>
        <p:sp>
          <p:nvSpPr>
            <p:cNvPr id="70" name="矩形 29"/>
            <p:cNvSpPr txBox="1"/>
            <p:nvPr>
              <p:custDataLst>
                <p:tags r:id="rId27"/>
              </p:custDataLst>
            </p:nvPr>
          </p:nvSpPr>
          <p:spPr>
            <a:xfrm>
              <a:off x="15812" y="3302"/>
              <a:ext cx="4106" cy="659"/>
            </a:xfrm>
            <a:prstGeom prst="rect">
              <a:avLst/>
            </a:prstGeom>
            <a:ln w="12700">
              <a:miter lim="400000"/>
            </a:ln>
          </p:spPr>
          <p:txBody>
            <a:bodyPr wrap="square" lIns="18931" tIns="18931" rIns="18931" bIns="18931">
              <a:spAutoFit/>
            </a:bodyPr>
            <a:lstStyle>
              <a:lvl1pPr>
                <a:lnSpc>
                  <a:spcPct val="130000"/>
                </a:lnSpc>
                <a:defRPr sz="2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pPr algn="ctr"/>
              <a:r>
                <a:rPr lang="zh-CN" altLang="en-US" sz="1332" b="1" dirty="0">
                  <a:solidFill>
                    <a:schemeClr val="tx1"/>
                  </a:solidFill>
                  <a:latin typeface="微软雅黑" panose="020B0503020204020204" pitchFamily="34" charset="-122"/>
                  <a:ea typeface="微软雅黑" panose="020B0503020204020204" pitchFamily="34" charset="-122"/>
                  <a:cs typeface="腾讯体 W7" panose="020C08030202040F0204" pitchFamily="34" charset="-122"/>
                </a:rPr>
                <a:t>智能体安全管理</a:t>
              </a:r>
            </a:p>
          </p:txBody>
        </p:sp>
        <p:sp>
          <p:nvSpPr>
            <p:cNvPr id="71" name="Freeform 9"/>
            <p:cNvSpPr>
              <a:spLocks noEditPoints="1"/>
            </p:cNvSpPr>
            <p:nvPr/>
          </p:nvSpPr>
          <p:spPr bwMode="auto">
            <a:xfrm>
              <a:off x="15559" y="3413"/>
              <a:ext cx="506" cy="534"/>
            </a:xfrm>
            <a:custGeom>
              <a:avLst/>
              <a:gdLst>
                <a:gd name="T0" fmla="*/ 120 w 161"/>
                <a:gd name="T1" fmla="*/ 0 h 170"/>
                <a:gd name="T2" fmla="*/ 120 w 161"/>
                <a:gd name="T3" fmla="*/ 34 h 170"/>
                <a:gd name="T4" fmla="*/ 161 w 161"/>
                <a:gd name="T5" fmla="*/ 34 h 170"/>
                <a:gd name="T6" fmla="*/ 161 w 161"/>
                <a:gd name="T7" fmla="*/ 170 h 170"/>
                <a:gd name="T8" fmla="*/ 0 w 161"/>
                <a:gd name="T9" fmla="*/ 170 h 170"/>
                <a:gd name="T10" fmla="*/ 0 w 161"/>
                <a:gd name="T11" fmla="*/ 34 h 170"/>
                <a:gd name="T12" fmla="*/ 41 w 161"/>
                <a:gd name="T13" fmla="*/ 34 h 170"/>
                <a:gd name="T14" fmla="*/ 41 w 161"/>
                <a:gd name="T15" fmla="*/ 0 h 170"/>
                <a:gd name="T16" fmla="*/ 120 w 161"/>
                <a:gd name="T17" fmla="*/ 0 h 170"/>
                <a:gd name="T18" fmla="*/ 120 w 161"/>
                <a:gd name="T19" fmla="*/ 0 h 170"/>
                <a:gd name="T20" fmla="*/ 148 w 161"/>
                <a:gd name="T21" fmla="*/ 48 h 170"/>
                <a:gd name="T22" fmla="*/ 13 w 161"/>
                <a:gd name="T23" fmla="*/ 48 h 170"/>
                <a:gd name="T24" fmla="*/ 13 w 161"/>
                <a:gd name="T25" fmla="*/ 154 h 170"/>
                <a:gd name="T26" fmla="*/ 148 w 161"/>
                <a:gd name="T27" fmla="*/ 154 h 170"/>
                <a:gd name="T28" fmla="*/ 148 w 161"/>
                <a:gd name="T29" fmla="*/ 48 h 170"/>
                <a:gd name="T30" fmla="*/ 87 w 161"/>
                <a:gd name="T31" fmla="*/ 66 h 170"/>
                <a:gd name="T32" fmla="*/ 87 w 161"/>
                <a:gd name="T33" fmla="*/ 93 h 170"/>
                <a:gd name="T34" fmla="*/ 112 w 161"/>
                <a:gd name="T35" fmla="*/ 93 h 170"/>
                <a:gd name="T36" fmla="*/ 112 w 161"/>
                <a:gd name="T37" fmla="*/ 109 h 170"/>
                <a:gd name="T38" fmla="*/ 87 w 161"/>
                <a:gd name="T39" fmla="*/ 109 h 170"/>
                <a:gd name="T40" fmla="*/ 87 w 161"/>
                <a:gd name="T41" fmla="*/ 135 h 170"/>
                <a:gd name="T42" fmla="*/ 74 w 161"/>
                <a:gd name="T43" fmla="*/ 135 h 170"/>
                <a:gd name="T44" fmla="*/ 74 w 161"/>
                <a:gd name="T45" fmla="*/ 109 h 170"/>
                <a:gd name="T46" fmla="*/ 48 w 161"/>
                <a:gd name="T47" fmla="*/ 109 h 170"/>
                <a:gd name="T48" fmla="*/ 48 w 161"/>
                <a:gd name="T49" fmla="*/ 93 h 170"/>
                <a:gd name="T50" fmla="*/ 74 w 161"/>
                <a:gd name="T51" fmla="*/ 93 h 170"/>
                <a:gd name="T52" fmla="*/ 74 w 161"/>
                <a:gd name="T53" fmla="*/ 66 h 170"/>
                <a:gd name="T54" fmla="*/ 87 w 161"/>
                <a:gd name="T55" fmla="*/ 66 h 170"/>
                <a:gd name="T56" fmla="*/ 107 w 161"/>
                <a:gd name="T57" fmla="*/ 16 h 170"/>
                <a:gd name="T58" fmla="*/ 56 w 161"/>
                <a:gd name="T59" fmla="*/ 16 h 170"/>
                <a:gd name="T60" fmla="*/ 56 w 161"/>
                <a:gd name="T61" fmla="*/ 34 h 170"/>
                <a:gd name="T62" fmla="*/ 107 w 161"/>
                <a:gd name="T63" fmla="*/ 34 h 170"/>
                <a:gd name="T64" fmla="*/ 107 w 161"/>
                <a:gd name="T65" fmla="*/ 1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1" h="170">
                  <a:moveTo>
                    <a:pt x="120" y="0"/>
                  </a:moveTo>
                  <a:lnTo>
                    <a:pt x="120" y="34"/>
                  </a:lnTo>
                  <a:lnTo>
                    <a:pt x="161" y="34"/>
                  </a:lnTo>
                  <a:lnTo>
                    <a:pt x="161" y="170"/>
                  </a:lnTo>
                  <a:lnTo>
                    <a:pt x="0" y="170"/>
                  </a:lnTo>
                  <a:lnTo>
                    <a:pt x="0" y="34"/>
                  </a:lnTo>
                  <a:lnTo>
                    <a:pt x="41" y="34"/>
                  </a:lnTo>
                  <a:lnTo>
                    <a:pt x="41" y="0"/>
                  </a:lnTo>
                  <a:lnTo>
                    <a:pt x="120" y="0"/>
                  </a:lnTo>
                  <a:lnTo>
                    <a:pt x="120" y="0"/>
                  </a:lnTo>
                  <a:close/>
                  <a:moveTo>
                    <a:pt x="148" y="48"/>
                  </a:moveTo>
                  <a:lnTo>
                    <a:pt x="13" y="48"/>
                  </a:lnTo>
                  <a:lnTo>
                    <a:pt x="13" y="154"/>
                  </a:lnTo>
                  <a:lnTo>
                    <a:pt x="148" y="154"/>
                  </a:lnTo>
                  <a:lnTo>
                    <a:pt x="148" y="48"/>
                  </a:lnTo>
                  <a:close/>
                  <a:moveTo>
                    <a:pt x="87" y="66"/>
                  </a:moveTo>
                  <a:lnTo>
                    <a:pt x="87" y="93"/>
                  </a:lnTo>
                  <a:lnTo>
                    <a:pt x="112" y="93"/>
                  </a:lnTo>
                  <a:lnTo>
                    <a:pt x="112" y="109"/>
                  </a:lnTo>
                  <a:lnTo>
                    <a:pt x="87" y="109"/>
                  </a:lnTo>
                  <a:lnTo>
                    <a:pt x="87" y="135"/>
                  </a:lnTo>
                  <a:lnTo>
                    <a:pt x="74" y="135"/>
                  </a:lnTo>
                  <a:lnTo>
                    <a:pt x="74" y="109"/>
                  </a:lnTo>
                  <a:lnTo>
                    <a:pt x="48" y="109"/>
                  </a:lnTo>
                  <a:lnTo>
                    <a:pt x="48" y="93"/>
                  </a:lnTo>
                  <a:lnTo>
                    <a:pt x="74" y="93"/>
                  </a:lnTo>
                  <a:lnTo>
                    <a:pt x="74" y="66"/>
                  </a:lnTo>
                  <a:lnTo>
                    <a:pt x="87" y="66"/>
                  </a:lnTo>
                  <a:close/>
                  <a:moveTo>
                    <a:pt x="107" y="16"/>
                  </a:moveTo>
                  <a:lnTo>
                    <a:pt x="56" y="16"/>
                  </a:lnTo>
                  <a:lnTo>
                    <a:pt x="56" y="34"/>
                  </a:lnTo>
                  <a:lnTo>
                    <a:pt x="107" y="34"/>
                  </a:lnTo>
                  <a:lnTo>
                    <a:pt x="107" y="16"/>
                  </a:lnTo>
                  <a:close/>
                </a:path>
              </a:pathLst>
            </a:custGeom>
            <a:solidFill>
              <a:schemeClr val="bg1"/>
            </a:solidFill>
            <a:ln>
              <a:noFill/>
            </a:ln>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5457981" y="4078212"/>
            <a:ext cx="1736549" cy="290791"/>
            <a:chOff x="16192251" y="2315210"/>
            <a:chExt cx="2607310" cy="436603"/>
          </a:xfrm>
        </p:grpSpPr>
        <p:sp>
          <p:nvSpPr>
            <p:cNvPr id="68" name="矩形 29"/>
            <p:cNvSpPr txBox="1"/>
            <p:nvPr>
              <p:custDataLst>
                <p:tags r:id="rId26"/>
              </p:custDataLst>
            </p:nvPr>
          </p:nvSpPr>
          <p:spPr>
            <a:xfrm>
              <a:off x="16192251" y="2333293"/>
              <a:ext cx="2607310" cy="418520"/>
            </a:xfrm>
            <a:prstGeom prst="rect">
              <a:avLst/>
            </a:prstGeom>
            <a:ln w="12700">
              <a:miter lim="400000"/>
            </a:ln>
          </p:spPr>
          <p:txBody>
            <a:bodyPr wrap="square" lIns="18931" tIns="18931" rIns="18931" bIns="18931">
              <a:spAutoFit/>
            </a:bodyPr>
            <a:lstStyle>
              <a:lvl1pPr>
                <a:lnSpc>
                  <a:spcPct val="130000"/>
                </a:lnSpc>
                <a:defRPr sz="2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pPr algn="ctr"/>
              <a:r>
                <a:rPr lang="zh-CN" altLang="en-US" sz="1332" b="1" dirty="0">
                  <a:solidFill>
                    <a:schemeClr val="tx1"/>
                  </a:solidFill>
                  <a:latin typeface="微软雅黑" panose="020B0503020204020204" pitchFamily="34" charset="-122"/>
                  <a:ea typeface="微软雅黑" panose="020B0503020204020204" pitchFamily="34" charset="-122"/>
                  <a:cs typeface="腾讯体 W7" panose="020C08030202040F0204" pitchFamily="34" charset="-122"/>
                </a:rPr>
                <a:t>联网搜索</a:t>
              </a:r>
            </a:p>
          </p:txBody>
        </p:sp>
        <p:grpSp>
          <p:nvGrpSpPr>
            <p:cNvPr id="72" name="组合 71"/>
            <p:cNvGrpSpPr/>
            <p:nvPr/>
          </p:nvGrpSpPr>
          <p:grpSpPr>
            <a:xfrm>
              <a:off x="16359730" y="2315210"/>
              <a:ext cx="401955" cy="423545"/>
              <a:chOff x="8389938" y="2613025"/>
              <a:chExt cx="276225" cy="290513"/>
            </a:xfrm>
            <a:solidFill>
              <a:schemeClr val="bg1"/>
            </a:solidFill>
          </p:grpSpPr>
          <p:sp>
            <p:nvSpPr>
              <p:cNvPr id="73" name="Freeform 24"/>
              <p:cNvSpPr/>
              <p:nvPr/>
            </p:nvSpPr>
            <p:spPr bwMode="auto">
              <a:xfrm>
                <a:off x="8470900" y="2679700"/>
                <a:ext cx="117475" cy="165100"/>
              </a:xfrm>
              <a:custGeom>
                <a:avLst/>
                <a:gdLst>
                  <a:gd name="T0" fmla="*/ 28 w 29"/>
                  <a:gd name="T1" fmla="*/ 4 h 39"/>
                  <a:gd name="T2" fmla="*/ 28 w 29"/>
                  <a:gd name="T3" fmla="*/ 1 h 39"/>
                  <a:gd name="T4" fmla="*/ 25 w 29"/>
                  <a:gd name="T5" fmla="*/ 1 h 39"/>
                  <a:gd name="T6" fmla="*/ 14 w 29"/>
                  <a:gd name="T7" fmla="*/ 11 h 39"/>
                  <a:gd name="T8" fmla="*/ 4 w 29"/>
                  <a:gd name="T9" fmla="*/ 1 h 39"/>
                  <a:gd name="T10" fmla="*/ 4 w 29"/>
                  <a:gd name="T11" fmla="*/ 1 h 39"/>
                  <a:gd name="T12" fmla="*/ 0 w 29"/>
                  <a:gd name="T13" fmla="*/ 1 h 39"/>
                  <a:gd name="T14" fmla="*/ 0 w 29"/>
                  <a:gd name="T15" fmla="*/ 4 h 39"/>
                  <a:gd name="T16" fmla="*/ 9 w 29"/>
                  <a:gd name="T17" fmla="*/ 13 h 39"/>
                  <a:gd name="T18" fmla="*/ 2 w 29"/>
                  <a:gd name="T19" fmla="*/ 13 h 39"/>
                  <a:gd name="T20" fmla="*/ 0 w 29"/>
                  <a:gd name="T21" fmla="*/ 15 h 39"/>
                  <a:gd name="T22" fmla="*/ 2 w 29"/>
                  <a:gd name="T23" fmla="*/ 17 h 39"/>
                  <a:gd name="T24" fmla="*/ 12 w 29"/>
                  <a:gd name="T25" fmla="*/ 17 h 39"/>
                  <a:gd name="T26" fmla="*/ 12 w 29"/>
                  <a:gd name="T27" fmla="*/ 23 h 39"/>
                  <a:gd name="T28" fmla="*/ 2 w 29"/>
                  <a:gd name="T29" fmla="*/ 23 h 39"/>
                  <a:gd name="T30" fmla="*/ 0 w 29"/>
                  <a:gd name="T31" fmla="*/ 25 h 39"/>
                  <a:gd name="T32" fmla="*/ 2 w 29"/>
                  <a:gd name="T33" fmla="*/ 28 h 39"/>
                  <a:gd name="T34" fmla="*/ 12 w 29"/>
                  <a:gd name="T35" fmla="*/ 28 h 39"/>
                  <a:gd name="T36" fmla="*/ 12 w 29"/>
                  <a:gd name="T37" fmla="*/ 37 h 39"/>
                  <a:gd name="T38" fmla="*/ 14 w 29"/>
                  <a:gd name="T39" fmla="*/ 39 h 39"/>
                  <a:gd name="T40" fmla="*/ 16 w 29"/>
                  <a:gd name="T41" fmla="*/ 37 h 39"/>
                  <a:gd name="T42" fmla="*/ 16 w 29"/>
                  <a:gd name="T43" fmla="*/ 28 h 39"/>
                  <a:gd name="T44" fmla="*/ 25 w 29"/>
                  <a:gd name="T45" fmla="*/ 28 h 39"/>
                  <a:gd name="T46" fmla="*/ 27 w 29"/>
                  <a:gd name="T47" fmla="*/ 25 h 39"/>
                  <a:gd name="T48" fmla="*/ 25 w 29"/>
                  <a:gd name="T49" fmla="*/ 23 h 39"/>
                  <a:gd name="T50" fmla="*/ 16 w 29"/>
                  <a:gd name="T51" fmla="*/ 23 h 39"/>
                  <a:gd name="T52" fmla="*/ 16 w 29"/>
                  <a:gd name="T53" fmla="*/ 17 h 39"/>
                  <a:gd name="T54" fmla="*/ 25 w 29"/>
                  <a:gd name="T55" fmla="*/ 17 h 39"/>
                  <a:gd name="T56" fmla="*/ 27 w 29"/>
                  <a:gd name="T57" fmla="*/ 15 h 39"/>
                  <a:gd name="T58" fmla="*/ 25 w 29"/>
                  <a:gd name="T59" fmla="*/ 13 h 39"/>
                  <a:gd name="T60" fmla="*/ 19 w 29"/>
                  <a:gd name="T61" fmla="*/ 13 h 39"/>
                  <a:gd name="T62" fmla="*/ 28 w 29"/>
                  <a:gd name="T63" fmla="*/ 4 h 39"/>
                  <a:gd name="T64" fmla="*/ 28 w 29"/>
                  <a:gd name="T65"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 h="39">
                    <a:moveTo>
                      <a:pt x="28" y="4"/>
                    </a:moveTo>
                    <a:cubicBezTo>
                      <a:pt x="29" y="3"/>
                      <a:pt x="29" y="2"/>
                      <a:pt x="28" y="1"/>
                    </a:cubicBezTo>
                    <a:cubicBezTo>
                      <a:pt x="27" y="0"/>
                      <a:pt x="25" y="0"/>
                      <a:pt x="25" y="1"/>
                    </a:cubicBezTo>
                    <a:cubicBezTo>
                      <a:pt x="14" y="11"/>
                      <a:pt x="14" y="11"/>
                      <a:pt x="14" y="11"/>
                    </a:cubicBezTo>
                    <a:cubicBezTo>
                      <a:pt x="4" y="1"/>
                      <a:pt x="4" y="1"/>
                      <a:pt x="4" y="1"/>
                    </a:cubicBezTo>
                    <a:cubicBezTo>
                      <a:pt x="4" y="1"/>
                      <a:pt x="4" y="1"/>
                      <a:pt x="4" y="1"/>
                    </a:cubicBezTo>
                    <a:cubicBezTo>
                      <a:pt x="3" y="0"/>
                      <a:pt x="1" y="0"/>
                      <a:pt x="0" y="1"/>
                    </a:cubicBezTo>
                    <a:cubicBezTo>
                      <a:pt x="0" y="2"/>
                      <a:pt x="0" y="3"/>
                      <a:pt x="0" y="4"/>
                    </a:cubicBezTo>
                    <a:cubicBezTo>
                      <a:pt x="9" y="13"/>
                      <a:pt x="9" y="13"/>
                      <a:pt x="9" y="13"/>
                    </a:cubicBezTo>
                    <a:cubicBezTo>
                      <a:pt x="2" y="13"/>
                      <a:pt x="2" y="13"/>
                      <a:pt x="2" y="13"/>
                    </a:cubicBezTo>
                    <a:cubicBezTo>
                      <a:pt x="1" y="13"/>
                      <a:pt x="0" y="14"/>
                      <a:pt x="0" y="15"/>
                    </a:cubicBezTo>
                    <a:cubicBezTo>
                      <a:pt x="0" y="16"/>
                      <a:pt x="1" y="17"/>
                      <a:pt x="2" y="17"/>
                    </a:cubicBezTo>
                    <a:cubicBezTo>
                      <a:pt x="12" y="17"/>
                      <a:pt x="12" y="17"/>
                      <a:pt x="12" y="17"/>
                    </a:cubicBezTo>
                    <a:cubicBezTo>
                      <a:pt x="12" y="23"/>
                      <a:pt x="12" y="23"/>
                      <a:pt x="12" y="23"/>
                    </a:cubicBezTo>
                    <a:cubicBezTo>
                      <a:pt x="2" y="23"/>
                      <a:pt x="2" y="23"/>
                      <a:pt x="2" y="23"/>
                    </a:cubicBezTo>
                    <a:cubicBezTo>
                      <a:pt x="1" y="23"/>
                      <a:pt x="0" y="24"/>
                      <a:pt x="0" y="25"/>
                    </a:cubicBezTo>
                    <a:cubicBezTo>
                      <a:pt x="0" y="27"/>
                      <a:pt x="1" y="28"/>
                      <a:pt x="2" y="28"/>
                    </a:cubicBezTo>
                    <a:cubicBezTo>
                      <a:pt x="12" y="28"/>
                      <a:pt x="12" y="28"/>
                      <a:pt x="12" y="28"/>
                    </a:cubicBezTo>
                    <a:cubicBezTo>
                      <a:pt x="12" y="37"/>
                      <a:pt x="12" y="37"/>
                      <a:pt x="12" y="37"/>
                    </a:cubicBezTo>
                    <a:cubicBezTo>
                      <a:pt x="12" y="38"/>
                      <a:pt x="13" y="39"/>
                      <a:pt x="14" y="39"/>
                    </a:cubicBezTo>
                    <a:cubicBezTo>
                      <a:pt x="15" y="39"/>
                      <a:pt x="16" y="38"/>
                      <a:pt x="16" y="37"/>
                    </a:cubicBezTo>
                    <a:cubicBezTo>
                      <a:pt x="16" y="28"/>
                      <a:pt x="16" y="28"/>
                      <a:pt x="16" y="28"/>
                    </a:cubicBezTo>
                    <a:cubicBezTo>
                      <a:pt x="25" y="28"/>
                      <a:pt x="25" y="28"/>
                      <a:pt x="25" y="28"/>
                    </a:cubicBezTo>
                    <a:cubicBezTo>
                      <a:pt x="26" y="28"/>
                      <a:pt x="27" y="27"/>
                      <a:pt x="27" y="25"/>
                    </a:cubicBezTo>
                    <a:cubicBezTo>
                      <a:pt x="27" y="24"/>
                      <a:pt x="26" y="23"/>
                      <a:pt x="25" y="23"/>
                    </a:cubicBezTo>
                    <a:cubicBezTo>
                      <a:pt x="16" y="23"/>
                      <a:pt x="16" y="23"/>
                      <a:pt x="16" y="23"/>
                    </a:cubicBezTo>
                    <a:cubicBezTo>
                      <a:pt x="16" y="17"/>
                      <a:pt x="16" y="17"/>
                      <a:pt x="16" y="17"/>
                    </a:cubicBezTo>
                    <a:cubicBezTo>
                      <a:pt x="25" y="17"/>
                      <a:pt x="25" y="17"/>
                      <a:pt x="25" y="17"/>
                    </a:cubicBezTo>
                    <a:cubicBezTo>
                      <a:pt x="26" y="17"/>
                      <a:pt x="27" y="16"/>
                      <a:pt x="27" y="15"/>
                    </a:cubicBezTo>
                    <a:cubicBezTo>
                      <a:pt x="27" y="14"/>
                      <a:pt x="26" y="13"/>
                      <a:pt x="25" y="13"/>
                    </a:cubicBezTo>
                    <a:cubicBezTo>
                      <a:pt x="19" y="13"/>
                      <a:pt x="19" y="13"/>
                      <a:pt x="19" y="13"/>
                    </a:cubicBezTo>
                    <a:cubicBezTo>
                      <a:pt x="28" y="4"/>
                      <a:pt x="28" y="4"/>
                      <a:pt x="28" y="4"/>
                    </a:cubicBezTo>
                    <a:cubicBezTo>
                      <a:pt x="28" y="4"/>
                      <a:pt x="28" y="4"/>
                      <a:pt x="2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sp>
            <p:nvSpPr>
              <p:cNvPr id="74" name="Freeform 25"/>
              <p:cNvSpPr/>
              <p:nvPr/>
            </p:nvSpPr>
            <p:spPr bwMode="auto">
              <a:xfrm>
                <a:off x="8389938" y="2613025"/>
                <a:ext cx="276225" cy="130175"/>
              </a:xfrm>
              <a:custGeom>
                <a:avLst/>
                <a:gdLst>
                  <a:gd name="T0" fmla="*/ 3 w 68"/>
                  <a:gd name="T1" fmla="*/ 31 h 31"/>
                  <a:gd name="T2" fmla="*/ 4 w 68"/>
                  <a:gd name="T3" fmla="*/ 31 h 31"/>
                  <a:gd name="T4" fmla="*/ 12 w 68"/>
                  <a:gd name="T5" fmla="*/ 27 h 31"/>
                  <a:gd name="T6" fmla="*/ 12 w 68"/>
                  <a:gd name="T7" fmla="*/ 27 h 31"/>
                  <a:gd name="T8" fmla="*/ 13 w 68"/>
                  <a:gd name="T9" fmla="*/ 24 h 31"/>
                  <a:gd name="T10" fmla="*/ 10 w 68"/>
                  <a:gd name="T11" fmla="*/ 23 h 31"/>
                  <a:gd name="T12" fmla="*/ 6 w 68"/>
                  <a:gd name="T13" fmla="*/ 24 h 31"/>
                  <a:gd name="T14" fmla="*/ 34 w 68"/>
                  <a:gd name="T15" fmla="*/ 5 h 31"/>
                  <a:gd name="T16" fmla="*/ 63 w 68"/>
                  <a:gd name="T17" fmla="*/ 29 h 31"/>
                  <a:gd name="T18" fmla="*/ 66 w 68"/>
                  <a:gd name="T19" fmla="*/ 30 h 31"/>
                  <a:gd name="T20" fmla="*/ 68 w 68"/>
                  <a:gd name="T21" fmla="*/ 28 h 31"/>
                  <a:gd name="T22" fmla="*/ 34 w 68"/>
                  <a:gd name="T23" fmla="*/ 0 h 31"/>
                  <a:gd name="T24" fmla="*/ 0 w 68"/>
                  <a:gd name="T25" fmla="*/ 28 h 31"/>
                  <a:gd name="T26" fmla="*/ 0 w 68"/>
                  <a:gd name="T27" fmla="*/ 28 h 31"/>
                  <a:gd name="T28" fmla="*/ 1 w 68"/>
                  <a:gd name="T29" fmla="*/ 29 h 31"/>
                  <a:gd name="T30" fmla="*/ 3 w 68"/>
                  <a:gd name="T3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8" h="31">
                    <a:moveTo>
                      <a:pt x="3" y="31"/>
                    </a:moveTo>
                    <a:cubicBezTo>
                      <a:pt x="3" y="31"/>
                      <a:pt x="3" y="31"/>
                      <a:pt x="4" y="31"/>
                    </a:cubicBezTo>
                    <a:cubicBezTo>
                      <a:pt x="12" y="27"/>
                      <a:pt x="12" y="27"/>
                      <a:pt x="12" y="27"/>
                    </a:cubicBezTo>
                    <a:cubicBezTo>
                      <a:pt x="12" y="27"/>
                      <a:pt x="12" y="27"/>
                      <a:pt x="12" y="27"/>
                    </a:cubicBezTo>
                    <a:cubicBezTo>
                      <a:pt x="13" y="27"/>
                      <a:pt x="14" y="25"/>
                      <a:pt x="13" y="24"/>
                    </a:cubicBezTo>
                    <a:cubicBezTo>
                      <a:pt x="13" y="23"/>
                      <a:pt x="11" y="22"/>
                      <a:pt x="10" y="23"/>
                    </a:cubicBezTo>
                    <a:cubicBezTo>
                      <a:pt x="6" y="24"/>
                      <a:pt x="6" y="24"/>
                      <a:pt x="6" y="24"/>
                    </a:cubicBezTo>
                    <a:cubicBezTo>
                      <a:pt x="11" y="13"/>
                      <a:pt x="22" y="5"/>
                      <a:pt x="34" y="5"/>
                    </a:cubicBezTo>
                    <a:cubicBezTo>
                      <a:pt x="48" y="5"/>
                      <a:pt x="60" y="15"/>
                      <a:pt x="63" y="29"/>
                    </a:cubicBezTo>
                    <a:cubicBezTo>
                      <a:pt x="63" y="30"/>
                      <a:pt x="64" y="31"/>
                      <a:pt x="66" y="30"/>
                    </a:cubicBezTo>
                    <a:cubicBezTo>
                      <a:pt x="67" y="30"/>
                      <a:pt x="68" y="29"/>
                      <a:pt x="68" y="28"/>
                    </a:cubicBezTo>
                    <a:cubicBezTo>
                      <a:pt x="64" y="12"/>
                      <a:pt x="50" y="0"/>
                      <a:pt x="34" y="0"/>
                    </a:cubicBezTo>
                    <a:cubicBezTo>
                      <a:pt x="18" y="0"/>
                      <a:pt x="3" y="12"/>
                      <a:pt x="0" y="28"/>
                    </a:cubicBezTo>
                    <a:cubicBezTo>
                      <a:pt x="0" y="28"/>
                      <a:pt x="0" y="28"/>
                      <a:pt x="0" y="28"/>
                    </a:cubicBezTo>
                    <a:cubicBezTo>
                      <a:pt x="0" y="29"/>
                      <a:pt x="0" y="29"/>
                      <a:pt x="1" y="29"/>
                    </a:cubicBezTo>
                    <a:cubicBezTo>
                      <a:pt x="1" y="30"/>
                      <a:pt x="2" y="31"/>
                      <a:pt x="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sp>
            <p:nvSpPr>
              <p:cNvPr id="75" name="Freeform 26"/>
              <p:cNvSpPr/>
              <p:nvPr/>
            </p:nvSpPr>
            <p:spPr bwMode="auto">
              <a:xfrm>
                <a:off x="8394700" y="2773363"/>
                <a:ext cx="271463" cy="130175"/>
              </a:xfrm>
              <a:custGeom>
                <a:avLst/>
                <a:gdLst>
                  <a:gd name="T0" fmla="*/ 67 w 67"/>
                  <a:gd name="T1" fmla="*/ 3 h 31"/>
                  <a:gd name="T2" fmla="*/ 67 w 67"/>
                  <a:gd name="T3" fmla="*/ 3 h 31"/>
                  <a:gd name="T4" fmla="*/ 67 w 67"/>
                  <a:gd name="T5" fmla="*/ 2 h 31"/>
                  <a:gd name="T6" fmla="*/ 64 w 67"/>
                  <a:gd name="T7" fmla="*/ 1 h 31"/>
                  <a:gd name="T8" fmla="*/ 56 w 67"/>
                  <a:gd name="T9" fmla="*/ 4 h 31"/>
                  <a:gd name="T10" fmla="*/ 54 w 67"/>
                  <a:gd name="T11" fmla="*/ 7 h 31"/>
                  <a:gd name="T12" fmla="*/ 57 w 67"/>
                  <a:gd name="T13" fmla="*/ 9 h 31"/>
                  <a:gd name="T14" fmla="*/ 58 w 67"/>
                  <a:gd name="T15" fmla="*/ 9 h 31"/>
                  <a:gd name="T16" fmla="*/ 61 w 67"/>
                  <a:gd name="T17" fmla="*/ 7 h 31"/>
                  <a:gd name="T18" fmla="*/ 33 w 67"/>
                  <a:gd name="T19" fmla="*/ 27 h 31"/>
                  <a:gd name="T20" fmla="*/ 5 w 67"/>
                  <a:gd name="T21" fmla="*/ 3 h 31"/>
                  <a:gd name="T22" fmla="*/ 2 w 67"/>
                  <a:gd name="T23" fmla="*/ 1 h 31"/>
                  <a:gd name="T24" fmla="*/ 0 w 67"/>
                  <a:gd name="T25" fmla="*/ 4 h 31"/>
                  <a:gd name="T26" fmla="*/ 33 w 67"/>
                  <a:gd name="T27" fmla="*/ 31 h 31"/>
                  <a:gd name="T28" fmla="*/ 67 w 67"/>
                  <a:gd name="T29" fmla="*/ 4 h 31"/>
                  <a:gd name="T30" fmla="*/ 67 w 67"/>
                  <a:gd name="T31" fmla="*/ 4 h 31"/>
                  <a:gd name="T32" fmla="*/ 67 w 67"/>
                  <a:gd name="T33" fmla="*/ 3 h 31"/>
                  <a:gd name="T34" fmla="*/ 67 w 67"/>
                  <a:gd name="T35"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 h="31">
                    <a:moveTo>
                      <a:pt x="67" y="3"/>
                    </a:moveTo>
                    <a:cubicBezTo>
                      <a:pt x="67" y="3"/>
                      <a:pt x="67" y="3"/>
                      <a:pt x="67" y="3"/>
                    </a:cubicBezTo>
                    <a:cubicBezTo>
                      <a:pt x="67" y="2"/>
                      <a:pt x="67" y="2"/>
                      <a:pt x="67" y="2"/>
                    </a:cubicBezTo>
                    <a:cubicBezTo>
                      <a:pt x="66" y="1"/>
                      <a:pt x="65" y="0"/>
                      <a:pt x="64" y="1"/>
                    </a:cubicBezTo>
                    <a:cubicBezTo>
                      <a:pt x="56" y="4"/>
                      <a:pt x="56" y="4"/>
                      <a:pt x="56" y="4"/>
                    </a:cubicBezTo>
                    <a:cubicBezTo>
                      <a:pt x="55" y="5"/>
                      <a:pt x="54" y="6"/>
                      <a:pt x="54" y="7"/>
                    </a:cubicBezTo>
                    <a:cubicBezTo>
                      <a:pt x="54" y="8"/>
                      <a:pt x="55" y="9"/>
                      <a:pt x="57" y="9"/>
                    </a:cubicBezTo>
                    <a:cubicBezTo>
                      <a:pt x="57" y="9"/>
                      <a:pt x="57" y="9"/>
                      <a:pt x="58" y="9"/>
                    </a:cubicBezTo>
                    <a:cubicBezTo>
                      <a:pt x="61" y="7"/>
                      <a:pt x="61" y="7"/>
                      <a:pt x="61" y="7"/>
                    </a:cubicBezTo>
                    <a:cubicBezTo>
                      <a:pt x="57" y="19"/>
                      <a:pt x="46" y="27"/>
                      <a:pt x="33" y="27"/>
                    </a:cubicBezTo>
                    <a:cubicBezTo>
                      <a:pt x="19" y="27"/>
                      <a:pt x="7" y="17"/>
                      <a:pt x="5" y="3"/>
                    </a:cubicBezTo>
                    <a:cubicBezTo>
                      <a:pt x="4" y="2"/>
                      <a:pt x="3" y="1"/>
                      <a:pt x="2" y="1"/>
                    </a:cubicBezTo>
                    <a:cubicBezTo>
                      <a:pt x="0" y="1"/>
                      <a:pt x="0" y="3"/>
                      <a:pt x="0" y="4"/>
                    </a:cubicBezTo>
                    <a:cubicBezTo>
                      <a:pt x="3" y="20"/>
                      <a:pt x="17" y="31"/>
                      <a:pt x="33" y="31"/>
                    </a:cubicBezTo>
                    <a:cubicBezTo>
                      <a:pt x="50" y="31"/>
                      <a:pt x="64" y="20"/>
                      <a:pt x="67" y="4"/>
                    </a:cubicBezTo>
                    <a:cubicBezTo>
                      <a:pt x="67" y="4"/>
                      <a:pt x="67" y="4"/>
                      <a:pt x="67" y="4"/>
                    </a:cubicBezTo>
                    <a:cubicBezTo>
                      <a:pt x="67" y="4"/>
                      <a:pt x="67" y="3"/>
                      <a:pt x="67" y="3"/>
                    </a:cubicBezTo>
                    <a:cubicBezTo>
                      <a:pt x="67" y="3"/>
                      <a:pt x="67" y="3"/>
                      <a:pt x="6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grpSp>
      </p:grpSp>
      <p:grpSp>
        <p:nvGrpSpPr>
          <p:cNvPr id="46" name="组合 45"/>
          <p:cNvGrpSpPr/>
          <p:nvPr/>
        </p:nvGrpSpPr>
        <p:grpSpPr>
          <a:xfrm>
            <a:off x="5647995" y="1454933"/>
            <a:ext cx="1746276" cy="278710"/>
            <a:chOff x="8721" y="3328"/>
            <a:chExt cx="4129" cy="659"/>
          </a:xfrm>
        </p:grpSpPr>
        <p:sp>
          <p:nvSpPr>
            <p:cNvPr id="47" name="矩形 29"/>
            <p:cNvSpPr txBox="1"/>
            <p:nvPr>
              <p:custDataLst>
                <p:tags r:id="rId25"/>
              </p:custDataLst>
            </p:nvPr>
          </p:nvSpPr>
          <p:spPr>
            <a:xfrm>
              <a:off x="8744" y="3328"/>
              <a:ext cx="4106" cy="659"/>
            </a:xfrm>
            <a:prstGeom prst="rect">
              <a:avLst/>
            </a:prstGeom>
            <a:ln w="12700">
              <a:miter lim="400000"/>
            </a:ln>
          </p:spPr>
          <p:txBody>
            <a:bodyPr wrap="square" lIns="18931" tIns="18931" rIns="18931" bIns="18931">
              <a:spAutoFit/>
            </a:bodyPr>
            <a:lstStyle>
              <a:lvl1pPr>
                <a:lnSpc>
                  <a:spcPct val="130000"/>
                </a:lnSpc>
                <a:defRPr sz="2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pPr algn="ctr"/>
              <a:r>
                <a:rPr lang="zh-CN" altLang="en-US" sz="1332" b="1" dirty="0">
                  <a:solidFill>
                    <a:schemeClr val="tx1"/>
                  </a:solidFill>
                  <a:latin typeface="微软雅黑" panose="020B0503020204020204" pitchFamily="34" charset="-122"/>
                  <a:ea typeface="微软雅黑" panose="020B0503020204020204" pitchFamily="34" charset="-122"/>
                  <a:cs typeface="腾讯体 W7" panose="020C08030202040F0204" pitchFamily="34" charset="-122"/>
                </a:rPr>
                <a:t>基础大模型</a:t>
              </a:r>
            </a:p>
          </p:txBody>
        </p:sp>
        <p:grpSp>
          <p:nvGrpSpPr>
            <p:cNvPr id="48" name="组合 47"/>
            <p:cNvGrpSpPr/>
            <p:nvPr/>
          </p:nvGrpSpPr>
          <p:grpSpPr>
            <a:xfrm>
              <a:off x="8721" y="3413"/>
              <a:ext cx="728" cy="549"/>
              <a:chOff x="6465888" y="2620963"/>
              <a:chExt cx="363538" cy="274637"/>
            </a:xfrm>
            <a:solidFill>
              <a:schemeClr val="bg1"/>
            </a:solidFill>
          </p:grpSpPr>
          <p:sp>
            <p:nvSpPr>
              <p:cNvPr id="49" name="Freeform 6"/>
              <p:cNvSpPr>
                <a:spLocks noEditPoints="1"/>
              </p:cNvSpPr>
              <p:nvPr/>
            </p:nvSpPr>
            <p:spPr bwMode="auto">
              <a:xfrm>
                <a:off x="6465888" y="2620963"/>
                <a:ext cx="363538" cy="147638"/>
              </a:xfrm>
              <a:custGeom>
                <a:avLst/>
                <a:gdLst>
                  <a:gd name="T0" fmla="*/ 45 w 90"/>
                  <a:gd name="T1" fmla="*/ 35 h 35"/>
                  <a:gd name="T2" fmla="*/ 41 w 90"/>
                  <a:gd name="T3" fmla="*/ 35 h 35"/>
                  <a:gd name="T4" fmla="*/ 2 w 90"/>
                  <a:gd name="T5" fmla="*/ 20 h 35"/>
                  <a:gd name="T6" fmla="*/ 0 w 90"/>
                  <a:gd name="T7" fmla="*/ 18 h 35"/>
                  <a:gd name="T8" fmla="*/ 2 w 90"/>
                  <a:gd name="T9" fmla="*/ 15 h 35"/>
                  <a:gd name="T10" fmla="*/ 41 w 90"/>
                  <a:gd name="T11" fmla="*/ 1 h 35"/>
                  <a:gd name="T12" fmla="*/ 49 w 90"/>
                  <a:gd name="T13" fmla="*/ 1 h 35"/>
                  <a:gd name="T14" fmla="*/ 89 w 90"/>
                  <a:gd name="T15" fmla="*/ 15 h 35"/>
                  <a:gd name="T16" fmla="*/ 90 w 90"/>
                  <a:gd name="T17" fmla="*/ 18 h 35"/>
                  <a:gd name="T18" fmla="*/ 89 w 90"/>
                  <a:gd name="T19" fmla="*/ 20 h 35"/>
                  <a:gd name="T20" fmla="*/ 49 w 90"/>
                  <a:gd name="T21" fmla="*/ 35 h 35"/>
                  <a:gd name="T22" fmla="*/ 45 w 90"/>
                  <a:gd name="T23" fmla="*/ 35 h 35"/>
                  <a:gd name="T24" fmla="*/ 43 w 90"/>
                  <a:gd name="T25" fmla="*/ 30 h 35"/>
                  <a:gd name="T26" fmla="*/ 48 w 90"/>
                  <a:gd name="T27" fmla="*/ 30 h 35"/>
                  <a:gd name="T28" fmla="*/ 80 w 90"/>
                  <a:gd name="T29" fmla="*/ 18 h 35"/>
                  <a:gd name="T30" fmla="*/ 48 w 90"/>
                  <a:gd name="T31" fmla="*/ 6 h 35"/>
                  <a:gd name="T32" fmla="*/ 43 w 90"/>
                  <a:gd name="T33" fmla="*/ 6 h 35"/>
                  <a:gd name="T34" fmla="*/ 10 w 90"/>
                  <a:gd name="T35" fmla="*/ 18 h 35"/>
                  <a:gd name="T36" fmla="*/ 43 w 90"/>
                  <a:gd name="T37" fmla="*/ 3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0" h="35">
                    <a:moveTo>
                      <a:pt x="45" y="35"/>
                    </a:moveTo>
                    <a:cubicBezTo>
                      <a:pt x="44" y="35"/>
                      <a:pt x="42" y="35"/>
                      <a:pt x="41" y="35"/>
                    </a:cubicBezTo>
                    <a:cubicBezTo>
                      <a:pt x="2" y="20"/>
                      <a:pt x="2" y="20"/>
                      <a:pt x="2" y="20"/>
                    </a:cubicBezTo>
                    <a:cubicBezTo>
                      <a:pt x="1" y="20"/>
                      <a:pt x="0" y="19"/>
                      <a:pt x="0" y="18"/>
                    </a:cubicBezTo>
                    <a:cubicBezTo>
                      <a:pt x="0" y="17"/>
                      <a:pt x="1" y="16"/>
                      <a:pt x="2" y="15"/>
                    </a:cubicBezTo>
                    <a:cubicBezTo>
                      <a:pt x="41" y="1"/>
                      <a:pt x="41" y="1"/>
                      <a:pt x="41" y="1"/>
                    </a:cubicBezTo>
                    <a:cubicBezTo>
                      <a:pt x="44" y="0"/>
                      <a:pt x="47" y="0"/>
                      <a:pt x="49" y="1"/>
                    </a:cubicBezTo>
                    <a:cubicBezTo>
                      <a:pt x="89" y="15"/>
                      <a:pt x="89" y="15"/>
                      <a:pt x="89" y="15"/>
                    </a:cubicBezTo>
                    <a:cubicBezTo>
                      <a:pt x="90" y="16"/>
                      <a:pt x="90" y="17"/>
                      <a:pt x="90" y="18"/>
                    </a:cubicBezTo>
                    <a:cubicBezTo>
                      <a:pt x="90" y="19"/>
                      <a:pt x="90" y="20"/>
                      <a:pt x="89" y="20"/>
                    </a:cubicBezTo>
                    <a:cubicBezTo>
                      <a:pt x="49" y="35"/>
                      <a:pt x="49" y="35"/>
                      <a:pt x="49" y="35"/>
                    </a:cubicBezTo>
                    <a:cubicBezTo>
                      <a:pt x="48" y="35"/>
                      <a:pt x="47" y="35"/>
                      <a:pt x="45" y="35"/>
                    </a:cubicBezTo>
                    <a:close/>
                    <a:moveTo>
                      <a:pt x="43" y="30"/>
                    </a:moveTo>
                    <a:cubicBezTo>
                      <a:pt x="44" y="30"/>
                      <a:pt x="46" y="30"/>
                      <a:pt x="48" y="30"/>
                    </a:cubicBezTo>
                    <a:cubicBezTo>
                      <a:pt x="80" y="18"/>
                      <a:pt x="80" y="18"/>
                      <a:pt x="80" y="18"/>
                    </a:cubicBezTo>
                    <a:cubicBezTo>
                      <a:pt x="48" y="6"/>
                      <a:pt x="48" y="6"/>
                      <a:pt x="48" y="6"/>
                    </a:cubicBezTo>
                    <a:cubicBezTo>
                      <a:pt x="46" y="5"/>
                      <a:pt x="44" y="5"/>
                      <a:pt x="43" y="6"/>
                    </a:cubicBezTo>
                    <a:cubicBezTo>
                      <a:pt x="10" y="18"/>
                      <a:pt x="10" y="18"/>
                      <a:pt x="10" y="18"/>
                    </a:cubicBezTo>
                    <a:lnTo>
                      <a:pt x="43"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sp>
            <p:nvSpPr>
              <p:cNvPr id="50" name="Freeform 7"/>
              <p:cNvSpPr>
                <a:spLocks noEditPoints="1"/>
              </p:cNvSpPr>
              <p:nvPr/>
            </p:nvSpPr>
            <p:spPr bwMode="auto">
              <a:xfrm>
                <a:off x="6489700" y="2705100"/>
                <a:ext cx="271463" cy="190500"/>
              </a:xfrm>
              <a:custGeom>
                <a:avLst/>
                <a:gdLst>
                  <a:gd name="T0" fmla="*/ 39 w 67"/>
                  <a:gd name="T1" fmla="*/ 45 h 45"/>
                  <a:gd name="T2" fmla="*/ 21 w 67"/>
                  <a:gd name="T3" fmla="*/ 41 h 45"/>
                  <a:gd name="T4" fmla="*/ 11 w 67"/>
                  <a:gd name="T5" fmla="*/ 33 h 45"/>
                  <a:gd name="T6" fmla="*/ 11 w 67"/>
                  <a:gd name="T7" fmla="*/ 7 h 45"/>
                  <a:gd name="T8" fmla="*/ 14 w 67"/>
                  <a:gd name="T9" fmla="*/ 4 h 45"/>
                  <a:gd name="T10" fmla="*/ 16 w 67"/>
                  <a:gd name="T11" fmla="*/ 7 h 45"/>
                  <a:gd name="T12" fmla="*/ 16 w 67"/>
                  <a:gd name="T13" fmla="*/ 33 h 45"/>
                  <a:gd name="T14" fmla="*/ 39 w 67"/>
                  <a:gd name="T15" fmla="*/ 40 h 45"/>
                  <a:gd name="T16" fmla="*/ 62 w 67"/>
                  <a:gd name="T17" fmla="*/ 33 h 45"/>
                  <a:gd name="T18" fmla="*/ 62 w 67"/>
                  <a:gd name="T19" fmla="*/ 7 h 45"/>
                  <a:gd name="T20" fmla="*/ 65 w 67"/>
                  <a:gd name="T21" fmla="*/ 4 h 45"/>
                  <a:gd name="T22" fmla="*/ 67 w 67"/>
                  <a:gd name="T23" fmla="*/ 7 h 45"/>
                  <a:gd name="T24" fmla="*/ 67 w 67"/>
                  <a:gd name="T25" fmla="*/ 33 h 45"/>
                  <a:gd name="T26" fmla="*/ 58 w 67"/>
                  <a:gd name="T27" fmla="*/ 41 h 45"/>
                  <a:gd name="T28" fmla="*/ 39 w 67"/>
                  <a:gd name="T29" fmla="*/ 45 h 45"/>
                  <a:gd name="T30" fmla="*/ 2 w 67"/>
                  <a:gd name="T31" fmla="*/ 29 h 45"/>
                  <a:gd name="T32" fmla="*/ 0 w 67"/>
                  <a:gd name="T33" fmla="*/ 27 h 45"/>
                  <a:gd name="T34" fmla="*/ 0 w 67"/>
                  <a:gd name="T35" fmla="*/ 2 h 45"/>
                  <a:gd name="T36" fmla="*/ 2 w 67"/>
                  <a:gd name="T37" fmla="*/ 0 h 45"/>
                  <a:gd name="T38" fmla="*/ 4 w 67"/>
                  <a:gd name="T39" fmla="*/ 2 h 45"/>
                  <a:gd name="T40" fmla="*/ 4 w 67"/>
                  <a:gd name="T41" fmla="*/ 27 h 45"/>
                  <a:gd name="T42" fmla="*/ 2 w 67"/>
                  <a:gd name="T43"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7" h="45">
                    <a:moveTo>
                      <a:pt x="39" y="45"/>
                    </a:moveTo>
                    <a:cubicBezTo>
                      <a:pt x="31" y="45"/>
                      <a:pt x="24" y="43"/>
                      <a:pt x="21" y="41"/>
                    </a:cubicBezTo>
                    <a:cubicBezTo>
                      <a:pt x="16" y="39"/>
                      <a:pt x="11" y="36"/>
                      <a:pt x="11" y="33"/>
                    </a:cubicBezTo>
                    <a:cubicBezTo>
                      <a:pt x="11" y="7"/>
                      <a:pt x="11" y="7"/>
                      <a:pt x="11" y="7"/>
                    </a:cubicBezTo>
                    <a:cubicBezTo>
                      <a:pt x="11" y="5"/>
                      <a:pt x="12" y="4"/>
                      <a:pt x="14" y="4"/>
                    </a:cubicBezTo>
                    <a:cubicBezTo>
                      <a:pt x="15" y="4"/>
                      <a:pt x="16" y="5"/>
                      <a:pt x="16" y="7"/>
                    </a:cubicBezTo>
                    <a:cubicBezTo>
                      <a:pt x="16" y="33"/>
                      <a:pt x="16" y="33"/>
                      <a:pt x="16" y="33"/>
                    </a:cubicBezTo>
                    <a:cubicBezTo>
                      <a:pt x="18" y="34"/>
                      <a:pt x="28" y="40"/>
                      <a:pt x="39" y="40"/>
                    </a:cubicBezTo>
                    <a:cubicBezTo>
                      <a:pt x="50" y="40"/>
                      <a:pt x="61" y="34"/>
                      <a:pt x="62" y="33"/>
                    </a:cubicBezTo>
                    <a:cubicBezTo>
                      <a:pt x="62" y="7"/>
                      <a:pt x="62" y="7"/>
                      <a:pt x="62" y="7"/>
                    </a:cubicBezTo>
                    <a:cubicBezTo>
                      <a:pt x="62" y="5"/>
                      <a:pt x="63" y="4"/>
                      <a:pt x="65" y="4"/>
                    </a:cubicBezTo>
                    <a:cubicBezTo>
                      <a:pt x="66" y="4"/>
                      <a:pt x="67" y="5"/>
                      <a:pt x="67" y="7"/>
                    </a:cubicBezTo>
                    <a:cubicBezTo>
                      <a:pt x="67" y="33"/>
                      <a:pt x="67" y="33"/>
                      <a:pt x="67" y="33"/>
                    </a:cubicBezTo>
                    <a:cubicBezTo>
                      <a:pt x="67" y="36"/>
                      <a:pt x="62" y="39"/>
                      <a:pt x="58" y="41"/>
                    </a:cubicBezTo>
                    <a:cubicBezTo>
                      <a:pt x="54" y="43"/>
                      <a:pt x="47" y="45"/>
                      <a:pt x="39" y="45"/>
                    </a:cubicBezTo>
                    <a:close/>
                    <a:moveTo>
                      <a:pt x="2" y="29"/>
                    </a:moveTo>
                    <a:cubicBezTo>
                      <a:pt x="1" y="29"/>
                      <a:pt x="0" y="28"/>
                      <a:pt x="0" y="27"/>
                    </a:cubicBezTo>
                    <a:cubicBezTo>
                      <a:pt x="0" y="2"/>
                      <a:pt x="0" y="2"/>
                      <a:pt x="0" y="2"/>
                    </a:cubicBezTo>
                    <a:cubicBezTo>
                      <a:pt x="0" y="1"/>
                      <a:pt x="1" y="0"/>
                      <a:pt x="2" y="0"/>
                    </a:cubicBezTo>
                    <a:cubicBezTo>
                      <a:pt x="3" y="0"/>
                      <a:pt x="4" y="1"/>
                      <a:pt x="4" y="2"/>
                    </a:cubicBezTo>
                    <a:cubicBezTo>
                      <a:pt x="4" y="27"/>
                      <a:pt x="4" y="27"/>
                      <a:pt x="4" y="27"/>
                    </a:cubicBezTo>
                    <a:cubicBezTo>
                      <a:pt x="4" y="28"/>
                      <a:pt x="3" y="29"/>
                      <a:pt x="2"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sp>
            <p:nvSpPr>
              <p:cNvPr id="51" name="Freeform 8"/>
              <p:cNvSpPr/>
              <p:nvPr/>
            </p:nvSpPr>
            <p:spPr bwMode="auto">
              <a:xfrm>
                <a:off x="6481763" y="2679700"/>
                <a:ext cx="31750" cy="34925"/>
              </a:xfrm>
              <a:custGeom>
                <a:avLst/>
                <a:gdLst>
                  <a:gd name="T0" fmla="*/ 0 w 8"/>
                  <a:gd name="T1" fmla="*/ 4 h 8"/>
                  <a:gd name="T2" fmla="*/ 4 w 8"/>
                  <a:gd name="T3" fmla="*/ 8 h 8"/>
                  <a:gd name="T4" fmla="*/ 8 w 8"/>
                  <a:gd name="T5" fmla="*/ 4 h 8"/>
                  <a:gd name="T6" fmla="*/ 8 w 8"/>
                  <a:gd name="T7" fmla="*/ 4 h 8"/>
                  <a:gd name="T8" fmla="*/ 4 w 8"/>
                  <a:gd name="T9" fmla="*/ 0 h 8"/>
                  <a:gd name="T10" fmla="*/ 0 w 8"/>
                  <a:gd name="T11" fmla="*/ 4 h 8"/>
                </a:gdLst>
                <a:ahLst/>
                <a:cxnLst>
                  <a:cxn ang="0">
                    <a:pos x="T0" y="T1"/>
                  </a:cxn>
                  <a:cxn ang="0">
                    <a:pos x="T2" y="T3"/>
                  </a:cxn>
                  <a:cxn ang="0">
                    <a:pos x="T4" y="T5"/>
                  </a:cxn>
                  <a:cxn ang="0">
                    <a:pos x="T6" y="T7"/>
                  </a:cxn>
                  <a:cxn ang="0">
                    <a:pos x="T8" y="T9"/>
                  </a:cxn>
                  <a:cxn ang="0">
                    <a:pos x="T10" y="T11"/>
                  </a:cxn>
                </a:cxnLst>
                <a:rect l="0" t="0" r="r" b="b"/>
                <a:pathLst>
                  <a:path w="8" h="8">
                    <a:moveTo>
                      <a:pt x="0" y="4"/>
                    </a:moveTo>
                    <a:cubicBezTo>
                      <a:pt x="0" y="6"/>
                      <a:pt x="2" y="8"/>
                      <a:pt x="4" y="8"/>
                    </a:cubicBezTo>
                    <a:cubicBezTo>
                      <a:pt x="6" y="8"/>
                      <a:pt x="8" y="6"/>
                      <a:pt x="8" y="4"/>
                    </a:cubicBezTo>
                    <a:cubicBezTo>
                      <a:pt x="8" y="4"/>
                      <a:pt x="8" y="4"/>
                      <a:pt x="8" y="4"/>
                    </a:cubicBezTo>
                    <a:cubicBezTo>
                      <a:pt x="8" y="1"/>
                      <a:pt x="6" y="0"/>
                      <a:pt x="4"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grpSp>
      </p:grpSp>
      <p:grpSp>
        <p:nvGrpSpPr>
          <p:cNvPr id="5" name="组合 4"/>
          <p:cNvGrpSpPr/>
          <p:nvPr/>
        </p:nvGrpSpPr>
        <p:grpSpPr>
          <a:xfrm>
            <a:off x="9126422" y="1407935"/>
            <a:ext cx="1753044" cy="295901"/>
            <a:chOff x="7361555" y="2200500"/>
            <a:chExt cx="2632077" cy="444275"/>
          </a:xfrm>
        </p:grpSpPr>
        <p:sp>
          <p:nvSpPr>
            <p:cNvPr id="52" name="矩形 29"/>
            <p:cNvSpPr txBox="1"/>
            <p:nvPr>
              <p:custDataLst>
                <p:tags r:id="rId24"/>
              </p:custDataLst>
            </p:nvPr>
          </p:nvSpPr>
          <p:spPr>
            <a:xfrm>
              <a:off x="7386323" y="2200500"/>
              <a:ext cx="2607309" cy="418519"/>
            </a:xfrm>
            <a:prstGeom prst="rect">
              <a:avLst/>
            </a:prstGeom>
            <a:ln w="12700">
              <a:miter lim="400000"/>
            </a:ln>
          </p:spPr>
          <p:txBody>
            <a:bodyPr wrap="square" lIns="18931" tIns="18931" rIns="18931" bIns="18931">
              <a:spAutoFit/>
            </a:bodyPr>
            <a:lstStyle>
              <a:lvl1pPr>
                <a:lnSpc>
                  <a:spcPct val="130000"/>
                </a:lnSpc>
                <a:defRPr sz="2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pPr algn="ctr"/>
              <a:r>
                <a:rPr lang="zh-CN" altLang="en-US" sz="1332" b="1" dirty="0">
                  <a:solidFill>
                    <a:schemeClr val="tx1"/>
                  </a:solidFill>
                  <a:latin typeface="微软雅黑" panose="020B0503020204020204" pitchFamily="34" charset="-122"/>
                  <a:ea typeface="微软雅黑" panose="020B0503020204020204" pitchFamily="34" charset="-122"/>
                  <a:cs typeface="腾讯体 W7" panose="020C08030202040F0204" pitchFamily="34" charset="-122"/>
                </a:rPr>
                <a:t>检索增强生成</a:t>
              </a:r>
            </a:p>
          </p:txBody>
        </p:sp>
        <p:grpSp>
          <p:nvGrpSpPr>
            <p:cNvPr id="56" name="组合 55"/>
            <p:cNvGrpSpPr/>
            <p:nvPr/>
          </p:nvGrpSpPr>
          <p:grpSpPr>
            <a:xfrm>
              <a:off x="7361555" y="2221230"/>
              <a:ext cx="401955" cy="423545"/>
              <a:chOff x="8389938" y="2613025"/>
              <a:chExt cx="276225" cy="290513"/>
            </a:xfrm>
            <a:solidFill>
              <a:schemeClr val="bg1"/>
            </a:solidFill>
          </p:grpSpPr>
          <p:sp>
            <p:nvSpPr>
              <p:cNvPr id="57" name="Freeform 24"/>
              <p:cNvSpPr/>
              <p:nvPr/>
            </p:nvSpPr>
            <p:spPr bwMode="auto">
              <a:xfrm>
                <a:off x="8470900" y="2679700"/>
                <a:ext cx="117475" cy="165100"/>
              </a:xfrm>
              <a:custGeom>
                <a:avLst/>
                <a:gdLst>
                  <a:gd name="T0" fmla="*/ 28 w 29"/>
                  <a:gd name="T1" fmla="*/ 4 h 39"/>
                  <a:gd name="T2" fmla="*/ 28 w 29"/>
                  <a:gd name="T3" fmla="*/ 1 h 39"/>
                  <a:gd name="T4" fmla="*/ 25 w 29"/>
                  <a:gd name="T5" fmla="*/ 1 h 39"/>
                  <a:gd name="T6" fmla="*/ 14 w 29"/>
                  <a:gd name="T7" fmla="*/ 11 h 39"/>
                  <a:gd name="T8" fmla="*/ 4 w 29"/>
                  <a:gd name="T9" fmla="*/ 1 h 39"/>
                  <a:gd name="T10" fmla="*/ 4 w 29"/>
                  <a:gd name="T11" fmla="*/ 1 h 39"/>
                  <a:gd name="T12" fmla="*/ 0 w 29"/>
                  <a:gd name="T13" fmla="*/ 1 h 39"/>
                  <a:gd name="T14" fmla="*/ 0 w 29"/>
                  <a:gd name="T15" fmla="*/ 4 h 39"/>
                  <a:gd name="T16" fmla="*/ 9 w 29"/>
                  <a:gd name="T17" fmla="*/ 13 h 39"/>
                  <a:gd name="T18" fmla="*/ 2 w 29"/>
                  <a:gd name="T19" fmla="*/ 13 h 39"/>
                  <a:gd name="T20" fmla="*/ 0 w 29"/>
                  <a:gd name="T21" fmla="*/ 15 h 39"/>
                  <a:gd name="T22" fmla="*/ 2 w 29"/>
                  <a:gd name="T23" fmla="*/ 17 h 39"/>
                  <a:gd name="T24" fmla="*/ 12 w 29"/>
                  <a:gd name="T25" fmla="*/ 17 h 39"/>
                  <a:gd name="T26" fmla="*/ 12 w 29"/>
                  <a:gd name="T27" fmla="*/ 23 h 39"/>
                  <a:gd name="T28" fmla="*/ 2 w 29"/>
                  <a:gd name="T29" fmla="*/ 23 h 39"/>
                  <a:gd name="T30" fmla="*/ 0 w 29"/>
                  <a:gd name="T31" fmla="*/ 25 h 39"/>
                  <a:gd name="T32" fmla="*/ 2 w 29"/>
                  <a:gd name="T33" fmla="*/ 28 h 39"/>
                  <a:gd name="T34" fmla="*/ 12 w 29"/>
                  <a:gd name="T35" fmla="*/ 28 h 39"/>
                  <a:gd name="T36" fmla="*/ 12 w 29"/>
                  <a:gd name="T37" fmla="*/ 37 h 39"/>
                  <a:gd name="T38" fmla="*/ 14 w 29"/>
                  <a:gd name="T39" fmla="*/ 39 h 39"/>
                  <a:gd name="T40" fmla="*/ 16 w 29"/>
                  <a:gd name="T41" fmla="*/ 37 h 39"/>
                  <a:gd name="T42" fmla="*/ 16 w 29"/>
                  <a:gd name="T43" fmla="*/ 28 h 39"/>
                  <a:gd name="T44" fmla="*/ 25 w 29"/>
                  <a:gd name="T45" fmla="*/ 28 h 39"/>
                  <a:gd name="T46" fmla="*/ 27 w 29"/>
                  <a:gd name="T47" fmla="*/ 25 h 39"/>
                  <a:gd name="T48" fmla="*/ 25 w 29"/>
                  <a:gd name="T49" fmla="*/ 23 h 39"/>
                  <a:gd name="T50" fmla="*/ 16 w 29"/>
                  <a:gd name="T51" fmla="*/ 23 h 39"/>
                  <a:gd name="T52" fmla="*/ 16 w 29"/>
                  <a:gd name="T53" fmla="*/ 17 h 39"/>
                  <a:gd name="T54" fmla="*/ 25 w 29"/>
                  <a:gd name="T55" fmla="*/ 17 h 39"/>
                  <a:gd name="T56" fmla="*/ 27 w 29"/>
                  <a:gd name="T57" fmla="*/ 15 h 39"/>
                  <a:gd name="T58" fmla="*/ 25 w 29"/>
                  <a:gd name="T59" fmla="*/ 13 h 39"/>
                  <a:gd name="T60" fmla="*/ 19 w 29"/>
                  <a:gd name="T61" fmla="*/ 13 h 39"/>
                  <a:gd name="T62" fmla="*/ 28 w 29"/>
                  <a:gd name="T63" fmla="*/ 4 h 39"/>
                  <a:gd name="T64" fmla="*/ 28 w 29"/>
                  <a:gd name="T65"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 h="39">
                    <a:moveTo>
                      <a:pt x="28" y="4"/>
                    </a:moveTo>
                    <a:cubicBezTo>
                      <a:pt x="29" y="3"/>
                      <a:pt x="29" y="2"/>
                      <a:pt x="28" y="1"/>
                    </a:cubicBezTo>
                    <a:cubicBezTo>
                      <a:pt x="27" y="0"/>
                      <a:pt x="25" y="0"/>
                      <a:pt x="25" y="1"/>
                    </a:cubicBezTo>
                    <a:cubicBezTo>
                      <a:pt x="14" y="11"/>
                      <a:pt x="14" y="11"/>
                      <a:pt x="14" y="11"/>
                    </a:cubicBezTo>
                    <a:cubicBezTo>
                      <a:pt x="4" y="1"/>
                      <a:pt x="4" y="1"/>
                      <a:pt x="4" y="1"/>
                    </a:cubicBezTo>
                    <a:cubicBezTo>
                      <a:pt x="4" y="1"/>
                      <a:pt x="4" y="1"/>
                      <a:pt x="4" y="1"/>
                    </a:cubicBezTo>
                    <a:cubicBezTo>
                      <a:pt x="3" y="0"/>
                      <a:pt x="1" y="0"/>
                      <a:pt x="0" y="1"/>
                    </a:cubicBezTo>
                    <a:cubicBezTo>
                      <a:pt x="0" y="2"/>
                      <a:pt x="0" y="3"/>
                      <a:pt x="0" y="4"/>
                    </a:cubicBezTo>
                    <a:cubicBezTo>
                      <a:pt x="9" y="13"/>
                      <a:pt x="9" y="13"/>
                      <a:pt x="9" y="13"/>
                    </a:cubicBezTo>
                    <a:cubicBezTo>
                      <a:pt x="2" y="13"/>
                      <a:pt x="2" y="13"/>
                      <a:pt x="2" y="13"/>
                    </a:cubicBezTo>
                    <a:cubicBezTo>
                      <a:pt x="1" y="13"/>
                      <a:pt x="0" y="14"/>
                      <a:pt x="0" y="15"/>
                    </a:cubicBezTo>
                    <a:cubicBezTo>
                      <a:pt x="0" y="16"/>
                      <a:pt x="1" y="17"/>
                      <a:pt x="2" y="17"/>
                    </a:cubicBezTo>
                    <a:cubicBezTo>
                      <a:pt x="12" y="17"/>
                      <a:pt x="12" y="17"/>
                      <a:pt x="12" y="17"/>
                    </a:cubicBezTo>
                    <a:cubicBezTo>
                      <a:pt x="12" y="23"/>
                      <a:pt x="12" y="23"/>
                      <a:pt x="12" y="23"/>
                    </a:cubicBezTo>
                    <a:cubicBezTo>
                      <a:pt x="2" y="23"/>
                      <a:pt x="2" y="23"/>
                      <a:pt x="2" y="23"/>
                    </a:cubicBezTo>
                    <a:cubicBezTo>
                      <a:pt x="1" y="23"/>
                      <a:pt x="0" y="24"/>
                      <a:pt x="0" y="25"/>
                    </a:cubicBezTo>
                    <a:cubicBezTo>
                      <a:pt x="0" y="27"/>
                      <a:pt x="1" y="28"/>
                      <a:pt x="2" y="28"/>
                    </a:cubicBezTo>
                    <a:cubicBezTo>
                      <a:pt x="12" y="28"/>
                      <a:pt x="12" y="28"/>
                      <a:pt x="12" y="28"/>
                    </a:cubicBezTo>
                    <a:cubicBezTo>
                      <a:pt x="12" y="37"/>
                      <a:pt x="12" y="37"/>
                      <a:pt x="12" y="37"/>
                    </a:cubicBezTo>
                    <a:cubicBezTo>
                      <a:pt x="12" y="38"/>
                      <a:pt x="13" y="39"/>
                      <a:pt x="14" y="39"/>
                    </a:cubicBezTo>
                    <a:cubicBezTo>
                      <a:pt x="15" y="39"/>
                      <a:pt x="16" y="38"/>
                      <a:pt x="16" y="37"/>
                    </a:cubicBezTo>
                    <a:cubicBezTo>
                      <a:pt x="16" y="28"/>
                      <a:pt x="16" y="28"/>
                      <a:pt x="16" y="28"/>
                    </a:cubicBezTo>
                    <a:cubicBezTo>
                      <a:pt x="25" y="28"/>
                      <a:pt x="25" y="28"/>
                      <a:pt x="25" y="28"/>
                    </a:cubicBezTo>
                    <a:cubicBezTo>
                      <a:pt x="26" y="28"/>
                      <a:pt x="27" y="27"/>
                      <a:pt x="27" y="25"/>
                    </a:cubicBezTo>
                    <a:cubicBezTo>
                      <a:pt x="27" y="24"/>
                      <a:pt x="26" y="23"/>
                      <a:pt x="25" y="23"/>
                    </a:cubicBezTo>
                    <a:cubicBezTo>
                      <a:pt x="16" y="23"/>
                      <a:pt x="16" y="23"/>
                      <a:pt x="16" y="23"/>
                    </a:cubicBezTo>
                    <a:cubicBezTo>
                      <a:pt x="16" y="17"/>
                      <a:pt x="16" y="17"/>
                      <a:pt x="16" y="17"/>
                    </a:cubicBezTo>
                    <a:cubicBezTo>
                      <a:pt x="25" y="17"/>
                      <a:pt x="25" y="17"/>
                      <a:pt x="25" y="17"/>
                    </a:cubicBezTo>
                    <a:cubicBezTo>
                      <a:pt x="26" y="17"/>
                      <a:pt x="27" y="16"/>
                      <a:pt x="27" y="15"/>
                    </a:cubicBezTo>
                    <a:cubicBezTo>
                      <a:pt x="27" y="14"/>
                      <a:pt x="26" y="13"/>
                      <a:pt x="25" y="13"/>
                    </a:cubicBezTo>
                    <a:cubicBezTo>
                      <a:pt x="19" y="13"/>
                      <a:pt x="19" y="13"/>
                      <a:pt x="19" y="13"/>
                    </a:cubicBezTo>
                    <a:cubicBezTo>
                      <a:pt x="28" y="4"/>
                      <a:pt x="28" y="4"/>
                      <a:pt x="28" y="4"/>
                    </a:cubicBezTo>
                    <a:cubicBezTo>
                      <a:pt x="28" y="4"/>
                      <a:pt x="28" y="4"/>
                      <a:pt x="2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sp>
            <p:nvSpPr>
              <p:cNvPr id="58" name="Freeform 25"/>
              <p:cNvSpPr/>
              <p:nvPr/>
            </p:nvSpPr>
            <p:spPr bwMode="auto">
              <a:xfrm>
                <a:off x="8389938" y="2613025"/>
                <a:ext cx="276225" cy="130175"/>
              </a:xfrm>
              <a:custGeom>
                <a:avLst/>
                <a:gdLst>
                  <a:gd name="T0" fmla="*/ 3 w 68"/>
                  <a:gd name="T1" fmla="*/ 31 h 31"/>
                  <a:gd name="T2" fmla="*/ 4 w 68"/>
                  <a:gd name="T3" fmla="*/ 31 h 31"/>
                  <a:gd name="T4" fmla="*/ 12 w 68"/>
                  <a:gd name="T5" fmla="*/ 27 h 31"/>
                  <a:gd name="T6" fmla="*/ 12 w 68"/>
                  <a:gd name="T7" fmla="*/ 27 h 31"/>
                  <a:gd name="T8" fmla="*/ 13 w 68"/>
                  <a:gd name="T9" fmla="*/ 24 h 31"/>
                  <a:gd name="T10" fmla="*/ 10 w 68"/>
                  <a:gd name="T11" fmla="*/ 23 h 31"/>
                  <a:gd name="T12" fmla="*/ 6 w 68"/>
                  <a:gd name="T13" fmla="*/ 24 h 31"/>
                  <a:gd name="T14" fmla="*/ 34 w 68"/>
                  <a:gd name="T15" fmla="*/ 5 h 31"/>
                  <a:gd name="T16" fmla="*/ 63 w 68"/>
                  <a:gd name="T17" fmla="*/ 29 h 31"/>
                  <a:gd name="T18" fmla="*/ 66 w 68"/>
                  <a:gd name="T19" fmla="*/ 30 h 31"/>
                  <a:gd name="T20" fmla="*/ 68 w 68"/>
                  <a:gd name="T21" fmla="*/ 28 h 31"/>
                  <a:gd name="T22" fmla="*/ 34 w 68"/>
                  <a:gd name="T23" fmla="*/ 0 h 31"/>
                  <a:gd name="T24" fmla="*/ 0 w 68"/>
                  <a:gd name="T25" fmla="*/ 28 h 31"/>
                  <a:gd name="T26" fmla="*/ 0 w 68"/>
                  <a:gd name="T27" fmla="*/ 28 h 31"/>
                  <a:gd name="T28" fmla="*/ 1 w 68"/>
                  <a:gd name="T29" fmla="*/ 29 h 31"/>
                  <a:gd name="T30" fmla="*/ 3 w 68"/>
                  <a:gd name="T31"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8" h="31">
                    <a:moveTo>
                      <a:pt x="3" y="31"/>
                    </a:moveTo>
                    <a:cubicBezTo>
                      <a:pt x="3" y="31"/>
                      <a:pt x="3" y="31"/>
                      <a:pt x="4" y="31"/>
                    </a:cubicBezTo>
                    <a:cubicBezTo>
                      <a:pt x="12" y="27"/>
                      <a:pt x="12" y="27"/>
                      <a:pt x="12" y="27"/>
                    </a:cubicBezTo>
                    <a:cubicBezTo>
                      <a:pt x="12" y="27"/>
                      <a:pt x="12" y="27"/>
                      <a:pt x="12" y="27"/>
                    </a:cubicBezTo>
                    <a:cubicBezTo>
                      <a:pt x="13" y="27"/>
                      <a:pt x="14" y="25"/>
                      <a:pt x="13" y="24"/>
                    </a:cubicBezTo>
                    <a:cubicBezTo>
                      <a:pt x="13" y="23"/>
                      <a:pt x="11" y="22"/>
                      <a:pt x="10" y="23"/>
                    </a:cubicBezTo>
                    <a:cubicBezTo>
                      <a:pt x="6" y="24"/>
                      <a:pt x="6" y="24"/>
                      <a:pt x="6" y="24"/>
                    </a:cubicBezTo>
                    <a:cubicBezTo>
                      <a:pt x="11" y="13"/>
                      <a:pt x="22" y="5"/>
                      <a:pt x="34" y="5"/>
                    </a:cubicBezTo>
                    <a:cubicBezTo>
                      <a:pt x="48" y="5"/>
                      <a:pt x="60" y="15"/>
                      <a:pt x="63" y="29"/>
                    </a:cubicBezTo>
                    <a:cubicBezTo>
                      <a:pt x="63" y="30"/>
                      <a:pt x="64" y="31"/>
                      <a:pt x="66" y="30"/>
                    </a:cubicBezTo>
                    <a:cubicBezTo>
                      <a:pt x="67" y="30"/>
                      <a:pt x="68" y="29"/>
                      <a:pt x="68" y="28"/>
                    </a:cubicBezTo>
                    <a:cubicBezTo>
                      <a:pt x="64" y="12"/>
                      <a:pt x="50" y="0"/>
                      <a:pt x="34" y="0"/>
                    </a:cubicBezTo>
                    <a:cubicBezTo>
                      <a:pt x="18" y="0"/>
                      <a:pt x="3" y="12"/>
                      <a:pt x="0" y="28"/>
                    </a:cubicBezTo>
                    <a:cubicBezTo>
                      <a:pt x="0" y="28"/>
                      <a:pt x="0" y="28"/>
                      <a:pt x="0" y="28"/>
                    </a:cubicBezTo>
                    <a:cubicBezTo>
                      <a:pt x="0" y="29"/>
                      <a:pt x="0" y="29"/>
                      <a:pt x="1" y="29"/>
                    </a:cubicBezTo>
                    <a:cubicBezTo>
                      <a:pt x="1" y="30"/>
                      <a:pt x="2" y="31"/>
                      <a:pt x="3"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sp>
            <p:nvSpPr>
              <p:cNvPr id="59" name="Freeform 26"/>
              <p:cNvSpPr/>
              <p:nvPr/>
            </p:nvSpPr>
            <p:spPr bwMode="auto">
              <a:xfrm>
                <a:off x="8394700" y="2773363"/>
                <a:ext cx="271463" cy="130175"/>
              </a:xfrm>
              <a:custGeom>
                <a:avLst/>
                <a:gdLst>
                  <a:gd name="T0" fmla="*/ 67 w 67"/>
                  <a:gd name="T1" fmla="*/ 3 h 31"/>
                  <a:gd name="T2" fmla="*/ 67 w 67"/>
                  <a:gd name="T3" fmla="*/ 3 h 31"/>
                  <a:gd name="T4" fmla="*/ 67 w 67"/>
                  <a:gd name="T5" fmla="*/ 2 h 31"/>
                  <a:gd name="T6" fmla="*/ 64 w 67"/>
                  <a:gd name="T7" fmla="*/ 1 h 31"/>
                  <a:gd name="T8" fmla="*/ 56 w 67"/>
                  <a:gd name="T9" fmla="*/ 4 h 31"/>
                  <a:gd name="T10" fmla="*/ 54 w 67"/>
                  <a:gd name="T11" fmla="*/ 7 h 31"/>
                  <a:gd name="T12" fmla="*/ 57 w 67"/>
                  <a:gd name="T13" fmla="*/ 9 h 31"/>
                  <a:gd name="T14" fmla="*/ 58 w 67"/>
                  <a:gd name="T15" fmla="*/ 9 h 31"/>
                  <a:gd name="T16" fmla="*/ 61 w 67"/>
                  <a:gd name="T17" fmla="*/ 7 h 31"/>
                  <a:gd name="T18" fmla="*/ 33 w 67"/>
                  <a:gd name="T19" fmla="*/ 27 h 31"/>
                  <a:gd name="T20" fmla="*/ 5 w 67"/>
                  <a:gd name="T21" fmla="*/ 3 h 31"/>
                  <a:gd name="T22" fmla="*/ 2 w 67"/>
                  <a:gd name="T23" fmla="*/ 1 h 31"/>
                  <a:gd name="T24" fmla="*/ 0 w 67"/>
                  <a:gd name="T25" fmla="*/ 4 h 31"/>
                  <a:gd name="T26" fmla="*/ 33 w 67"/>
                  <a:gd name="T27" fmla="*/ 31 h 31"/>
                  <a:gd name="T28" fmla="*/ 67 w 67"/>
                  <a:gd name="T29" fmla="*/ 4 h 31"/>
                  <a:gd name="T30" fmla="*/ 67 w 67"/>
                  <a:gd name="T31" fmla="*/ 4 h 31"/>
                  <a:gd name="T32" fmla="*/ 67 w 67"/>
                  <a:gd name="T33" fmla="*/ 3 h 31"/>
                  <a:gd name="T34" fmla="*/ 67 w 67"/>
                  <a:gd name="T35"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7" h="31">
                    <a:moveTo>
                      <a:pt x="67" y="3"/>
                    </a:moveTo>
                    <a:cubicBezTo>
                      <a:pt x="67" y="3"/>
                      <a:pt x="67" y="3"/>
                      <a:pt x="67" y="3"/>
                    </a:cubicBezTo>
                    <a:cubicBezTo>
                      <a:pt x="67" y="2"/>
                      <a:pt x="67" y="2"/>
                      <a:pt x="67" y="2"/>
                    </a:cubicBezTo>
                    <a:cubicBezTo>
                      <a:pt x="66" y="1"/>
                      <a:pt x="65" y="0"/>
                      <a:pt x="64" y="1"/>
                    </a:cubicBezTo>
                    <a:cubicBezTo>
                      <a:pt x="56" y="4"/>
                      <a:pt x="56" y="4"/>
                      <a:pt x="56" y="4"/>
                    </a:cubicBezTo>
                    <a:cubicBezTo>
                      <a:pt x="55" y="5"/>
                      <a:pt x="54" y="6"/>
                      <a:pt x="54" y="7"/>
                    </a:cubicBezTo>
                    <a:cubicBezTo>
                      <a:pt x="54" y="8"/>
                      <a:pt x="55" y="9"/>
                      <a:pt x="57" y="9"/>
                    </a:cubicBezTo>
                    <a:cubicBezTo>
                      <a:pt x="57" y="9"/>
                      <a:pt x="57" y="9"/>
                      <a:pt x="58" y="9"/>
                    </a:cubicBezTo>
                    <a:cubicBezTo>
                      <a:pt x="61" y="7"/>
                      <a:pt x="61" y="7"/>
                      <a:pt x="61" y="7"/>
                    </a:cubicBezTo>
                    <a:cubicBezTo>
                      <a:pt x="57" y="19"/>
                      <a:pt x="46" y="27"/>
                      <a:pt x="33" y="27"/>
                    </a:cubicBezTo>
                    <a:cubicBezTo>
                      <a:pt x="19" y="27"/>
                      <a:pt x="7" y="17"/>
                      <a:pt x="5" y="3"/>
                    </a:cubicBezTo>
                    <a:cubicBezTo>
                      <a:pt x="4" y="2"/>
                      <a:pt x="3" y="1"/>
                      <a:pt x="2" y="1"/>
                    </a:cubicBezTo>
                    <a:cubicBezTo>
                      <a:pt x="0" y="1"/>
                      <a:pt x="0" y="3"/>
                      <a:pt x="0" y="4"/>
                    </a:cubicBezTo>
                    <a:cubicBezTo>
                      <a:pt x="3" y="20"/>
                      <a:pt x="17" y="31"/>
                      <a:pt x="33" y="31"/>
                    </a:cubicBezTo>
                    <a:cubicBezTo>
                      <a:pt x="50" y="31"/>
                      <a:pt x="64" y="20"/>
                      <a:pt x="67" y="4"/>
                    </a:cubicBezTo>
                    <a:cubicBezTo>
                      <a:pt x="67" y="4"/>
                      <a:pt x="67" y="4"/>
                      <a:pt x="67" y="4"/>
                    </a:cubicBezTo>
                    <a:cubicBezTo>
                      <a:pt x="67" y="4"/>
                      <a:pt x="67" y="3"/>
                      <a:pt x="67" y="3"/>
                    </a:cubicBezTo>
                    <a:cubicBezTo>
                      <a:pt x="67" y="3"/>
                      <a:pt x="67" y="3"/>
                      <a:pt x="67"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grpSp>
      </p:grpSp>
      <p:sp>
        <p:nvSpPr>
          <p:cNvPr id="27" name="矩形: 圆角 20"/>
          <p:cNvSpPr/>
          <p:nvPr>
            <p:custDataLst>
              <p:tags r:id="rId2"/>
            </p:custDataLst>
          </p:nvPr>
        </p:nvSpPr>
        <p:spPr>
          <a:xfrm>
            <a:off x="331307" y="1252912"/>
            <a:ext cx="3626967" cy="5413771"/>
          </a:xfrm>
          <a:prstGeom prst="roundRect">
            <a:avLst>
              <a:gd name="adj" fmla="val 9638"/>
            </a:avLst>
          </a:prstGeom>
          <a:gradFill>
            <a:gsLst>
              <a:gs pos="0">
                <a:schemeClr val="accent1">
                  <a:lumMod val="5000"/>
                  <a:lumOff val="95000"/>
                  <a:alpha val="5000"/>
                </a:schemeClr>
              </a:gs>
              <a:gs pos="99000">
                <a:schemeClr val="bg1">
                  <a:alpha val="3000"/>
                </a:schemeClr>
              </a:gs>
            </a:gsLst>
            <a:lin ang="16200000" scaled="0"/>
          </a:gradFill>
          <a:ln w="25400">
            <a:gradFill>
              <a:gsLst>
                <a:gs pos="0">
                  <a:schemeClr val="accent1">
                    <a:lumMod val="5000"/>
                    <a:lumOff val="95000"/>
                  </a:schemeClr>
                </a:gs>
                <a:gs pos="100000">
                  <a:schemeClr val="accent1">
                    <a:lumMod val="30000"/>
                    <a:lumOff val="7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pic>
        <p:nvPicPr>
          <p:cNvPr id="28" name="图片 27" descr="65958c422888d1f5bd0bbdd57883c83e2c123c7d6636-vvf6Sz"/>
          <p:cNvPicPr>
            <a:picLocks noChangeAspect="1"/>
          </p:cNvPicPr>
          <p:nvPr>
            <p:custDataLst>
              <p:tags r:id="rId3"/>
            </p:custDataLst>
          </p:nvPr>
        </p:nvPicPr>
        <p:blipFill>
          <a:blip r:embed="rId30"/>
          <a:stretch>
            <a:fillRect/>
          </a:stretch>
        </p:blipFill>
        <p:spPr>
          <a:xfrm flipV="1">
            <a:off x="631290" y="4008832"/>
            <a:ext cx="3027578" cy="40479"/>
          </a:xfrm>
          <a:prstGeom prst="rect">
            <a:avLst/>
          </a:prstGeom>
          <a:noFill/>
          <a:ln w="25400">
            <a:noFill/>
          </a:ln>
        </p:spPr>
      </p:pic>
      <p:sp>
        <p:nvSpPr>
          <p:cNvPr id="29" name="借助人工智能与大数据  更安全的互联网营销"/>
          <p:cNvSpPr/>
          <p:nvPr>
            <p:custDataLst>
              <p:tags r:id="rId4"/>
            </p:custDataLst>
          </p:nvPr>
        </p:nvSpPr>
        <p:spPr>
          <a:xfrm>
            <a:off x="528384" y="3221497"/>
            <a:ext cx="3306495" cy="709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lvl1pPr>
              <a:defRPr sz="2000">
                <a:solidFill>
                  <a:srgbClr val="00C8DC"/>
                </a:solidFill>
                <a:latin typeface="PingFang SC Regular" panose="020B0300000000000000" charset="-122"/>
                <a:ea typeface="PingFang SC Regular" panose="020B0300000000000000" charset="-122"/>
                <a:cs typeface="PingFang SC Regular" panose="020B0300000000000000" charset="-122"/>
                <a:sym typeface="PingFang SC Regular" panose="020B0300000000000000" charset="-122"/>
              </a:defRPr>
            </a:lvl1pPr>
          </a:lstStyle>
          <a:p>
            <a:pPr marL="63437" defTabSz="320143" fontAlgn="base">
              <a:lnSpc>
                <a:spcPct val="150000"/>
              </a:lnSpc>
              <a:defRPr/>
            </a:pPr>
            <a:r>
              <a:rPr lang="zh-CN" altLang="en-US" sz="932" dirty="0">
                <a:solidFill>
                  <a:schemeClr val="tx1"/>
                </a:solidFill>
                <a:latin typeface="微软雅黑" panose="020B0503020204020204" pitchFamily="34" charset="-122"/>
                <a:ea typeface="微软雅黑" panose="020B0503020204020204" pitchFamily="34" charset="-122"/>
              </a:rPr>
              <a:t>整合算力资源、数据治理工具、模型训练框架及场景化模板，支持开发者快速构建、部署并迭代适用于特定领域（如电信客服、网络运维）</a:t>
            </a:r>
            <a:r>
              <a:rPr lang="en-US" altLang="zh-CN" sz="932" dirty="0">
                <a:solidFill>
                  <a:schemeClr val="tx1"/>
                </a:solidFill>
                <a:latin typeface="微软雅黑" panose="020B0503020204020204" pitchFamily="34" charset="-122"/>
                <a:ea typeface="微软雅黑" panose="020B0503020204020204" pitchFamily="34" charset="-122"/>
              </a:rPr>
              <a:t>AI </a:t>
            </a:r>
            <a:r>
              <a:rPr lang="zh-CN" altLang="en-US" sz="932" dirty="0">
                <a:solidFill>
                  <a:schemeClr val="tx1"/>
                </a:solidFill>
                <a:latin typeface="微软雅黑" panose="020B0503020204020204" pitchFamily="34" charset="-122"/>
                <a:ea typeface="微软雅黑" panose="020B0503020204020204" pitchFamily="34" charset="-122"/>
              </a:rPr>
              <a:t>智能体的一体化技术支撑系统。</a:t>
            </a:r>
            <a:endParaRPr lang="zh-CN" altLang="en-US" sz="733"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endParaRPr>
          </a:p>
        </p:txBody>
      </p:sp>
      <p:sp>
        <p:nvSpPr>
          <p:cNvPr id="30" name="矩形: 圆角 20"/>
          <p:cNvSpPr/>
          <p:nvPr>
            <p:custDataLst>
              <p:tags r:id="rId5"/>
            </p:custDataLst>
          </p:nvPr>
        </p:nvSpPr>
        <p:spPr>
          <a:xfrm>
            <a:off x="1270846" y="1888384"/>
            <a:ext cx="1764039" cy="1191430"/>
          </a:xfrm>
          <a:prstGeom prst="roundRect">
            <a:avLst>
              <a:gd name="adj" fmla="val 3010"/>
            </a:avLst>
          </a:prstGeom>
          <a:gradFill>
            <a:gsLst>
              <a:gs pos="0">
                <a:schemeClr val="accent1">
                  <a:lumMod val="5000"/>
                  <a:lumOff val="95000"/>
                  <a:alpha val="5000"/>
                </a:schemeClr>
              </a:gs>
              <a:gs pos="99000">
                <a:srgbClr val="FFFFFF">
                  <a:alpha val="30000"/>
                </a:srgbClr>
              </a:gs>
              <a:gs pos="80000">
                <a:schemeClr val="bg1">
                  <a:alpha val="0"/>
                </a:schemeClr>
              </a:gs>
            </a:gsLst>
            <a:lin ang="13500000" scaled="0"/>
          </a:gradFill>
          <a:ln w="25400">
            <a:gradFill>
              <a:gsLst>
                <a:gs pos="0">
                  <a:schemeClr val="bg1">
                    <a:alpha val="0"/>
                  </a:schemeClr>
                </a:gs>
                <a:gs pos="55000">
                  <a:srgbClr val="F8FEFC">
                    <a:alpha val="61000"/>
                  </a:srgbClr>
                </a:gs>
                <a:gs pos="100000">
                  <a:schemeClr val="bg1">
                    <a:alpha val="0"/>
                  </a:schemeClr>
                </a:gs>
              </a:gsLst>
              <a:lin ang="189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pic>
        <p:nvPicPr>
          <p:cNvPr id="32" name="图片 31" descr="65958c422888d1f5bd0bbdd57883c83e2c123c7d6636-vvf6Sz"/>
          <p:cNvPicPr>
            <a:picLocks noChangeAspect="1"/>
          </p:cNvPicPr>
          <p:nvPr>
            <p:custDataLst>
              <p:tags r:id="rId6"/>
            </p:custDataLst>
          </p:nvPr>
        </p:nvPicPr>
        <p:blipFill>
          <a:blip r:embed="rId30"/>
          <a:stretch>
            <a:fillRect/>
          </a:stretch>
        </p:blipFill>
        <p:spPr>
          <a:xfrm flipV="1">
            <a:off x="4761754" y="3981935"/>
            <a:ext cx="3027578" cy="40479"/>
          </a:xfrm>
          <a:prstGeom prst="rect">
            <a:avLst/>
          </a:prstGeom>
          <a:noFill/>
          <a:ln w="25400">
            <a:noFill/>
          </a:ln>
        </p:spPr>
      </p:pic>
      <p:sp>
        <p:nvSpPr>
          <p:cNvPr id="33" name="借助人工智能与大数据  更安全的互联网营销"/>
          <p:cNvSpPr/>
          <p:nvPr>
            <p:custDataLst>
              <p:tags r:id="rId7"/>
            </p:custDataLst>
          </p:nvPr>
        </p:nvSpPr>
        <p:spPr>
          <a:xfrm>
            <a:off x="4631831" y="3194600"/>
            <a:ext cx="3286843" cy="709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lvl1pPr>
              <a:defRPr sz="2000">
                <a:solidFill>
                  <a:srgbClr val="00C8DC"/>
                </a:solidFill>
                <a:latin typeface="PingFang SC Regular" panose="020B0300000000000000" charset="-122"/>
                <a:ea typeface="PingFang SC Regular" panose="020B0300000000000000" charset="-122"/>
                <a:cs typeface="PingFang SC Regular" panose="020B0300000000000000" charset="-122"/>
                <a:sym typeface="PingFang SC Regular" panose="020B0300000000000000" charset="-122"/>
              </a:defRPr>
            </a:lvl1pPr>
          </a:lstStyle>
          <a:p>
            <a:pPr marL="63437" defTabSz="320143" fontAlgn="base">
              <a:lnSpc>
                <a:spcPct val="150000"/>
              </a:lnSpc>
              <a:defRPr/>
            </a:pP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rPr>
              <a:t>基础大模型赋予智能体强大的自然语言理解、推理和决策能力，覆盖复杂任务处理、多模态信息理解以及长期记忆管理等方面，使智能体能够自主感知环境、制定决策并执行任务。</a:t>
            </a:r>
          </a:p>
        </p:txBody>
      </p:sp>
      <p:sp>
        <p:nvSpPr>
          <p:cNvPr id="34" name="矩形: 圆角 20"/>
          <p:cNvSpPr/>
          <p:nvPr>
            <p:custDataLst>
              <p:tags r:id="rId8"/>
            </p:custDataLst>
          </p:nvPr>
        </p:nvSpPr>
        <p:spPr>
          <a:xfrm>
            <a:off x="5464112" y="1848530"/>
            <a:ext cx="1711662" cy="1191430"/>
          </a:xfrm>
          <a:prstGeom prst="roundRect">
            <a:avLst>
              <a:gd name="adj" fmla="val 3010"/>
            </a:avLst>
          </a:prstGeom>
          <a:gradFill>
            <a:gsLst>
              <a:gs pos="0">
                <a:schemeClr val="accent1">
                  <a:lumMod val="5000"/>
                  <a:lumOff val="95000"/>
                  <a:alpha val="5000"/>
                </a:schemeClr>
              </a:gs>
              <a:gs pos="99000">
                <a:srgbClr val="FFFFFF">
                  <a:alpha val="30000"/>
                </a:srgbClr>
              </a:gs>
              <a:gs pos="80000">
                <a:schemeClr val="bg1">
                  <a:alpha val="0"/>
                </a:schemeClr>
              </a:gs>
            </a:gsLst>
            <a:lin ang="13500000" scaled="0"/>
          </a:gradFill>
          <a:ln w="25400">
            <a:gradFill>
              <a:gsLst>
                <a:gs pos="0">
                  <a:schemeClr val="bg1">
                    <a:alpha val="0"/>
                  </a:schemeClr>
                </a:gs>
                <a:gs pos="55000">
                  <a:srgbClr val="F8FEFC">
                    <a:alpha val="61000"/>
                  </a:srgbClr>
                </a:gs>
                <a:gs pos="100000">
                  <a:schemeClr val="bg1">
                    <a:alpha val="0"/>
                  </a:schemeClr>
                </a:gs>
              </a:gsLst>
              <a:lin ang="189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a:solidFill>
                <a:schemeClr val="tx1"/>
              </a:solidFill>
              <a:latin typeface="微软雅黑" panose="020B0503020204020204" pitchFamily="34" charset="-122"/>
              <a:ea typeface="微软雅黑" panose="020B0503020204020204" pitchFamily="34" charset="-122"/>
              <a:sym typeface="+mn-ea"/>
            </a:endParaRPr>
          </a:p>
        </p:txBody>
      </p:sp>
      <p:pic>
        <p:nvPicPr>
          <p:cNvPr id="36" name="图片 35" descr="65958c422888d1f5bd0bbdd57883c83e2c123c7d6636-vvf6Sz"/>
          <p:cNvPicPr>
            <a:picLocks noChangeAspect="1"/>
          </p:cNvPicPr>
          <p:nvPr>
            <p:custDataLst>
              <p:tags r:id="rId9"/>
            </p:custDataLst>
          </p:nvPr>
        </p:nvPicPr>
        <p:blipFill>
          <a:blip r:embed="rId30"/>
          <a:stretch>
            <a:fillRect/>
          </a:stretch>
        </p:blipFill>
        <p:spPr>
          <a:xfrm flipV="1">
            <a:off x="8312971" y="3985841"/>
            <a:ext cx="3027578" cy="40479"/>
          </a:xfrm>
          <a:prstGeom prst="rect">
            <a:avLst/>
          </a:prstGeom>
          <a:noFill/>
          <a:ln w="25400">
            <a:noFill/>
          </a:ln>
        </p:spPr>
      </p:pic>
      <p:sp>
        <p:nvSpPr>
          <p:cNvPr id="37" name="借助人工智能与大数据  更安全的互联网营销"/>
          <p:cNvSpPr/>
          <p:nvPr>
            <p:custDataLst>
              <p:tags r:id="rId10"/>
            </p:custDataLst>
          </p:nvPr>
        </p:nvSpPr>
        <p:spPr>
          <a:xfrm>
            <a:off x="8076736" y="3198409"/>
            <a:ext cx="3499465" cy="709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lvl1pPr>
              <a:defRPr sz="2000">
                <a:solidFill>
                  <a:srgbClr val="00C8DC"/>
                </a:solidFill>
                <a:latin typeface="PingFang SC Regular" panose="020B0300000000000000" charset="-122"/>
                <a:ea typeface="PingFang SC Regular" panose="020B0300000000000000" charset="-122"/>
                <a:cs typeface="PingFang SC Regular" panose="020B0300000000000000" charset="-122"/>
                <a:sym typeface="PingFang SC Regular" panose="020B0300000000000000" charset="-122"/>
              </a:defRPr>
            </a:lvl1pPr>
          </a:lstStyle>
          <a:p>
            <a:pPr marL="63437" defTabSz="320143" fontAlgn="base">
              <a:lnSpc>
                <a:spcPct val="150000"/>
              </a:lnSpc>
              <a:defRPr/>
            </a:pP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rPr>
              <a:t>结合信息检索与生成式人工智能（如大语言模型）的技术框架，旨在通过动态检索外部知识库中的相关内容，增强生成模型（</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rPr>
              <a:t>LLM</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rPr>
              <a:t>）的输入信息，从而提升回答的准确性、时效性和可解释性。</a:t>
            </a:r>
          </a:p>
        </p:txBody>
      </p:sp>
      <p:sp>
        <p:nvSpPr>
          <p:cNvPr id="38" name="矩形: 圆角 20"/>
          <p:cNvSpPr/>
          <p:nvPr>
            <p:custDataLst>
              <p:tags r:id="rId11"/>
            </p:custDataLst>
          </p:nvPr>
        </p:nvSpPr>
        <p:spPr>
          <a:xfrm>
            <a:off x="8923752" y="1852436"/>
            <a:ext cx="2038519" cy="1191430"/>
          </a:xfrm>
          <a:prstGeom prst="roundRect">
            <a:avLst>
              <a:gd name="adj" fmla="val 3010"/>
            </a:avLst>
          </a:prstGeom>
          <a:gradFill>
            <a:gsLst>
              <a:gs pos="0">
                <a:schemeClr val="accent1">
                  <a:lumMod val="5000"/>
                  <a:lumOff val="95000"/>
                  <a:alpha val="5000"/>
                </a:schemeClr>
              </a:gs>
              <a:gs pos="99000">
                <a:srgbClr val="FFFFFF">
                  <a:alpha val="30000"/>
                </a:srgbClr>
              </a:gs>
              <a:gs pos="80000">
                <a:schemeClr val="bg1">
                  <a:alpha val="0"/>
                </a:schemeClr>
              </a:gs>
            </a:gsLst>
            <a:lin ang="13500000" scaled="0"/>
          </a:gradFill>
          <a:ln w="25400">
            <a:gradFill>
              <a:gsLst>
                <a:gs pos="0">
                  <a:schemeClr val="bg1">
                    <a:alpha val="0"/>
                  </a:schemeClr>
                </a:gs>
                <a:gs pos="55000">
                  <a:srgbClr val="F8FEFC">
                    <a:alpha val="61000"/>
                  </a:srgbClr>
                </a:gs>
                <a:gs pos="100000">
                  <a:schemeClr val="bg1">
                    <a:alpha val="0"/>
                  </a:schemeClr>
                </a:gs>
              </a:gsLst>
              <a:lin ang="189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pic>
        <p:nvPicPr>
          <p:cNvPr id="12" name="图片 11"/>
          <p:cNvPicPr>
            <a:picLocks noChangeAspect="1"/>
          </p:cNvPicPr>
          <p:nvPr/>
        </p:nvPicPr>
        <p:blipFill>
          <a:blip r:embed="rId31"/>
          <a:stretch>
            <a:fillRect/>
          </a:stretch>
        </p:blipFill>
        <p:spPr>
          <a:xfrm>
            <a:off x="1404872" y="1996967"/>
            <a:ext cx="1557136" cy="979655"/>
          </a:xfrm>
          <a:prstGeom prst="rect">
            <a:avLst/>
          </a:prstGeom>
        </p:spPr>
      </p:pic>
      <p:pic>
        <p:nvPicPr>
          <p:cNvPr id="14" name="图形 13"/>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581637" y="1911425"/>
            <a:ext cx="1536430" cy="1152322"/>
          </a:xfrm>
          <a:prstGeom prst="rect">
            <a:avLst/>
          </a:prstGeom>
        </p:spPr>
      </p:pic>
      <p:pic>
        <p:nvPicPr>
          <p:cNvPr id="16" name="图片 15" descr="图示&#10;&#10;AI 生成的内容可能不正确。"/>
          <p:cNvPicPr>
            <a:picLocks noChangeAspect="1"/>
          </p:cNvPicPr>
          <p:nvPr/>
        </p:nvPicPr>
        <p:blipFill>
          <a:blip r:embed="rId34"/>
          <a:stretch>
            <a:fillRect/>
          </a:stretch>
        </p:blipFill>
        <p:spPr>
          <a:xfrm>
            <a:off x="9090681" y="1951928"/>
            <a:ext cx="1837549" cy="988746"/>
          </a:xfrm>
          <a:prstGeom prst="rect">
            <a:avLst/>
          </a:prstGeom>
        </p:spPr>
      </p:pic>
      <p:pic>
        <p:nvPicPr>
          <p:cNvPr id="20" name="图片 19" descr="65958c422888d1f5bd0bbdd57883c83e2c123c7d6636-vvf6Sz"/>
          <p:cNvPicPr>
            <a:picLocks noChangeAspect="1"/>
          </p:cNvPicPr>
          <p:nvPr>
            <p:custDataLst>
              <p:tags r:id="rId12"/>
            </p:custDataLst>
          </p:nvPr>
        </p:nvPicPr>
        <p:blipFill>
          <a:blip r:embed="rId30"/>
          <a:stretch>
            <a:fillRect/>
          </a:stretch>
        </p:blipFill>
        <p:spPr>
          <a:xfrm flipV="1">
            <a:off x="631578" y="6648638"/>
            <a:ext cx="3027578" cy="40479"/>
          </a:xfrm>
          <a:prstGeom prst="rect">
            <a:avLst/>
          </a:prstGeom>
          <a:noFill/>
          <a:ln w="25400">
            <a:noFill/>
          </a:ln>
        </p:spPr>
      </p:pic>
      <p:sp>
        <p:nvSpPr>
          <p:cNvPr id="21" name="借助人工智能与大数据  更安全的互联网营销"/>
          <p:cNvSpPr/>
          <p:nvPr>
            <p:custDataLst>
              <p:tags r:id="rId13"/>
            </p:custDataLst>
          </p:nvPr>
        </p:nvSpPr>
        <p:spPr>
          <a:xfrm>
            <a:off x="528672" y="5861303"/>
            <a:ext cx="3306495" cy="709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lvl1pPr>
              <a:defRPr sz="2000">
                <a:solidFill>
                  <a:srgbClr val="00C8DC"/>
                </a:solidFill>
                <a:latin typeface="PingFang SC Regular" panose="020B0300000000000000" charset="-122"/>
                <a:ea typeface="PingFang SC Regular" panose="020B0300000000000000" charset="-122"/>
                <a:cs typeface="PingFang SC Regular" panose="020B0300000000000000" charset="-122"/>
                <a:sym typeface="PingFang SC Regular" panose="020B0300000000000000" charset="-122"/>
              </a:defRPr>
            </a:lvl1pPr>
          </a:lstStyle>
          <a:p>
            <a:pPr marL="63437" defTabSz="320143" fontAlgn="base">
              <a:lnSpc>
                <a:spcPct val="150000"/>
              </a:lnSpc>
              <a:defRPr/>
            </a:pPr>
            <a:r>
              <a:rPr lang="zh-CN" altLang="en-US" sz="932" dirty="0">
                <a:solidFill>
                  <a:schemeClr val="tx1"/>
                </a:solidFill>
                <a:latin typeface="微软雅黑" panose="020B0503020204020204" pitchFamily="34" charset="-122"/>
                <a:ea typeface="微软雅黑" panose="020B0503020204020204" pitchFamily="34" charset="-122"/>
              </a:rPr>
              <a:t>一种通过可视化画布和多种节点（如大模型节点、参数提取节点、条件判断节点等）编排复杂业务流程的工具，旨在实现稳定且可控的业务效果，确保每个流程节点的准确性和可解释性。</a:t>
            </a:r>
            <a:endParaRPr lang="zh-CN" altLang="en-US" sz="733"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endParaRPr>
          </a:p>
        </p:txBody>
      </p:sp>
      <p:sp>
        <p:nvSpPr>
          <p:cNvPr id="22" name="矩形: 圆角 20"/>
          <p:cNvSpPr/>
          <p:nvPr>
            <p:custDataLst>
              <p:tags r:id="rId14"/>
            </p:custDataLst>
          </p:nvPr>
        </p:nvSpPr>
        <p:spPr>
          <a:xfrm>
            <a:off x="1219103" y="4509738"/>
            <a:ext cx="1896399" cy="1191430"/>
          </a:xfrm>
          <a:prstGeom prst="roundRect">
            <a:avLst>
              <a:gd name="adj" fmla="val 3010"/>
            </a:avLst>
          </a:prstGeom>
          <a:gradFill>
            <a:gsLst>
              <a:gs pos="0">
                <a:schemeClr val="accent1">
                  <a:lumMod val="5000"/>
                  <a:lumOff val="95000"/>
                  <a:alpha val="5000"/>
                </a:schemeClr>
              </a:gs>
              <a:gs pos="99000">
                <a:srgbClr val="FFFFFF">
                  <a:alpha val="30000"/>
                </a:srgbClr>
              </a:gs>
              <a:gs pos="80000">
                <a:schemeClr val="bg1">
                  <a:alpha val="0"/>
                </a:schemeClr>
              </a:gs>
            </a:gsLst>
            <a:lin ang="13500000" scaled="0"/>
          </a:gradFill>
          <a:ln w="25400">
            <a:gradFill>
              <a:gsLst>
                <a:gs pos="0">
                  <a:schemeClr val="bg1">
                    <a:alpha val="0"/>
                  </a:schemeClr>
                </a:gs>
                <a:gs pos="55000">
                  <a:srgbClr val="F8FEFC">
                    <a:alpha val="61000"/>
                  </a:srgbClr>
                </a:gs>
                <a:gs pos="100000">
                  <a:schemeClr val="bg1">
                    <a:alpha val="0"/>
                  </a:schemeClr>
                </a:gs>
              </a:gsLst>
              <a:lin ang="189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pic>
        <p:nvPicPr>
          <p:cNvPr id="24" name="图片 23" descr="65958c422888d1f5bd0bbdd57883c83e2c123c7d6636-vvf6Sz"/>
          <p:cNvPicPr>
            <a:picLocks noChangeAspect="1"/>
          </p:cNvPicPr>
          <p:nvPr>
            <p:custDataLst>
              <p:tags r:id="rId15"/>
            </p:custDataLst>
          </p:nvPr>
        </p:nvPicPr>
        <p:blipFill>
          <a:blip r:embed="rId30"/>
          <a:stretch>
            <a:fillRect/>
          </a:stretch>
        </p:blipFill>
        <p:spPr>
          <a:xfrm flipV="1">
            <a:off x="4738446" y="6648638"/>
            <a:ext cx="3027578" cy="40479"/>
          </a:xfrm>
          <a:prstGeom prst="rect">
            <a:avLst/>
          </a:prstGeom>
          <a:noFill/>
          <a:ln w="25400">
            <a:noFill/>
          </a:ln>
        </p:spPr>
      </p:pic>
      <p:sp>
        <p:nvSpPr>
          <p:cNvPr id="25" name="借助人工智能与大数据  更安全的互联网营销"/>
          <p:cNvSpPr/>
          <p:nvPr>
            <p:custDataLst>
              <p:tags r:id="rId16"/>
            </p:custDataLst>
          </p:nvPr>
        </p:nvSpPr>
        <p:spPr>
          <a:xfrm>
            <a:off x="4608523" y="5861303"/>
            <a:ext cx="3286843" cy="709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lvl1pPr>
              <a:defRPr sz="2000">
                <a:solidFill>
                  <a:srgbClr val="00C8DC"/>
                </a:solidFill>
                <a:latin typeface="PingFang SC Regular" panose="020B0300000000000000" charset="-122"/>
                <a:ea typeface="PingFang SC Regular" panose="020B0300000000000000" charset="-122"/>
                <a:cs typeface="PingFang SC Regular" panose="020B0300000000000000" charset="-122"/>
                <a:sym typeface="PingFang SC Regular" panose="020B0300000000000000" charset="-122"/>
              </a:defRPr>
            </a:lvl1pPr>
          </a:lstStyle>
          <a:p>
            <a:pPr marL="63437" defTabSz="320143" fontAlgn="base">
              <a:lnSpc>
                <a:spcPct val="150000"/>
              </a:lnSpc>
              <a:defRPr/>
            </a:pP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rPr>
              <a:t>联网搜索功能可以增强智能体的实时信息获取能力和答案丰富性。智能体在配置联网搜索功能后，能够对接搜索引擎，提升对时事问题的回答能力。</a:t>
            </a:r>
          </a:p>
        </p:txBody>
      </p:sp>
      <p:sp>
        <p:nvSpPr>
          <p:cNvPr id="26" name="矩形: 圆角 20"/>
          <p:cNvSpPr/>
          <p:nvPr>
            <p:custDataLst>
              <p:tags r:id="rId17"/>
            </p:custDataLst>
          </p:nvPr>
        </p:nvSpPr>
        <p:spPr>
          <a:xfrm>
            <a:off x="5330805" y="4515234"/>
            <a:ext cx="1844641" cy="1191430"/>
          </a:xfrm>
          <a:prstGeom prst="roundRect">
            <a:avLst>
              <a:gd name="adj" fmla="val 3010"/>
            </a:avLst>
          </a:prstGeom>
          <a:gradFill>
            <a:gsLst>
              <a:gs pos="0">
                <a:schemeClr val="accent1">
                  <a:lumMod val="5000"/>
                  <a:lumOff val="95000"/>
                  <a:alpha val="5000"/>
                </a:schemeClr>
              </a:gs>
              <a:gs pos="99000">
                <a:srgbClr val="FFFFFF">
                  <a:alpha val="30000"/>
                </a:srgbClr>
              </a:gs>
              <a:gs pos="80000">
                <a:schemeClr val="bg1">
                  <a:alpha val="0"/>
                </a:schemeClr>
              </a:gs>
            </a:gsLst>
            <a:lin ang="13500000" scaled="0"/>
          </a:gradFill>
          <a:ln w="25400">
            <a:gradFill>
              <a:gsLst>
                <a:gs pos="0">
                  <a:schemeClr val="bg1">
                    <a:alpha val="0"/>
                  </a:schemeClr>
                </a:gs>
                <a:gs pos="55000">
                  <a:srgbClr val="F8FEFC">
                    <a:alpha val="61000"/>
                  </a:srgbClr>
                </a:gs>
                <a:gs pos="100000">
                  <a:schemeClr val="bg1">
                    <a:alpha val="0"/>
                  </a:schemeClr>
                </a:gs>
              </a:gsLst>
              <a:lin ang="189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pic>
        <p:nvPicPr>
          <p:cNvPr id="77" name="图片 76" descr="65958c422888d1f5bd0bbdd57883c83e2c123c7d6636-vvf6Sz"/>
          <p:cNvPicPr>
            <a:picLocks noChangeAspect="1"/>
          </p:cNvPicPr>
          <p:nvPr>
            <p:custDataLst>
              <p:tags r:id="rId18"/>
            </p:custDataLst>
          </p:nvPr>
        </p:nvPicPr>
        <p:blipFill>
          <a:blip r:embed="rId30"/>
          <a:stretch>
            <a:fillRect/>
          </a:stretch>
        </p:blipFill>
        <p:spPr>
          <a:xfrm flipV="1">
            <a:off x="8456001" y="6648638"/>
            <a:ext cx="3027578" cy="40479"/>
          </a:xfrm>
          <a:prstGeom prst="rect">
            <a:avLst/>
          </a:prstGeom>
          <a:noFill/>
          <a:ln w="25400">
            <a:noFill/>
          </a:ln>
        </p:spPr>
      </p:pic>
      <p:sp>
        <p:nvSpPr>
          <p:cNvPr id="78" name="借助人工智能与大数据  更安全的互联网营销"/>
          <p:cNvSpPr/>
          <p:nvPr>
            <p:custDataLst>
              <p:tags r:id="rId19"/>
            </p:custDataLst>
          </p:nvPr>
        </p:nvSpPr>
        <p:spPr>
          <a:xfrm>
            <a:off x="8219766" y="5861206"/>
            <a:ext cx="3499465" cy="709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lvl1pPr>
              <a:defRPr sz="2000">
                <a:solidFill>
                  <a:srgbClr val="00C8DC"/>
                </a:solidFill>
                <a:latin typeface="PingFang SC Regular" panose="020B0300000000000000" charset="-122"/>
                <a:ea typeface="PingFang SC Regular" panose="020B0300000000000000" charset="-122"/>
                <a:cs typeface="PingFang SC Regular" panose="020B0300000000000000" charset="-122"/>
                <a:sym typeface="PingFang SC Regular" panose="020B0300000000000000" charset="-122"/>
              </a:defRPr>
            </a:lvl1pPr>
          </a:lstStyle>
          <a:p>
            <a:pPr marL="63437" defTabSz="320143" fontAlgn="base">
              <a:lnSpc>
                <a:spcPct val="150000"/>
              </a:lnSpc>
              <a:defRPr/>
            </a:pP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rPr>
              <a:t>大模型安全网关通过多层次防护机制，连接智能体、模型与服务，实现统一治理与高效协同，确保</a:t>
            </a:r>
            <a:r>
              <a:rPr lang="en-US" altLang="zh-CN"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rPr>
              <a:t>AI</a:t>
            </a:r>
            <a:r>
              <a:rPr lang="zh-CN" altLang="en-US" sz="932" dirty="0">
                <a:solidFill>
                  <a:schemeClr val="tx1"/>
                </a:solidFill>
                <a:latin typeface="微软雅黑" panose="020B0503020204020204" pitchFamily="34" charset="-122"/>
                <a:ea typeface="微软雅黑" panose="020B0503020204020204" pitchFamily="34" charset="-122"/>
                <a:cs typeface="方正兰亭黑简体" panose="02000000000000000000" pitchFamily="2" charset="-122"/>
                <a:sym typeface="+mn-ea"/>
              </a:rPr>
              <a:t>规模化应用中的关键风险得到有效控制，有效平衡效率与安全性。</a:t>
            </a:r>
          </a:p>
        </p:txBody>
      </p:sp>
      <p:sp>
        <p:nvSpPr>
          <p:cNvPr id="79" name="矩形: 圆角 20"/>
          <p:cNvSpPr/>
          <p:nvPr>
            <p:custDataLst>
              <p:tags r:id="rId20"/>
            </p:custDataLst>
          </p:nvPr>
        </p:nvSpPr>
        <p:spPr>
          <a:xfrm>
            <a:off x="8985894" y="4515234"/>
            <a:ext cx="2085078" cy="1191430"/>
          </a:xfrm>
          <a:prstGeom prst="roundRect">
            <a:avLst>
              <a:gd name="adj" fmla="val 3010"/>
            </a:avLst>
          </a:prstGeom>
          <a:gradFill>
            <a:gsLst>
              <a:gs pos="0">
                <a:schemeClr val="accent1">
                  <a:lumMod val="5000"/>
                  <a:lumOff val="95000"/>
                  <a:alpha val="5000"/>
                </a:schemeClr>
              </a:gs>
              <a:gs pos="99000">
                <a:srgbClr val="FFFFFF">
                  <a:alpha val="30000"/>
                </a:srgbClr>
              </a:gs>
              <a:gs pos="80000">
                <a:schemeClr val="bg1">
                  <a:alpha val="0"/>
                </a:schemeClr>
              </a:gs>
            </a:gsLst>
            <a:lin ang="13500000" scaled="0"/>
          </a:gradFill>
          <a:ln w="25400">
            <a:gradFill>
              <a:gsLst>
                <a:gs pos="0">
                  <a:schemeClr val="bg1">
                    <a:alpha val="0"/>
                  </a:schemeClr>
                </a:gs>
                <a:gs pos="55000">
                  <a:srgbClr val="F8FEFC">
                    <a:alpha val="61000"/>
                  </a:srgbClr>
                </a:gs>
                <a:gs pos="100000">
                  <a:schemeClr val="bg1">
                    <a:alpha val="0"/>
                  </a:schemeClr>
                </a:gs>
              </a:gsLst>
              <a:lin ang="189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0902" tIns="30451" rIns="60902" bIns="30451" numCol="1" spcCol="0" rtlCol="0" fromWordArt="0" anchor="ctr" anchorCtr="0" forceAA="0" compatLnSpc="1">
            <a:noAutofit/>
          </a:bodyPr>
          <a:lstStyle/>
          <a:p>
            <a:pPr lvl="0" algn="ctr">
              <a:buClrTx/>
              <a:buSzTx/>
              <a:buFontTx/>
            </a:pPr>
            <a:endParaRPr lang="zh-CN" altLang="en-US" sz="1199" dirty="0">
              <a:solidFill>
                <a:schemeClr val="tx1"/>
              </a:solidFill>
              <a:latin typeface="微软雅黑" panose="020B0503020204020204" pitchFamily="34" charset="-122"/>
              <a:ea typeface="微软雅黑" panose="020B0503020204020204" pitchFamily="34" charset="-122"/>
              <a:sym typeface="+mn-ea"/>
            </a:endParaRPr>
          </a:p>
        </p:txBody>
      </p:sp>
      <p:pic>
        <p:nvPicPr>
          <p:cNvPr id="1026" name="Picture 2"/>
          <p:cNvPicPr>
            <a:picLocks noChangeAspect="1" noChangeArrowheads="1"/>
          </p:cNvPicPr>
          <p:nvPr/>
        </p:nvPicPr>
        <p:blipFill>
          <a:blip r:embed="rId35"/>
          <a:srcRect/>
          <a:stretch>
            <a:fillRect/>
          </a:stretch>
        </p:blipFill>
        <p:spPr bwMode="auto">
          <a:xfrm>
            <a:off x="1292474" y="4623646"/>
            <a:ext cx="1749657" cy="982939"/>
          </a:xfrm>
          <a:prstGeom prst="rect">
            <a:avLst/>
          </a:prstGeom>
          <a:noFill/>
          <a:extLst>
            <a:ext uri="{909E8E84-426E-40DD-AFC4-6F175D3DCCD1}">
              <a14:hiddenFill xmlns:a14="http://schemas.microsoft.com/office/drawing/2010/main">
                <a:solidFill>
                  <a:srgbClr val="FFFFFF"/>
                </a:solidFill>
              </a14:hiddenFill>
            </a:ext>
          </a:extLst>
        </p:spPr>
      </p:pic>
      <p:pic>
        <p:nvPicPr>
          <p:cNvPr id="81" name="图片 80"/>
          <p:cNvPicPr>
            <a:picLocks noChangeAspect="1"/>
          </p:cNvPicPr>
          <p:nvPr/>
        </p:nvPicPr>
        <p:blipFill>
          <a:blip r:embed="rId36"/>
          <a:stretch>
            <a:fillRect/>
          </a:stretch>
        </p:blipFill>
        <p:spPr>
          <a:xfrm>
            <a:off x="5418182" y="4565197"/>
            <a:ext cx="1674195" cy="1099836"/>
          </a:xfrm>
          <a:prstGeom prst="rect">
            <a:avLst/>
          </a:prstGeom>
        </p:spPr>
      </p:pic>
      <p:pic>
        <p:nvPicPr>
          <p:cNvPr id="83" name="图片 82"/>
          <p:cNvPicPr>
            <a:picLocks noChangeAspect="1"/>
          </p:cNvPicPr>
          <p:nvPr/>
        </p:nvPicPr>
        <p:blipFill>
          <a:blip r:embed="rId37"/>
          <a:stretch>
            <a:fillRect/>
          </a:stretch>
        </p:blipFill>
        <p:spPr>
          <a:xfrm>
            <a:off x="9173971" y="4584440"/>
            <a:ext cx="1725556" cy="1022145"/>
          </a:xfrm>
          <a:prstGeom prst="rect">
            <a:avLst/>
          </a:prstGeom>
        </p:spPr>
      </p:pic>
      <p:grpSp>
        <p:nvGrpSpPr>
          <p:cNvPr id="2" name="组合 1"/>
          <p:cNvGrpSpPr/>
          <p:nvPr>
            <p:custDataLst>
              <p:tags r:id="rId21"/>
            </p:custDataLst>
          </p:nvPr>
        </p:nvGrpSpPr>
        <p:grpSpPr>
          <a:xfrm>
            <a:off x="1238972" y="1502839"/>
            <a:ext cx="1856660" cy="299434"/>
            <a:chOff x="1790" y="3278"/>
            <a:chExt cx="4390" cy="708"/>
          </a:xfrm>
        </p:grpSpPr>
        <p:sp>
          <p:nvSpPr>
            <p:cNvPr id="3" name="矩形 29"/>
            <p:cNvSpPr txBox="1"/>
            <p:nvPr>
              <p:custDataLst>
                <p:tags r:id="rId23"/>
              </p:custDataLst>
            </p:nvPr>
          </p:nvSpPr>
          <p:spPr>
            <a:xfrm>
              <a:off x="2074" y="3278"/>
              <a:ext cx="4106" cy="659"/>
            </a:xfrm>
            <a:prstGeom prst="rect">
              <a:avLst/>
            </a:prstGeom>
            <a:ln w="12700">
              <a:miter lim="400000"/>
            </a:ln>
          </p:spPr>
          <p:txBody>
            <a:bodyPr wrap="square" lIns="18931" tIns="18931" rIns="18931" bIns="18931">
              <a:spAutoFit/>
            </a:bodyPr>
            <a:lstStyle>
              <a:lvl1pPr>
                <a:lnSpc>
                  <a:spcPct val="130000"/>
                </a:lnSpc>
                <a:defRPr sz="2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pPr algn="ctr"/>
              <a:r>
                <a:rPr lang="zh-CN" altLang="en-US" sz="1332" b="1" dirty="0">
                  <a:solidFill>
                    <a:schemeClr val="tx1"/>
                  </a:solidFill>
                  <a:latin typeface="微软雅黑" panose="020B0503020204020204" pitchFamily="34" charset="-122"/>
                  <a:ea typeface="微软雅黑" panose="020B0503020204020204" pitchFamily="34" charset="-122"/>
                  <a:cs typeface="腾讯体 W7" panose="020C08030202040F0204" pitchFamily="34" charset="-122"/>
                </a:rPr>
                <a:t>智能体开发平台</a:t>
              </a:r>
            </a:p>
          </p:txBody>
        </p:sp>
        <p:sp>
          <p:nvSpPr>
            <p:cNvPr id="4" name="object 58"/>
            <p:cNvSpPr/>
            <p:nvPr/>
          </p:nvSpPr>
          <p:spPr>
            <a:xfrm>
              <a:off x="1790" y="3333"/>
              <a:ext cx="623" cy="653"/>
            </a:xfrm>
            <a:custGeom>
              <a:avLst/>
              <a:gdLst/>
              <a:ahLst/>
              <a:cxnLst/>
              <a:rect l="l" t="t" r="r" b="b"/>
              <a:pathLst>
                <a:path w="387350" h="430530">
                  <a:moveTo>
                    <a:pt x="143351" y="337819"/>
                  </a:moveTo>
                  <a:lnTo>
                    <a:pt x="121093" y="337819"/>
                  </a:lnTo>
                  <a:lnTo>
                    <a:pt x="134655" y="377189"/>
                  </a:lnTo>
                  <a:lnTo>
                    <a:pt x="151407" y="406399"/>
                  </a:lnTo>
                  <a:lnTo>
                    <a:pt x="170690" y="424179"/>
                  </a:lnTo>
                  <a:lnTo>
                    <a:pt x="191847" y="430529"/>
                  </a:lnTo>
                  <a:lnTo>
                    <a:pt x="213080" y="424179"/>
                  </a:lnTo>
                  <a:lnTo>
                    <a:pt x="228331" y="410209"/>
                  </a:lnTo>
                  <a:lnTo>
                    <a:pt x="191847" y="410209"/>
                  </a:lnTo>
                  <a:lnTo>
                    <a:pt x="179062" y="403859"/>
                  </a:lnTo>
                  <a:lnTo>
                    <a:pt x="165720" y="389889"/>
                  </a:lnTo>
                  <a:lnTo>
                    <a:pt x="152884" y="365759"/>
                  </a:lnTo>
                  <a:lnTo>
                    <a:pt x="143351" y="337819"/>
                  </a:lnTo>
                  <a:close/>
                </a:path>
                <a:path w="387350" h="430530">
                  <a:moveTo>
                    <a:pt x="269239" y="313689"/>
                  </a:moveTo>
                  <a:lnTo>
                    <a:pt x="193468" y="313689"/>
                  </a:lnTo>
                  <a:lnTo>
                    <a:pt x="218178" y="323849"/>
                  </a:lnTo>
                  <a:lnTo>
                    <a:pt x="242077" y="331469"/>
                  </a:lnTo>
                  <a:lnTo>
                    <a:pt x="230811" y="364489"/>
                  </a:lnTo>
                  <a:lnTo>
                    <a:pt x="217975" y="389889"/>
                  </a:lnTo>
                  <a:lnTo>
                    <a:pt x="204633" y="403859"/>
                  </a:lnTo>
                  <a:lnTo>
                    <a:pt x="191847" y="410209"/>
                  </a:lnTo>
                  <a:lnTo>
                    <a:pt x="228331" y="410209"/>
                  </a:lnTo>
                  <a:lnTo>
                    <a:pt x="232490" y="406399"/>
                  </a:lnTo>
                  <a:lnTo>
                    <a:pt x="249267" y="377189"/>
                  </a:lnTo>
                  <a:lnTo>
                    <a:pt x="262601" y="337819"/>
                  </a:lnTo>
                  <a:lnTo>
                    <a:pt x="363344" y="337819"/>
                  </a:lnTo>
                  <a:lnTo>
                    <a:pt x="369770" y="334009"/>
                  </a:lnTo>
                  <a:lnTo>
                    <a:pt x="377605" y="325119"/>
                  </a:lnTo>
                  <a:lnTo>
                    <a:pt x="321473" y="325119"/>
                  </a:lnTo>
                  <a:lnTo>
                    <a:pt x="296223" y="322579"/>
                  </a:lnTo>
                  <a:lnTo>
                    <a:pt x="268543" y="317499"/>
                  </a:lnTo>
                  <a:lnTo>
                    <a:pt x="269239" y="313689"/>
                  </a:lnTo>
                  <a:close/>
                </a:path>
                <a:path w="387350" h="430530">
                  <a:moveTo>
                    <a:pt x="363344" y="337819"/>
                  </a:moveTo>
                  <a:lnTo>
                    <a:pt x="262601" y="337819"/>
                  </a:lnTo>
                  <a:lnTo>
                    <a:pt x="278399" y="341629"/>
                  </a:lnTo>
                  <a:lnTo>
                    <a:pt x="307565" y="346709"/>
                  </a:lnTo>
                  <a:lnTo>
                    <a:pt x="320933" y="346709"/>
                  </a:lnTo>
                  <a:lnTo>
                    <a:pt x="340520" y="345439"/>
                  </a:lnTo>
                  <a:lnTo>
                    <a:pt x="356918" y="341629"/>
                  </a:lnTo>
                  <a:lnTo>
                    <a:pt x="363344" y="337819"/>
                  </a:lnTo>
                  <a:close/>
                </a:path>
                <a:path w="387350" h="430530">
                  <a:moveTo>
                    <a:pt x="62762" y="83819"/>
                  </a:moveTo>
                  <a:lnTo>
                    <a:pt x="13924" y="96519"/>
                  </a:lnTo>
                  <a:lnTo>
                    <a:pt x="0" y="129539"/>
                  </a:lnTo>
                  <a:lnTo>
                    <a:pt x="6928" y="156209"/>
                  </a:lnTo>
                  <a:lnTo>
                    <a:pt x="24490" y="185419"/>
                  </a:lnTo>
                  <a:lnTo>
                    <a:pt x="51419" y="217169"/>
                  </a:lnTo>
                  <a:lnTo>
                    <a:pt x="25671" y="246379"/>
                  </a:lnTo>
                  <a:lnTo>
                    <a:pt x="9088" y="275589"/>
                  </a:lnTo>
                  <a:lnTo>
                    <a:pt x="2734" y="300989"/>
                  </a:lnTo>
                  <a:lnTo>
                    <a:pt x="7671" y="322579"/>
                  </a:lnTo>
                  <a:lnTo>
                    <a:pt x="16625" y="332739"/>
                  </a:lnTo>
                  <a:lnTo>
                    <a:pt x="29478" y="340359"/>
                  </a:lnTo>
                  <a:lnTo>
                    <a:pt x="45875" y="344169"/>
                  </a:lnTo>
                  <a:lnTo>
                    <a:pt x="65462" y="345439"/>
                  </a:lnTo>
                  <a:lnTo>
                    <a:pt x="78104" y="345439"/>
                  </a:lnTo>
                  <a:lnTo>
                    <a:pt x="91657" y="344169"/>
                  </a:lnTo>
                  <a:lnTo>
                    <a:pt x="106021" y="341629"/>
                  </a:lnTo>
                  <a:lnTo>
                    <a:pt x="121093" y="337819"/>
                  </a:lnTo>
                  <a:lnTo>
                    <a:pt x="143351" y="337819"/>
                  </a:lnTo>
                  <a:lnTo>
                    <a:pt x="141617" y="332739"/>
                  </a:lnTo>
                  <a:lnTo>
                    <a:pt x="154276" y="328929"/>
                  </a:lnTo>
                  <a:lnTo>
                    <a:pt x="163922" y="325119"/>
                  </a:lnTo>
                  <a:lnTo>
                    <a:pt x="65462" y="325119"/>
                  </a:lnTo>
                  <a:lnTo>
                    <a:pt x="51563" y="323849"/>
                  </a:lnTo>
                  <a:lnTo>
                    <a:pt x="40145" y="321309"/>
                  </a:lnTo>
                  <a:lnTo>
                    <a:pt x="31663" y="317499"/>
                  </a:lnTo>
                  <a:lnTo>
                    <a:pt x="26574" y="312419"/>
                  </a:lnTo>
                  <a:lnTo>
                    <a:pt x="24625" y="298449"/>
                  </a:lnTo>
                  <a:lnTo>
                    <a:pt x="30828" y="280669"/>
                  </a:lnTo>
                  <a:lnTo>
                    <a:pt x="45031" y="257809"/>
                  </a:lnTo>
                  <a:lnTo>
                    <a:pt x="67083" y="231139"/>
                  </a:lnTo>
                  <a:lnTo>
                    <a:pt x="99683" y="231139"/>
                  </a:lnTo>
                  <a:lnTo>
                    <a:pt x="93750" y="226059"/>
                  </a:lnTo>
                  <a:lnTo>
                    <a:pt x="88121" y="220979"/>
                  </a:lnTo>
                  <a:lnTo>
                    <a:pt x="82746" y="217169"/>
                  </a:lnTo>
                  <a:lnTo>
                    <a:pt x="88197" y="212089"/>
                  </a:lnTo>
                  <a:lnTo>
                    <a:pt x="93953" y="207009"/>
                  </a:lnTo>
                  <a:lnTo>
                    <a:pt x="99911" y="201929"/>
                  </a:lnTo>
                  <a:lnTo>
                    <a:pt x="66542" y="201929"/>
                  </a:lnTo>
                  <a:lnTo>
                    <a:pt x="43385" y="175259"/>
                  </a:lnTo>
                  <a:lnTo>
                    <a:pt x="28330" y="152399"/>
                  </a:lnTo>
                  <a:lnTo>
                    <a:pt x="21578" y="132079"/>
                  </a:lnTo>
                  <a:lnTo>
                    <a:pt x="23334" y="118109"/>
                  </a:lnTo>
                  <a:lnTo>
                    <a:pt x="28651" y="113029"/>
                  </a:lnTo>
                  <a:lnTo>
                    <a:pt x="37107" y="109219"/>
                  </a:lnTo>
                  <a:lnTo>
                    <a:pt x="48398" y="106679"/>
                  </a:lnTo>
                  <a:lnTo>
                    <a:pt x="163922" y="106679"/>
                  </a:lnTo>
                  <a:lnTo>
                    <a:pt x="154276" y="102869"/>
                  </a:lnTo>
                  <a:lnTo>
                    <a:pt x="141617" y="99059"/>
                  </a:lnTo>
                  <a:lnTo>
                    <a:pt x="143784" y="92709"/>
                  </a:lnTo>
                  <a:lnTo>
                    <a:pt x="121093" y="92709"/>
                  </a:lnTo>
                  <a:lnTo>
                    <a:pt x="105295" y="88899"/>
                  </a:lnTo>
                  <a:lnTo>
                    <a:pt x="90307" y="86359"/>
                  </a:lnTo>
                  <a:lnTo>
                    <a:pt x="62762" y="83819"/>
                  </a:lnTo>
                  <a:close/>
                </a:path>
                <a:path w="387350" h="430530">
                  <a:moveTo>
                    <a:pt x="99683" y="231139"/>
                  </a:moveTo>
                  <a:lnTo>
                    <a:pt x="67083" y="231139"/>
                  </a:lnTo>
                  <a:lnTo>
                    <a:pt x="76602" y="240029"/>
                  </a:lnTo>
                  <a:lnTo>
                    <a:pt x="86526" y="247649"/>
                  </a:lnTo>
                  <a:lnTo>
                    <a:pt x="96856" y="256539"/>
                  </a:lnTo>
                  <a:lnTo>
                    <a:pt x="107591" y="264159"/>
                  </a:lnTo>
                  <a:lnTo>
                    <a:pt x="109008" y="278129"/>
                  </a:lnTo>
                  <a:lnTo>
                    <a:pt x="110831" y="292099"/>
                  </a:lnTo>
                  <a:lnTo>
                    <a:pt x="113059" y="304799"/>
                  </a:lnTo>
                  <a:lnTo>
                    <a:pt x="115692" y="317499"/>
                  </a:lnTo>
                  <a:lnTo>
                    <a:pt x="102451" y="321309"/>
                  </a:lnTo>
                  <a:lnTo>
                    <a:pt x="89564" y="323849"/>
                  </a:lnTo>
                  <a:lnTo>
                    <a:pt x="77184" y="325119"/>
                  </a:lnTo>
                  <a:lnTo>
                    <a:pt x="163922" y="325119"/>
                  </a:lnTo>
                  <a:lnTo>
                    <a:pt x="193468" y="313689"/>
                  </a:lnTo>
                  <a:lnTo>
                    <a:pt x="269239" y="313689"/>
                  </a:lnTo>
                  <a:lnTo>
                    <a:pt x="269471" y="312419"/>
                  </a:lnTo>
                  <a:lnTo>
                    <a:pt x="136756" y="312419"/>
                  </a:lnTo>
                  <a:lnTo>
                    <a:pt x="135229" y="304799"/>
                  </a:lnTo>
                  <a:lnTo>
                    <a:pt x="133853" y="295909"/>
                  </a:lnTo>
                  <a:lnTo>
                    <a:pt x="132579" y="288289"/>
                  </a:lnTo>
                  <a:lnTo>
                    <a:pt x="131355" y="279399"/>
                  </a:lnTo>
                  <a:lnTo>
                    <a:pt x="173619" y="279399"/>
                  </a:lnTo>
                  <a:lnTo>
                    <a:pt x="167948" y="276859"/>
                  </a:lnTo>
                  <a:lnTo>
                    <a:pt x="159441" y="271779"/>
                  </a:lnTo>
                  <a:lnTo>
                    <a:pt x="143373" y="261619"/>
                  </a:lnTo>
                  <a:lnTo>
                    <a:pt x="135592" y="256539"/>
                  </a:lnTo>
                  <a:lnTo>
                    <a:pt x="128115" y="252729"/>
                  </a:lnTo>
                  <a:lnTo>
                    <a:pt x="127490" y="243839"/>
                  </a:lnTo>
                  <a:lnTo>
                    <a:pt x="127250" y="236219"/>
                  </a:lnTo>
                  <a:lnTo>
                    <a:pt x="105970" y="236219"/>
                  </a:lnTo>
                  <a:lnTo>
                    <a:pt x="99683" y="231139"/>
                  </a:lnTo>
                  <a:close/>
                </a:path>
                <a:path w="387350" h="430530">
                  <a:moveTo>
                    <a:pt x="346777" y="231139"/>
                  </a:moveTo>
                  <a:lnTo>
                    <a:pt x="319853" y="231139"/>
                  </a:lnTo>
                  <a:lnTo>
                    <a:pt x="341904" y="257809"/>
                  </a:lnTo>
                  <a:lnTo>
                    <a:pt x="356107" y="280669"/>
                  </a:lnTo>
                  <a:lnTo>
                    <a:pt x="362310" y="298449"/>
                  </a:lnTo>
                  <a:lnTo>
                    <a:pt x="360361" y="312419"/>
                  </a:lnTo>
                  <a:lnTo>
                    <a:pt x="355044" y="317499"/>
                  </a:lnTo>
                  <a:lnTo>
                    <a:pt x="346588" y="321309"/>
                  </a:lnTo>
                  <a:lnTo>
                    <a:pt x="335296" y="323849"/>
                  </a:lnTo>
                  <a:lnTo>
                    <a:pt x="321473" y="325119"/>
                  </a:lnTo>
                  <a:lnTo>
                    <a:pt x="377605" y="325119"/>
                  </a:lnTo>
                  <a:lnTo>
                    <a:pt x="378724" y="323849"/>
                  </a:lnTo>
                  <a:lnTo>
                    <a:pt x="383661" y="302259"/>
                  </a:lnTo>
                  <a:lnTo>
                    <a:pt x="377307" y="276859"/>
                  </a:lnTo>
                  <a:lnTo>
                    <a:pt x="360724" y="247649"/>
                  </a:lnTo>
                  <a:lnTo>
                    <a:pt x="346777" y="231139"/>
                  </a:lnTo>
                  <a:close/>
                </a:path>
                <a:path w="387350" h="430530">
                  <a:moveTo>
                    <a:pt x="173619" y="279399"/>
                  </a:moveTo>
                  <a:lnTo>
                    <a:pt x="131355" y="279399"/>
                  </a:lnTo>
                  <a:lnTo>
                    <a:pt x="137296" y="283209"/>
                  </a:lnTo>
                  <a:lnTo>
                    <a:pt x="142698" y="287019"/>
                  </a:lnTo>
                  <a:lnTo>
                    <a:pt x="149179" y="290829"/>
                  </a:lnTo>
                  <a:lnTo>
                    <a:pt x="155120" y="293369"/>
                  </a:lnTo>
                  <a:lnTo>
                    <a:pt x="168083" y="300989"/>
                  </a:lnTo>
                  <a:lnTo>
                    <a:pt x="160074" y="303529"/>
                  </a:lnTo>
                  <a:lnTo>
                    <a:pt x="152217" y="307339"/>
                  </a:lnTo>
                  <a:lnTo>
                    <a:pt x="136756" y="312419"/>
                  </a:lnTo>
                  <a:lnTo>
                    <a:pt x="269471" y="312419"/>
                  </a:lnTo>
                  <a:lnTo>
                    <a:pt x="269703" y="311149"/>
                  </a:lnTo>
                  <a:lnTo>
                    <a:pt x="247478" y="311149"/>
                  </a:lnTo>
                  <a:lnTo>
                    <a:pt x="233368" y="306069"/>
                  </a:lnTo>
                  <a:lnTo>
                    <a:pt x="218853" y="300989"/>
                  </a:lnTo>
                  <a:lnTo>
                    <a:pt x="238297" y="289559"/>
                  </a:lnTo>
                  <a:lnTo>
                    <a:pt x="193468" y="289559"/>
                  </a:lnTo>
                  <a:lnTo>
                    <a:pt x="184961" y="285749"/>
                  </a:lnTo>
                  <a:lnTo>
                    <a:pt x="176454" y="280669"/>
                  </a:lnTo>
                  <a:lnTo>
                    <a:pt x="173619" y="279399"/>
                  </a:lnTo>
                  <a:close/>
                </a:path>
                <a:path w="387350" h="430530">
                  <a:moveTo>
                    <a:pt x="274342" y="281939"/>
                  </a:moveTo>
                  <a:lnTo>
                    <a:pt x="252339" y="281939"/>
                  </a:lnTo>
                  <a:lnTo>
                    <a:pt x="248694" y="304799"/>
                  </a:lnTo>
                  <a:lnTo>
                    <a:pt x="247478" y="311149"/>
                  </a:lnTo>
                  <a:lnTo>
                    <a:pt x="269703" y="311149"/>
                  </a:lnTo>
                  <a:lnTo>
                    <a:pt x="270863" y="304799"/>
                  </a:lnTo>
                  <a:lnTo>
                    <a:pt x="272931" y="292099"/>
                  </a:lnTo>
                  <a:lnTo>
                    <a:pt x="274342" y="281939"/>
                  </a:lnTo>
                  <a:close/>
                </a:path>
                <a:path w="387350" h="430530">
                  <a:moveTo>
                    <a:pt x="239377" y="143509"/>
                  </a:moveTo>
                  <a:lnTo>
                    <a:pt x="193468" y="143509"/>
                  </a:lnTo>
                  <a:lnTo>
                    <a:pt x="216557" y="154939"/>
                  </a:lnTo>
                  <a:lnTo>
                    <a:pt x="224254" y="160019"/>
                  </a:lnTo>
                  <a:lnTo>
                    <a:pt x="256204" y="187959"/>
                  </a:lnTo>
                  <a:lnTo>
                    <a:pt x="256610" y="220979"/>
                  </a:lnTo>
                  <a:lnTo>
                    <a:pt x="256515" y="227329"/>
                  </a:lnTo>
                  <a:lnTo>
                    <a:pt x="241672" y="262889"/>
                  </a:lnTo>
                  <a:lnTo>
                    <a:pt x="227494" y="271779"/>
                  </a:lnTo>
                  <a:lnTo>
                    <a:pt x="218988" y="276859"/>
                  </a:lnTo>
                  <a:lnTo>
                    <a:pt x="210481" y="280669"/>
                  </a:lnTo>
                  <a:lnTo>
                    <a:pt x="201974" y="285749"/>
                  </a:lnTo>
                  <a:lnTo>
                    <a:pt x="193468" y="289559"/>
                  </a:lnTo>
                  <a:lnTo>
                    <a:pt x="238297" y="289559"/>
                  </a:lnTo>
                  <a:lnTo>
                    <a:pt x="248018" y="284479"/>
                  </a:lnTo>
                  <a:lnTo>
                    <a:pt x="252339" y="281939"/>
                  </a:lnTo>
                  <a:lnTo>
                    <a:pt x="274342" y="281939"/>
                  </a:lnTo>
                  <a:lnTo>
                    <a:pt x="274695" y="279399"/>
                  </a:lnTo>
                  <a:lnTo>
                    <a:pt x="276104" y="266699"/>
                  </a:lnTo>
                  <a:lnTo>
                    <a:pt x="287953" y="257809"/>
                  </a:lnTo>
                  <a:lnTo>
                    <a:pt x="299194" y="248919"/>
                  </a:lnTo>
                  <a:lnTo>
                    <a:pt x="309827" y="240029"/>
                  </a:lnTo>
                  <a:lnTo>
                    <a:pt x="311259" y="238759"/>
                  </a:lnTo>
                  <a:lnTo>
                    <a:pt x="277724" y="238759"/>
                  </a:lnTo>
                  <a:lnTo>
                    <a:pt x="278264" y="231139"/>
                  </a:lnTo>
                  <a:lnTo>
                    <a:pt x="278156" y="200659"/>
                  </a:lnTo>
                  <a:lnTo>
                    <a:pt x="277724" y="195579"/>
                  </a:lnTo>
                  <a:lnTo>
                    <a:pt x="312691" y="195579"/>
                  </a:lnTo>
                  <a:lnTo>
                    <a:pt x="309827" y="193039"/>
                  </a:lnTo>
                  <a:lnTo>
                    <a:pt x="299194" y="184149"/>
                  </a:lnTo>
                  <a:lnTo>
                    <a:pt x="287953" y="175259"/>
                  </a:lnTo>
                  <a:lnTo>
                    <a:pt x="276104" y="166369"/>
                  </a:lnTo>
                  <a:lnTo>
                    <a:pt x="274686" y="153669"/>
                  </a:lnTo>
                  <a:lnTo>
                    <a:pt x="274355" y="151129"/>
                  </a:lnTo>
                  <a:lnTo>
                    <a:pt x="252879" y="151129"/>
                  </a:lnTo>
                  <a:lnTo>
                    <a:pt x="246938" y="147319"/>
                  </a:lnTo>
                  <a:lnTo>
                    <a:pt x="241537" y="144779"/>
                  </a:lnTo>
                  <a:lnTo>
                    <a:pt x="239377" y="143509"/>
                  </a:lnTo>
                  <a:close/>
                </a:path>
                <a:path w="387350" h="430530">
                  <a:moveTo>
                    <a:pt x="312691" y="195579"/>
                  </a:moveTo>
                  <a:lnTo>
                    <a:pt x="277724" y="195579"/>
                  </a:lnTo>
                  <a:lnTo>
                    <a:pt x="284822" y="200659"/>
                  </a:lnTo>
                  <a:lnTo>
                    <a:pt x="291565" y="205739"/>
                  </a:lnTo>
                  <a:lnTo>
                    <a:pt x="298004" y="212089"/>
                  </a:lnTo>
                  <a:lnTo>
                    <a:pt x="304190" y="217169"/>
                  </a:lnTo>
                  <a:lnTo>
                    <a:pt x="298004" y="222249"/>
                  </a:lnTo>
                  <a:lnTo>
                    <a:pt x="291565" y="227329"/>
                  </a:lnTo>
                  <a:lnTo>
                    <a:pt x="284822" y="233679"/>
                  </a:lnTo>
                  <a:lnTo>
                    <a:pt x="277724" y="238759"/>
                  </a:lnTo>
                  <a:lnTo>
                    <a:pt x="311259" y="238759"/>
                  </a:lnTo>
                  <a:lnTo>
                    <a:pt x="319853" y="231139"/>
                  </a:lnTo>
                  <a:lnTo>
                    <a:pt x="346777" y="231139"/>
                  </a:lnTo>
                  <a:lnTo>
                    <a:pt x="334976" y="217169"/>
                  </a:lnTo>
                  <a:lnTo>
                    <a:pt x="348710" y="201929"/>
                  </a:lnTo>
                  <a:lnTo>
                    <a:pt x="319853" y="201929"/>
                  </a:lnTo>
                  <a:lnTo>
                    <a:pt x="312691" y="195579"/>
                  </a:lnTo>
                  <a:close/>
                </a:path>
                <a:path w="387350" h="430530">
                  <a:moveTo>
                    <a:pt x="127421" y="196849"/>
                  </a:moveTo>
                  <a:lnTo>
                    <a:pt x="105970" y="196849"/>
                  </a:lnTo>
                  <a:lnTo>
                    <a:pt x="105970" y="203199"/>
                  </a:lnTo>
                  <a:lnTo>
                    <a:pt x="105646" y="207009"/>
                  </a:lnTo>
                  <a:lnTo>
                    <a:pt x="105538" y="231139"/>
                  </a:lnTo>
                  <a:lnTo>
                    <a:pt x="105970" y="236219"/>
                  </a:lnTo>
                  <a:lnTo>
                    <a:pt x="127250" y="236219"/>
                  </a:lnTo>
                  <a:lnTo>
                    <a:pt x="127136" y="231139"/>
                  </a:lnTo>
                  <a:lnTo>
                    <a:pt x="127232" y="203199"/>
                  </a:lnTo>
                  <a:lnTo>
                    <a:pt x="127421" y="196849"/>
                  </a:lnTo>
                  <a:close/>
                </a:path>
                <a:path w="387350" h="430530">
                  <a:moveTo>
                    <a:pt x="163922" y="106679"/>
                  </a:moveTo>
                  <a:lnTo>
                    <a:pt x="74366" y="106679"/>
                  </a:lnTo>
                  <a:lnTo>
                    <a:pt x="87269" y="107949"/>
                  </a:lnTo>
                  <a:lnTo>
                    <a:pt x="115152" y="113029"/>
                  </a:lnTo>
                  <a:lnTo>
                    <a:pt x="112519" y="126999"/>
                  </a:lnTo>
                  <a:lnTo>
                    <a:pt x="110291" y="140969"/>
                  </a:lnTo>
                  <a:lnTo>
                    <a:pt x="108468" y="154939"/>
                  </a:lnTo>
                  <a:lnTo>
                    <a:pt x="107050" y="168909"/>
                  </a:lnTo>
                  <a:lnTo>
                    <a:pt x="96012" y="177799"/>
                  </a:lnTo>
                  <a:lnTo>
                    <a:pt x="85581" y="185419"/>
                  </a:lnTo>
                  <a:lnTo>
                    <a:pt x="75758" y="193039"/>
                  </a:lnTo>
                  <a:lnTo>
                    <a:pt x="66542" y="201929"/>
                  </a:lnTo>
                  <a:lnTo>
                    <a:pt x="99911" y="201929"/>
                  </a:lnTo>
                  <a:lnTo>
                    <a:pt x="105970" y="196849"/>
                  </a:lnTo>
                  <a:lnTo>
                    <a:pt x="127421" y="196849"/>
                  </a:lnTo>
                  <a:lnTo>
                    <a:pt x="153559" y="165099"/>
                  </a:lnTo>
                  <a:lnTo>
                    <a:pt x="162681" y="160019"/>
                  </a:lnTo>
                  <a:lnTo>
                    <a:pt x="170378" y="154939"/>
                  </a:lnTo>
                  <a:lnTo>
                    <a:pt x="172944" y="153669"/>
                  </a:lnTo>
                  <a:lnTo>
                    <a:pt x="130815" y="153669"/>
                  </a:lnTo>
                  <a:lnTo>
                    <a:pt x="132039" y="144779"/>
                  </a:lnTo>
                  <a:lnTo>
                    <a:pt x="133313" y="135889"/>
                  </a:lnTo>
                  <a:lnTo>
                    <a:pt x="134689" y="128269"/>
                  </a:lnTo>
                  <a:lnTo>
                    <a:pt x="136216" y="119379"/>
                  </a:lnTo>
                  <a:lnTo>
                    <a:pt x="193468" y="119379"/>
                  </a:lnTo>
                  <a:lnTo>
                    <a:pt x="180201" y="113029"/>
                  </a:lnTo>
                  <a:lnTo>
                    <a:pt x="163922" y="106679"/>
                  </a:lnTo>
                  <a:close/>
                </a:path>
                <a:path w="387350" h="430530">
                  <a:moveTo>
                    <a:pt x="380846" y="106679"/>
                  </a:moveTo>
                  <a:lnTo>
                    <a:pt x="338073" y="106679"/>
                  </a:lnTo>
                  <a:lnTo>
                    <a:pt x="349491" y="109219"/>
                  </a:lnTo>
                  <a:lnTo>
                    <a:pt x="357972" y="113029"/>
                  </a:lnTo>
                  <a:lnTo>
                    <a:pt x="363061" y="118109"/>
                  </a:lnTo>
                  <a:lnTo>
                    <a:pt x="364893" y="132079"/>
                  </a:lnTo>
                  <a:lnTo>
                    <a:pt x="358268" y="152399"/>
                  </a:lnTo>
                  <a:lnTo>
                    <a:pt x="343238" y="175259"/>
                  </a:lnTo>
                  <a:lnTo>
                    <a:pt x="319853" y="201929"/>
                  </a:lnTo>
                  <a:lnTo>
                    <a:pt x="348710" y="201929"/>
                  </a:lnTo>
                  <a:lnTo>
                    <a:pt x="362445" y="186689"/>
                  </a:lnTo>
                  <a:lnTo>
                    <a:pt x="380142" y="156209"/>
                  </a:lnTo>
                  <a:lnTo>
                    <a:pt x="387003" y="129539"/>
                  </a:lnTo>
                  <a:lnTo>
                    <a:pt x="381965" y="107949"/>
                  </a:lnTo>
                  <a:lnTo>
                    <a:pt x="380846" y="106679"/>
                  </a:lnTo>
                  <a:close/>
                </a:path>
                <a:path w="387350" h="430530">
                  <a:moveTo>
                    <a:pt x="228872" y="21589"/>
                  </a:moveTo>
                  <a:lnTo>
                    <a:pt x="191847" y="21589"/>
                  </a:lnTo>
                  <a:lnTo>
                    <a:pt x="204717" y="26669"/>
                  </a:lnTo>
                  <a:lnTo>
                    <a:pt x="218245" y="41909"/>
                  </a:lnTo>
                  <a:lnTo>
                    <a:pt x="231267" y="66039"/>
                  </a:lnTo>
                  <a:lnTo>
                    <a:pt x="242617" y="99059"/>
                  </a:lnTo>
                  <a:lnTo>
                    <a:pt x="230684" y="104139"/>
                  </a:lnTo>
                  <a:lnTo>
                    <a:pt x="218448" y="107949"/>
                  </a:lnTo>
                  <a:lnTo>
                    <a:pt x="206008" y="113029"/>
                  </a:lnTo>
                  <a:lnTo>
                    <a:pt x="193468" y="119379"/>
                  </a:lnTo>
                  <a:lnTo>
                    <a:pt x="136216" y="119379"/>
                  </a:lnTo>
                  <a:lnTo>
                    <a:pt x="151947" y="124459"/>
                  </a:lnTo>
                  <a:lnTo>
                    <a:pt x="159989" y="128269"/>
                  </a:lnTo>
                  <a:lnTo>
                    <a:pt x="168083" y="130809"/>
                  </a:lnTo>
                  <a:lnTo>
                    <a:pt x="162681" y="134619"/>
                  </a:lnTo>
                  <a:lnTo>
                    <a:pt x="156740" y="137159"/>
                  </a:lnTo>
                  <a:lnTo>
                    <a:pt x="151339" y="140969"/>
                  </a:lnTo>
                  <a:lnTo>
                    <a:pt x="144858" y="144779"/>
                  </a:lnTo>
                  <a:lnTo>
                    <a:pt x="130815" y="153669"/>
                  </a:lnTo>
                  <a:lnTo>
                    <a:pt x="172944" y="153669"/>
                  </a:lnTo>
                  <a:lnTo>
                    <a:pt x="193468" y="143509"/>
                  </a:lnTo>
                  <a:lnTo>
                    <a:pt x="239377" y="143509"/>
                  </a:lnTo>
                  <a:lnTo>
                    <a:pt x="235056" y="140969"/>
                  </a:lnTo>
                  <a:lnTo>
                    <a:pt x="229655" y="138429"/>
                  </a:lnTo>
                  <a:lnTo>
                    <a:pt x="224254" y="134619"/>
                  </a:lnTo>
                  <a:lnTo>
                    <a:pt x="218313" y="130809"/>
                  </a:lnTo>
                  <a:lnTo>
                    <a:pt x="247478" y="120649"/>
                  </a:lnTo>
                  <a:lnTo>
                    <a:pt x="269319" y="120649"/>
                  </a:lnTo>
                  <a:lnTo>
                    <a:pt x="268002" y="114299"/>
                  </a:lnTo>
                  <a:lnTo>
                    <a:pt x="283159" y="110489"/>
                  </a:lnTo>
                  <a:lnTo>
                    <a:pt x="297708" y="107949"/>
                  </a:lnTo>
                  <a:lnTo>
                    <a:pt x="311447" y="106679"/>
                  </a:lnTo>
                  <a:lnTo>
                    <a:pt x="380846" y="106679"/>
                  </a:lnTo>
                  <a:lnTo>
                    <a:pt x="373011" y="97789"/>
                  </a:lnTo>
                  <a:lnTo>
                    <a:pt x="366585" y="93979"/>
                  </a:lnTo>
                  <a:lnTo>
                    <a:pt x="263141" y="93979"/>
                  </a:lnTo>
                  <a:lnTo>
                    <a:pt x="249571" y="54609"/>
                  </a:lnTo>
                  <a:lnTo>
                    <a:pt x="232760" y="25399"/>
                  </a:lnTo>
                  <a:lnTo>
                    <a:pt x="228872" y="21589"/>
                  </a:lnTo>
                  <a:close/>
                </a:path>
                <a:path w="387350" h="430530">
                  <a:moveTo>
                    <a:pt x="269319" y="120649"/>
                  </a:moveTo>
                  <a:lnTo>
                    <a:pt x="247478" y="120649"/>
                  </a:lnTo>
                  <a:lnTo>
                    <a:pt x="249006" y="128269"/>
                  </a:lnTo>
                  <a:lnTo>
                    <a:pt x="250381" y="135889"/>
                  </a:lnTo>
                  <a:lnTo>
                    <a:pt x="251656" y="143509"/>
                  </a:lnTo>
                  <a:lnTo>
                    <a:pt x="252879" y="151129"/>
                  </a:lnTo>
                  <a:lnTo>
                    <a:pt x="274355" y="151129"/>
                  </a:lnTo>
                  <a:lnTo>
                    <a:pt x="272863" y="139699"/>
                  </a:lnTo>
                  <a:lnTo>
                    <a:pt x="270635" y="126999"/>
                  </a:lnTo>
                  <a:lnTo>
                    <a:pt x="269319" y="120649"/>
                  </a:lnTo>
                  <a:close/>
                </a:path>
                <a:path w="387350" h="430530">
                  <a:moveTo>
                    <a:pt x="324174" y="85089"/>
                  </a:moveTo>
                  <a:lnTo>
                    <a:pt x="310308" y="85089"/>
                  </a:lnTo>
                  <a:lnTo>
                    <a:pt x="295480" y="86359"/>
                  </a:lnTo>
                  <a:lnTo>
                    <a:pt x="279741" y="90169"/>
                  </a:lnTo>
                  <a:lnTo>
                    <a:pt x="263141" y="93979"/>
                  </a:lnTo>
                  <a:lnTo>
                    <a:pt x="366585" y="93979"/>
                  </a:lnTo>
                  <a:lnTo>
                    <a:pt x="360158" y="90169"/>
                  </a:lnTo>
                  <a:lnTo>
                    <a:pt x="343761" y="86359"/>
                  </a:lnTo>
                  <a:lnTo>
                    <a:pt x="324174" y="85089"/>
                  </a:lnTo>
                  <a:close/>
                </a:path>
                <a:path w="387350" h="430530">
                  <a:moveTo>
                    <a:pt x="191847" y="0"/>
                  </a:moveTo>
                  <a:lnTo>
                    <a:pt x="170614" y="6349"/>
                  </a:lnTo>
                  <a:lnTo>
                    <a:pt x="151204" y="25399"/>
                  </a:lnTo>
                  <a:lnTo>
                    <a:pt x="134427" y="54609"/>
                  </a:lnTo>
                  <a:lnTo>
                    <a:pt x="121093" y="92709"/>
                  </a:lnTo>
                  <a:lnTo>
                    <a:pt x="143784" y="92709"/>
                  </a:lnTo>
                  <a:lnTo>
                    <a:pt x="152884" y="66039"/>
                  </a:lnTo>
                  <a:lnTo>
                    <a:pt x="165720" y="41909"/>
                  </a:lnTo>
                  <a:lnTo>
                    <a:pt x="179062" y="26669"/>
                  </a:lnTo>
                  <a:lnTo>
                    <a:pt x="191847" y="21589"/>
                  </a:lnTo>
                  <a:lnTo>
                    <a:pt x="228872" y="21589"/>
                  </a:lnTo>
                  <a:lnTo>
                    <a:pt x="213317" y="6349"/>
                  </a:lnTo>
                  <a:lnTo>
                    <a:pt x="191847" y="0"/>
                  </a:lnTo>
                  <a:close/>
                </a:path>
              </a:pathLst>
            </a:custGeom>
            <a:solidFill>
              <a:schemeClr val="bg1"/>
            </a:solidFill>
          </p:spPr>
          <p:txBody>
            <a:bodyPr lIns="0" tIns="0" rIns="0" bIns="0"/>
            <a:lstStyle/>
            <a:p>
              <a:pPr algn="ctr" defTabSz="607722">
                <a:defRPr/>
              </a:pPr>
              <a:endParaRPr sz="1332" noProof="1">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1404872" y="4088524"/>
            <a:ext cx="1736549" cy="278711"/>
            <a:chOff x="15028" y="3360"/>
            <a:chExt cx="4106" cy="659"/>
          </a:xfrm>
        </p:grpSpPr>
        <p:sp>
          <p:nvSpPr>
            <p:cNvPr id="9" name="矩形 29"/>
            <p:cNvSpPr txBox="1"/>
            <p:nvPr>
              <p:custDataLst>
                <p:tags r:id="rId22"/>
              </p:custDataLst>
            </p:nvPr>
          </p:nvSpPr>
          <p:spPr>
            <a:xfrm>
              <a:off x="15028" y="3360"/>
              <a:ext cx="4106" cy="659"/>
            </a:xfrm>
            <a:prstGeom prst="rect">
              <a:avLst/>
            </a:prstGeom>
            <a:ln w="12700">
              <a:miter lim="400000"/>
            </a:ln>
          </p:spPr>
          <p:txBody>
            <a:bodyPr wrap="square" lIns="18931" tIns="18931" rIns="18931" bIns="18931">
              <a:spAutoFit/>
            </a:bodyPr>
            <a:lstStyle>
              <a:lvl1pPr>
                <a:lnSpc>
                  <a:spcPct val="130000"/>
                </a:lnSpc>
                <a:defRPr sz="2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pPr algn="ctr"/>
              <a:r>
                <a:rPr lang="zh-CN" altLang="en-US" sz="1332" b="1" dirty="0">
                  <a:solidFill>
                    <a:schemeClr val="tx1"/>
                  </a:solidFill>
                  <a:latin typeface="微软雅黑" panose="020B0503020204020204" pitchFamily="34" charset="-122"/>
                  <a:ea typeface="微软雅黑" panose="020B0503020204020204" pitchFamily="34" charset="-122"/>
                  <a:cs typeface="腾讯体 W7" panose="020C08030202040F0204" pitchFamily="34" charset="-122"/>
                </a:rPr>
                <a:t>工作流</a:t>
              </a:r>
            </a:p>
          </p:txBody>
        </p:sp>
        <p:sp>
          <p:nvSpPr>
            <p:cNvPr id="11" name="Freeform 9"/>
            <p:cNvSpPr>
              <a:spLocks noEditPoints="1"/>
            </p:cNvSpPr>
            <p:nvPr/>
          </p:nvSpPr>
          <p:spPr bwMode="auto">
            <a:xfrm>
              <a:off x="15559" y="3413"/>
              <a:ext cx="506" cy="534"/>
            </a:xfrm>
            <a:custGeom>
              <a:avLst/>
              <a:gdLst>
                <a:gd name="T0" fmla="*/ 120 w 161"/>
                <a:gd name="T1" fmla="*/ 0 h 170"/>
                <a:gd name="T2" fmla="*/ 120 w 161"/>
                <a:gd name="T3" fmla="*/ 34 h 170"/>
                <a:gd name="T4" fmla="*/ 161 w 161"/>
                <a:gd name="T5" fmla="*/ 34 h 170"/>
                <a:gd name="T6" fmla="*/ 161 w 161"/>
                <a:gd name="T7" fmla="*/ 170 h 170"/>
                <a:gd name="T8" fmla="*/ 0 w 161"/>
                <a:gd name="T9" fmla="*/ 170 h 170"/>
                <a:gd name="T10" fmla="*/ 0 w 161"/>
                <a:gd name="T11" fmla="*/ 34 h 170"/>
                <a:gd name="T12" fmla="*/ 41 w 161"/>
                <a:gd name="T13" fmla="*/ 34 h 170"/>
                <a:gd name="T14" fmla="*/ 41 w 161"/>
                <a:gd name="T15" fmla="*/ 0 h 170"/>
                <a:gd name="T16" fmla="*/ 120 w 161"/>
                <a:gd name="T17" fmla="*/ 0 h 170"/>
                <a:gd name="T18" fmla="*/ 120 w 161"/>
                <a:gd name="T19" fmla="*/ 0 h 170"/>
                <a:gd name="T20" fmla="*/ 148 w 161"/>
                <a:gd name="T21" fmla="*/ 48 h 170"/>
                <a:gd name="T22" fmla="*/ 13 w 161"/>
                <a:gd name="T23" fmla="*/ 48 h 170"/>
                <a:gd name="T24" fmla="*/ 13 w 161"/>
                <a:gd name="T25" fmla="*/ 154 h 170"/>
                <a:gd name="T26" fmla="*/ 148 w 161"/>
                <a:gd name="T27" fmla="*/ 154 h 170"/>
                <a:gd name="T28" fmla="*/ 148 w 161"/>
                <a:gd name="T29" fmla="*/ 48 h 170"/>
                <a:gd name="T30" fmla="*/ 87 w 161"/>
                <a:gd name="T31" fmla="*/ 66 h 170"/>
                <a:gd name="T32" fmla="*/ 87 w 161"/>
                <a:gd name="T33" fmla="*/ 93 h 170"/>
                <a:gd name="T34" fmla="*/ 112 w 161"/>
                <a:gd name="T35" fmla="*/ 93 h 170"/>
                <a:gd name="T36" fmla="*/ 112 w 161"/>
                <a:gd name="T37" fmla="*/ 109 h 170"/>
                <a:gd name="T38" fmla="*/ 87 w 161"/>
                <a:gd name="T39" fmla="*/ 109 h 170"/>
                <a:gd name="T40" fmla="*/ 87 w 161"/>
                <a:gd name="T41" fmla="*/ 135 h 170"/>
                <a:gd name="T42" fmla="*/ 74 w 161"/>
                <a:gd name="T43" fmla="*/ 135 h 170"/>
                <a:gd name="T44" fmla="*/ 74 w 161"/>
                <a:gd name="T45" fmla="*/ 109 h 170"/>
                <a:gd name="T46" fmla="*/ 48 w 161"/>
                <a:gd name="T47" fmla="*/ 109 h 170"/>
                <a:gd name="T48" fmla="*/ 48 w 161"/>
                <a:gd name="T49" fmla="*/ 93 h 170"/>
                <a:gd name="T50" fmla="*/ 74 w 161"/>
                <a:gd name="T51" fmla="*/ 93 h 170"/>
                <a:gd name="T52" fmla="*/ 74 w 161"/>
                <a:gd name="T53" fmla="*/ 66 h 170"/>
                <a:gd name="T54" fmla="*/ 87 w 161"/>
                <a:gd name="T55" fmla="*/ 66 h 170"/>
                <a:gd name="T56" fmla="*/ 107 w 161"/>
                <a:gd name="T57" fmla="*/ 16 h 170"/>
                <a:gd name="T58" fmla="*/ 56 w 161"/>
                <a:gd name="T59" fmla="*/ 16 h 170"/>
                <a:gd name="T60" fmla="*/ 56 w 161"/>
                <a:gd name="T61" fmla="*/ 34 h 170"/>
                <a:gd name="T62" fmla="*/ 107 w 161"/>
                <a:gd name="T63" fmla="*/ 34 h 170"/>
                <a:gd name="T64" fmla="*/ 107 w 161"/>
                <a:gd name="T65" fmla="*/ 1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1" h="170">
                  <a:moveTo>
                    <a:pt x="120" y="0"/>
                  </a:moveTo>
                  <a:lnTo>
                    <a:pt x="120" y="34"/>
                  </a:lnTo>
                  <a:lnTo>
                    <a:pt x="161" y="34"/>
                  </a:lnTo>
                  <a:lnTo>
                    <a:pt x="161" y="170"/>
                  </a:lnTo>
                  <a:lnTo>
                    <a:pt x="0" y="170"/>
                  </a:lnTo>
                  <a:lnTo>
                    <a:pt x="0" y="34"/>
                  </a:lnTo>
                  <a:lnTo>
                    <a:pt x="41" y="34"/>
                  </a:lnTo>
                  <a:lnTo>
                    <a:pt x="41" y="0"/>
                  </a:lnTo>
                  <a:lnTo>
                    <a:pt x="120" y="0"/>
                  </a:lnTo>
                  <a:lnTo>
                    <a:pt x="120" y="0"/>
                  </a:lnTo>
                  <a:close/>
                  <a:moveTo>
                    <a:pt x="148" y="48"/>
                  </a:moveTo>
                  <a:lnTo>
                    <a:pt x="13" y="48"/>
                  </a:lnTo>
                  <a:lnTo>
                    <a:pt x="13" y="154"/>
                  </a:lnTo>
                  <a:lnTo>
                    <a:pt x="148" y="154"/>
                  </a:lnTo>
                  <a:lnTo>
                    <a:pt x="148" y="48"/>
                  </a:lnTo>
                  <a:close/>
                  <a:moveTo>
                    <a:pt x="87" y="66"/>
                  </a:moveTo>
                  <a:lnTo>
                    <a:pt x="87" y="93"/>
                  </a:lnTo>
                  <a:lnTo>
                    <a:pt x="112" y="93"/>
                  </a:lnTo>
                  <a:lnTo>
                    <a:pt x="112" y="109"/>
                  </a:lnTo>
                  <a:lnTo>
                    <a:pt x="87" y="109"/>
                  </a:lnTo>
                  <a:lnTo>
                    <a:pt x="87" y="135"/>
                  </a:lnTo>
                  <a:lnTo>
                    <a:pt x="74" y="135"/>
                  </a:lnTo>
                  <a:lnTo>
                    <a:pt x="74" y="109"/>
                  </a:lnTo>
                  <a:lnTo>
                    <a:pt x="48" y="109"/>
                  </a:lnTo>
                  <a:lnTo>
                    <a:pt x="48" y="93"/>
                  </a:lnTo>
                  <a:lnTo>
                    <a:pt x="74" y="93"/>
                  </a:lnTo>
                  <a:lnTo>
                    <a:pt x="74" y="66"/>
                  </a:lnTo>
                  <a:lnTo>
                    <a:pt x="87" y="66"/>
                  </a:lnTo>
                  <a:close/>
                  <a:moveTo>
                    <a:pt x="107" y="16"/>
                  </a:moveTo>
                  <a:lnTo>
                    <a:pt x="56" y="16"/>
                  </a:lnTo>
                  <a:lnTo>
                    <a:pt x="56" y="34"/>
                  </a:lnTo>
                  <a:lnTo>
                    <a:pt x="107" y="34"/>
                  </a:lnTo>
                  <a:lnTo>
                    <a:pt x="107" y="16"/>
                  </a:lnTo>
                  <a:close/>
                </a:path>
              </a:pathLst>
            </a:custGeom>
            <a:solidFill>
              <a:schemeClr val="bg1"/>
            </a:solidFill>
            <a:ln>
              <a:noFill/>
            </a:ln>
          </p:spPr>
          <p:txBody>
            <a:bodyPr vert="horz" wrap="square" lIns="60902" tIns="30451" rIns="60902" bIns="30451" numCol="1" anchor="t" anchorCtr="0" compatLnSpc="1"/>
            <a:lstStyle/>
            <a:p>
              <a:endParaRPr lang="zh-CN" altLang="en-US" sz="1332">
                <a:latin typeface="微软雅黑" panose="020B0503020204020204" pitchFamily="34" charset="-122"/>
                <a:ea typeface="微软雅黑" panose="020B0503020204020204" pitchFamily="34" charset="-122"/>
              </a:endParaRPr>
            </a:p>
          </p:txBody>
        </p:sp>
      </p:grpSp>
      <p:sp>
        <p:nvSpPr>
          <p:cNvPr id="15" name="文本框 14">
            <a:extLst>
              <a:ext uri="{FF2B5EF4-FFF2-40B4-BE49-F238E27FC236}">
                <a16:creationId xmlns:a16="http://schemas.microsoft.com/office/drawing/2014/main" id="{1D886B39-4C7F-54EA-34A4-A7D9BB7E3461}"/>
              </a:ext>
            </a:extLst>
          </p:cNvPr>
          <p:cNvSpPr txBox="1"/>
          <p:nvPr/>
        </p:nvSpPr>
        <p:spPr>
          <a:xfrm>
            <a:off x="1736449" y="818183"/>
            <a:ext cx="752096" cy="420243"/>
          </a:xfrm>
          <a:prstGeom prst="rect">
            <a:avLst/>
          </a:prstGeom>
          <a:noFill/>
        </p:spPr>
        <p:txBody>
          <a:bodyPr wrap="square">
            <a:spAutoFit/>
          </a:bodyPr>
          <a:lstStyle/>
          <a:p>
            <a:r>
              <a:rPr lang="zh-CN" altLang="en-US" sz="2131" b="1" dirty="0">
                <a:solidFill>
                  <a:schemeClr val="accent6"/>
                </a:solidFill>
                <a:latin typeface="微软雅黑" panose="020B0503020204020204" pitchFamily="34" charset="-122"/>
                <a:ea typeface="微软雅黑" panose="020B0503020204020204" pitchFamily="34" charset="-122"/>
                <a:sym typeface="+mn-ea"/>
              </a:rPr>
              <a:t>开发</a:t>
            </a:r>
            <a:endParaRPr lang="zh-CN" altLang="en-US" sz="2131" b="1" dirty="0">
              <a:solidFill>
                <a:schemeClr val="accent6"/>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DFF96C72-01A8-0AE6-2EAB-6C9D3A7913B5}"/>
              </a:ext>
            </a:extLst>
          </p:cNvPr>
          <p:cNvSpPr txBox="1"/>
          <p:nvPr/>
        </p:nvSpPr>
        <p:spPr>
          <a:xfrm>
            <a:off x="7789332" y="818182"/>
            <a:ext cx="752096" cy="420243"/>
          </a:xfrm>
          <a:prstGeom prst="rect">
            <a:avLst/>
          </a:prstGeom>
          <a:noFill/>
        </p:spPr>
        <p:txBody>
          <a:bodyPr wrap="square">
            <a:spAutoFit/>
          </a:bodyPr>
          <a:lstStyle/>
          <a:p>
            <a:r>
              <a:rPr lang="zh-CN" altLang="en-US" sz="2131" b="1" dirty="0">
                <a:solidFill>
                  <a:schemeClr val="accent6"/>
                </a:solidFill>
                <a:latin typeface="微软雅黑" panose="020B0503020204020204" pitchFamily="34" charset="-122"/>
                <a:ea typeface="微软雅黑" panose="020B0503020204020204" pitchFamily="34" charset="-122"/>
                <a:sym typeface="+mn-ea"/>
              </a:rPr>
              <a:t>运行</a:t>
            </a:r>
            <a:endParaRPr lang="zh-CN" altLang="en-US" sz="2131" b="1" dirty="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3681032"/>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00000">
              <a:schemeClr val="bg1"/>
            </a:gs>
            <a:gs pos="0">
              <a:srgbClr val="F8FEFC">
                <a:alpha val="82000"/>
              </a:srgbClr>
            </a:gs>
          </a:gsLst>
          <a:lin ang="5400000" scaled="0"/>
        </a:gradFill>
        <a:effectLst/>
      </p:bgPr>
    </p:bg>
    <p:spTree>
      <p:nvGrpSpPr>
        <p:cNvPr id="1" name=""/>
        <p:cNvGrpSpPr/>
        <p:nvPr/>
      </p:nvGrpSpPr>
      <p:grpSpPr>
        <a:xfrm>
          <a:off x="0" y="0"/>
          <a:ext cx="0" cy="0"/>
          <a:chOff x="0" y="0"/>
          <a:chExt cx="0" cy="0"/>
        </a:xfrm>
      </p:grpSpPr>
      <p:sp>
        <p:nvSpPr>
          <p:cNvPr id="31" name="文本框 30"/>
          <p:cNvSpPr txBox="1"/>
          <p:nvPr/>
        </p:nvSpPr>
        <p:spPr>
          <a:xfrm>
            <a:off x="471492" y="225995"/>
            <a:ext cx="8914359" cy="420243"/>
          </a:xfrm>
          <a:prstGeom prst="rect">
            <a:avLst/>
          </a:prstGeom>
          <a:noFill/>
        </p:spPr>
        <p:txBody>
          <a:bodyPr wrap="square" rtlCol="0">
            <a:spAutoFit/>
          </a:bodyPr>
          <a:lstStyle/>
          <a:p>
            <a:pPr defTabSz="913909"/>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面临挑战从技术创新到生态构建，云服务商协同电信运营商构建解决方案</a:t>
            </a:r>
          </a:p>
        </p:txBody>
      </p:sp>
      <p:grpSp>
        <p:nvGrpSpPr>
          <p:cNvPr id="4" name="组合 3"/>
          <p:cNvGrpSpPr/>
          <p:nvPr/>
        </p:nvGrpSpPr>
        <p:grpSpPr>
          <a:xfrm>
            <a:off x="1309897" y="960969"/>
            <a:ext cx="10420576" cy="1537627"/>
            <a:chOff x="990567" y="2408683"/>
            <a:chExt cx="13489716" cy="2308643"/>
          </a:xfrm>
        </p:grpSpPr>
        <p:sp>
          <p:nvSpPr>
            <p:cNvPr id="11" name="TextBox 6"/>
            <p:cNvSpPr txBox="1"/>
            <p:nvPr>
              <p:custDataLst>
                <p:tags r:id="rId7"/>
              </p:custDataLst>
            </p:nvPr>
          </p:nvSpPr>
          <p:spPr>
            <a:xfrm>
              <a:off x="5974088" y="2428554"/>
              <a:ext cx="3810635" cy="2288772"/>
            </a:xfrm>
            <a:prstGeom prst="rect">
              <a:avLst/>
            </a:prstGeom>
            <a:noFill/>
          </p:spPr>
          <p:txBody>
            <a:bodyPr wrap="square" lIns="0" rIns="0" rtlCol="0">
              <a:spAutoFit/>
            </a:bodyPr>
            <a:lstStyle/>
            <a:p>
              <a:pPr algn="ctr">
                <a:lnSpc>
                  <a:spcPct val="150000"/>
                </a:lnSpc>
              </a:pPr>
              <a:r>
                <a:rPr lang="zh-CN" altLang="en-US" sz="1598" b="1" dirty="0">
                  <a:solidFill>
                    <a:schemeClr val="accent6"/>
                  </a:solidFill>
                  <a:latin typeface="微软雅黑" panose="020B0503020204020204" pitchFamily="34" charset="-122"/>
                  <a:ea typeface="微软雅黑" panose="020B0503020204020204" pitchFamily="34" charset="-122"/>
                  <a:cs typeface="DINCond-Bold" charset="0"/>
                </a:rPr>
                <a:t>应用方面</a:t>
              </a:r>
              <a:r>
                <a:rPr lang="zh-CN" altLang="en-US" sz="1598" dirty="0">
                  <a:latin typeface="微软雅黑" panose="020B0503020204020204" pitchFamily="34" charset="-122"/>
                  <a:ea typeface="微软雅黑" panose="020B0503020204020204" pitchFamily="34" charset="-122"/>
                  <a:cs typeface="DINCond-Bold" charset="0"/>
                </a:rPr>
                <a:t>，电信业务复杂导致智能体服务精准度提升难，系统数据孤岛难破、用户体验有待提升，商业模式尚未成熟，盈利困难。</a:t>
              </a:r>
              <a:endParaRPr lang="en-US" altLang="zh-CN" sz="1598" dirty="0">
                <a:latin typeface="微软雅黑" panose="020B0503020204020204" pitchFamily="34" charset="-122"/>
                <a:ea typeface="微软雅黑" panose="020B0503020204020204" pitchFamily="34" charset="-122"/>
                <a:cs typeface="DINCond-Bold" charset="0"/>
              </a:endParaRPr>
            </a:p>
          </p:txBody>
        </p:sp>
        <p:sp>
          <p:nvSpPr>
            <p:cNvPr id="26" name="TextBox 6"/>
            <p:cNvSpPr txBox="1"/>
            <p:nvPr>
              <p:custDataLst>
                <p:tags r:id="rId8"/>
              </p:custDataLst>
            </p:nvPr>
          </p:nvSpPr>
          <p:spPr>
            <a:xfrm>
              <a:off x="990567" y="2428554"/>
              <a:ext cx="4235093" cy="2288772"/>
            </a:xfrm>
            <a:prstGeom prst="rect">
              <a:avLst/>
            </a:prstGeom>
            <a:noFill/>
          </p:spPr>
          <p:txBody>
            <a:bodyPr wrap="square" lIns="0" rIns="0" rtlCol="0">
              <a:spAutoFit/>
            </a:bodyPr>
            <a:lstStyle/>
            <a:p>
              <a:pPr algn="ctr">
                <a:lnSpc>
                  <a:spcPct val="150000"/>
                </a:lnSpc>
              </a:pPr>
              <a:r>
                <a:rPr lang="zh-CN" altLang="en-US" sz="1598" b="1" dirty="0">
                  <a:solidFill>
                    <a:schemeClr val="accent6"/>
                  </a:solidFill>
                  <a:latin typeface="微软雅黑" panose="020B0503020204020204" pitchFamily="34" charset="-122"/>
                  <a:ea typeface="微软雅黑" panose="020B0503020204020204" pitchFamily="34" charset="-122"/>
                  <a:cs typeface="DINCond-Bold" charset="0"/>
                </a:rPr>
                <a:t>技术方面</a:t>
              </a:r>
              <a:r>
                <a:rPr lang="zh-CN" altLang="en-US" sz="1598" dirty="0">
                  <a:latin typeface="微软雅黑" panose="020B0503020204020204" pitchFamily="34" charset="-122"/>
                  <a:ea typeface="微软雅黑" panose="020B0503020204020204" pitchFamily="34" charset="-122"/>
                  <a:cs typeface="DINCond-Bold" charset="0"/>
                </a:rPr>
                <a:t>，地方电信运营商大模型研发、算力自主化等能力弱于头部企业，且面临数据治理难、</a:t>
              </a:r>
              <a:r>
                <a:rPr lang="en-US" altLang="zh-CN" sz="1598" dirty="0">
                  <a:latin typeface="微软雅黑" panose="020B0503020204020204" pitchFamily="34" charset="-122"/>
                  <a:ea typeface="微软雅黑" panose="020B0503020204020204" pitchFamily="34" charset="-122"/>
                  <a:cs typeface="DINCond-Bold" charset="0"/>
                </a:rPr>
                <a:t>RAG </a:t>
              </a:r>
              <a:r>
                <a:rPr lang="zh-CN" altLang="en-US" sz="1598" dirty="0">
                  <a:latin typeface="微软雅黑" panose="020B0503020204020204" pitchFamily="34" charset="-122"/>
                  <a:ea typeface="微软雅黑" panose="020B0503020204020204" pitchFamily="34" charset="-122"/>
                  <a:cs typeface="DINCond-Bold" charset="0"/>
                </a:rPr>
                <a:t>技术瓶颈及 </a:t>
              </a:r>
              <a:r>
                <a:rPr lang="en-US" altLang="zh-CN" sz="1598" dirty="0">
                  <a:latin typeface="微软雅黑" panose="020B0503020204020204" pitchFamily="34" charset="-122"/>
                  <a:ea typeface="微软雅黑" panose="020B0503020204020204" pitchFamily="34" charset="-122"/>
                  <a:cs typeface="DINCond-Bold" charset="0"/>
                </a:rPr>
                <a:t>AI </a:t>
              </a:r>
              <a:r>
                <a:rPr lang="zh-CN" altLang="en-US" sz="1598" dirty="0">
                  <a:latin typeface="微软雅黑" panose="020B0503020204020204" pitchFamily="34" charset="-122"/>
                  <a:ea typeface="微软雅黑" panose="020B0503020204020204" pitchFamily="34" charset="-122"/>
                  <a:cs typeface="DINCond-Bold" charset="0"/>
                </a:rPr>
                <a:t>人才短缺问题，制约技术落地。</a:t>
              </a:r>
              <a:endParaRPr lang="en-US" altLang="zh-CN" sz="1598" dirty="0">
                <a:latin typeface="微软雅黑" panose="020B0503020204020204" pitchFamily="34" charset="-122"/>
                <a:ea typeface="微软雅黑" panose="020B0503020204020204" pitchFamily="34" charset="-122"/>
                <a:cs typeface="DINCond-Bold" charset="0"/>
              </a:endParaRPr>
            </a:p>
          </p:txBody>
        </p:sp>
        <p:sp>
          <p:nvSpPr>
            <p:cNvPr id="16" name="TextBox 6"/>
            <p:cNvSpPr txBox="1"/>
            <p:nvPr>
              <p:custDataLst>
                <p:tags r:id="rId9"/>
              </p:custDataLst>
            </p:nvPr>
          </p:nvSpPr>
          <p:spPr>
            <a:xfrm>
              <a:off x="10533151" y="2408683"/>
              <a:ext cx="3947132" cy="2288772"/>
            </a:xfrm>
            <a:prstGeom prst="rect">
              <a:avLst/>
            </a:prstGeom>
            <a:noFill/>
          </p:spPr>
          <p:txBody>
            <a:bodyPr wrap="square" lIns="0" rIns="0" rtlCol="0">
              <a:spAutoFit/>
            </a:bodyPr>
            <a:lstStyle/>
            <a:p>
              <a:pPr algn="ctr">
                <a:lnSpc>
                  <a:spcPct val="150000"/>
                </a:lnSpc>
              </a:pPr>
              <a:r>
                <a:rPr lang="zh-CN" altLang="en-US" sz="1598" b="1" dirty="0">
                  <a:solidFill>
                    <a:schemeClr val="accent6"/>
                  </a:solidFill>
                  <a:latin typeface="微软雅黑" panose="020B0503020204020204" pitchFamily="34" charset="-122"/>
                  <a:ea typeface="微软雅黑" panose="020B0503020204020204" pitchFamily="34" charset="-122"/>
                  <a:cs typeface="DINCond-Bold" charset="0"/>
                </a:rPr>
                <a:t>生态方面</a:t>
              </a:r>
              <a:r>
                <a:rPr lang="zh-CN" altLang="en-US" sz="1598" dirty="0">
                  <a:latin typeface="微软雅黑" panose="020B0503020204020204" pitchFamily="34" charset="-122"/>
                  <a:ea typeface="微软雅黑" panose="020B0503020204020204" pitchFamily="34" charset="-122"/>
                  <a:cs typeface="DINCond-Bold" charset="0"/>
                </a:rPr>
                <a:t>，电信 </a:t>
              </a:r>
              <a:r>
                <a:rPr lang="en-US" altLang="zh-CN" sz="1598" dirty="0">
                  <a:latin typeface="微软雅黑" panose="020B0503020204020204" pitchFamily="34" charset="-122"/>
                  <a:ea typeface="微软雅黑" panose="020B0503020204020204" pitchFamily="34" charset="-122"/>
                  <a:cs typeface="DINCond-Bold" charset="0"/>
                </a:rPr>
                <a:t>AI </a:t>
              </a:r>
              <a:r>
                <a:rPr lang="zh-CN" altLang="en-US" sz="1598" dirty="0">
                  <a:latin typeface="微软雅黑" panose="020B0503020204020204" pitchFamily="34" charset="-122"/>
                  <a:ea typeface="微软雅黑" panose="020B0503020204020204" pitchFamily="34" charset="-122"/>
                  <a:cs typeface="DINCond-Bold" charset="0"/>
                </a:rPr>
                <a:t>智能体行业标准空缺、跨主体协同难，相对头部</a:t>
              </a:r>
              <a:r>
                <a:rPr lang="en-US" altLang="zh-CN" sz="1598" dirty="0">
                  <a:latin typeface="微软雅黑" panose="020B0503020204020204" pitchFamily="34" charset="-122"/>
                  <a:ea typeface="微软雅黑" panose="020B0503020204020204" pitchFamily="34" charset="-122"/>
                  <a:cs typeface="DINCond-Bold" charset="0"/>
                </a:rPr>
                <a:t>AI</a:t>
              </a:r>
              <a:r>
                <a:rPr lang="zh-CN" altLang="en-US" sz="1598" dirty="0">
                  <a:latin typeface="微软雅黑" panose="020B0503020204020204" pitchFamily="34" charset="-122"/>
                  <a:ea typeface="微软雅黑" panose="020B0503020204020204" pitchFamily="34" charset="-122"/>
                  <a:cs typeface="DINCond-Bold" charset="0"/>
                </a:rPr>
                <a:t>企业竞争力不足，地方运营商生态构建与市场拓展压力大。</a:t>
              </a:r>
              <a:endParaRPr lang="en-US" altLang="zh-CN" sz="1598" dirty="0">
                <a:latin typeface="微软雅黑" panose="020B0503020204020204" pitchFamily="34" charset="-122"/>
                <a:ea typeface="微软雅黑" panose="020B0503020204020204" pitchFamily="34" charset="-122"/>
                <a:cs typeface="DINCond-Bold" charset="0"/>
              </a:endParaRPr>
            </a:p>
          </p:txBody>
        </p:sp>
      </p:grpSp>
      <p:grpSp>
        <p:nvGrpSpPr>
          <p:cNvPr id="2" name="组合 1"/>
          <p:cNvGrpSpPr/>
          <p:nvPr/>
        </p:nvGrpSpPr>
        <p:grpSpPr>
          <a:xfrm>
            <a:off x="-49166" y="3016637"/>
            <a:ext cx="12290331" cy="1582589"/>
            <a:chOff x="-470686" y="7004934"/>
            <a:chExt cx="18453100" cy="2376150"/>
          </a:xfrm>
        </p:grpSpPr>
        <p:cxnSp>
          <p:nvCxnSpPr>
            <p:cNvPr id="3" name="Straight Connector 9"/>
            <p:cNvCxnSpPr/>
            <p:nvPr>
              <p:custDataLst>
                <p:tags r:id="rId1"/>
              </p:custDataLst>
            </p:nvPr>
          </p:nvCxnSpPr>
          <p:spPr>
            <a:xfrm>
              <a:off x="-470686" y="7023723"/>
              <a:ext cx="18453100" cy="0"/>
            </a:xfrm>
            <a:prstGeom prst="line">
              <a:avLst/>
            </a:prstGeom>
            <a:ln w="25400">
              <a:gradFill>
                <a:gsLst>
                  <a:gs pos="100000">
                    <a:srgbClr val="79E8F5"/>
                  </a:gs>
                  <a:gs pos="0">
                    <a:schemeClr val="bg1">
                      <a:alpha val="7000"/>
                    </a:schemeClr>
                  </a:gs>
                </a:gsLst>
                <a:lin ang="0" scaled="1"/>
              </a:gradFill>
            </a:ln>
            <a:effectLst/>
          </p:spPr>
          <p:style>
            <a:lnRef idx="1">
              <a:schemeClr val="accent1"/>
            </a:lnRef>
            <a:fillRef idx="0">
              <a:schemeClr val="accent1"/>
            </a:fillRef>
            <a:effectRef idx="0">
              <a:schemeClr val="accent1"/>
            </a:effectRef>
            <a:fontRef idx="minor">
              <a:schemeClr val="tx1"/>
            </a:fontRef>
          </p:style>
        </p:cxnSp>
        <p:sp>
          <p:nvSpPr>
            <p:cNvPr id="25" name="TextBox 5"/>
            <p:cNvSpPr txBox="1"/>
            <p:nvPr>
              <p:custDataLst>
                <p:tags r:id="rId2"/>
              </p:custDataLst>
            </p:nvPr>
          </p:nvSpPr>
          <p:spPr>
            <a:xfrm>
              <a:off x="1561691" y="7590054"/>
              <a:ext cx="4339876" cy="1791030"/>
            </a:xfrm>
            <a:prstGeom prst="rect">
              <a:avLst/>
            </a:prstGeom>
            <a:noFill/>
            <a:ln w="12700" cap="flat">
              <a:noFill/>
              <a:miter lim="400000"/>
            </a:ln>
            <a:effectLst/>
            <a:sp3d/>
          </p:spPr>
          <p:txBody>
            <a:bodyPr rot="0" spcFirstLastPara="1" vertOverflow="overflow" horzOverflow="overflow" vert="horz" wrap="square" lIns="0" tIns="0" rIns="0" bIns="0" numCol="1" spcCol="38100" rtlCol="0" anchor="t" anchorCtr="0">
              <a:noAutofit/>
            </a:bodyPr>
            <a:lstStyle/>
            <a:p>
              <a:pPr defTabSz="653819">
                <a:lnSpc>
                  <a:spcPct val="150000"/>
                </a:lnSpc>
                <a:defRPr/>
              </a:pPr>
              <a:r>
                <a:rPr lang="zh-CN" altLang="en-US" sz="1332" kern="0" dirty="0">
                  <a:latin typeface="微软雅黑" panose="020B0503020204020204" pitchFamily="34" charset="-122"/>
                  <a:ea typeface="微软雅黑" panose="020B0503020204020204" pitchFamily="34" charset="-122"/>
                  <a:cs typeface="Helvetica Neue" panose="02000206000000020004"/>
                  <a:sym typeface="+mn-ea"/>
                </a:rPr>
                <a:t>云服务商通过提供弹性算力租赁、协助数据治理，联合开展人才共建，补足地方电信运营商算力、数据与人才短板，攻克 </a:t>
              </a:r>
              <a:r>
                <a:rPr lang="en-US" altLang="zh-CN" sz="1332" kern="0" dirty="0">
                  <a:latin typeface="微软雅黑" panose="020B0503020204020204" pitchFamily="34" charset="-122"/>
                  <a:ea typeface="微软雅黑" panose="020B0503020204020204" pitchFamily="34" charset="-122"/>
                  <a:cs typeface="Helvetica Neue" panose="02000206000000020004"/>
                  <a:sym typeface="+mn-ea"/>
                </a:rPr>
                <a:t>AI </a:t>
              </a:r>
              <a:r>
                <a:rPr lang="zh-CN" altLang="en-US" sz="1332" kern="0" dirty="0">
                  <a:latin typeface="微软雅黑" panose="020B0503020204020204" pitchFamily="34" charset="-122"/>
                  <a:ea typeface="微软雅黑" panose="020B0503020204020204" pitchFamily="34" charset="-122"/>
                  <a:cs typeface="Helvetica Neue" panose="02000206000000020004"/>
                  <a:sym typeface="+mn-ea"/>
                </a:rPr>
                <a:t>智能体技术瓶颈。</a:t>
              </a:r>
            </a:p>
          </p:txBody>
        </p:sp>
        <p:sp>
          <p:nvSpPr>
            <p:cNvPr id="501" name="椭圆 500"/>
            <p:cNvSpPr/>
            <p:nvPr>
              <p:custDataLst>
                <p:tags r:id="rId3"/>
              </p:custDataLst>
            </p:nvPr>
          </p:nvSpPr>
          <p:spPr>
            <a:xfrm>
              <a:off x="3731629" y="7027778"/>
              <a:ext cx="108585" cy="108585"/>
            </a:xfrm>
            <a:prstGeom prst="ellipse">
              <a:avLst/>
            </a:prstGeom>
            <a:solidFill>
              <a:schemeClr val="bg1"/>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lnSpc>
                  <a:spcPct val="150000"/>
                </a:lnSpc>
                <a:buClrTx/>
                <a:buSzTx/>
                <a:buFontTx/>
              </a:pPr>
              <a:endParaRPr lang="zh-CN" altLang="en-US" sz="699" dirty="0">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10" name="TextBox 5"/>
            <p:cNvSpPr txBox="1"/>
            <p:nvPr>
              <p:custDataLst>
                <p:tags r:id="rId4"/>
              </p:custDataLst>
            </p:nvPr>
          </p:nvSpPr>
          <p:spPr>
            <a:xfrm>
              <a:off x="6958167" y="7590054"/>
              <a:ext cx="4889225" cy="1389380"/>
            </a:xfrm>
            <a:prstGeom prst="rect">
              <a:avLst/>
            </a:prstGeom>
            <a:noFill/>
            <a:ln w="12700" cap="flat">
              <a:noFill/>
              <a:miter lim="400000"/>
            </a:ln>
            <a:effectLst/>
            <a:sp3d/>
          </p:spPr>
          <p:txBody>
            <a:bodyPr rot="0" spcFirstLastPara="1" vertOverflow="overflow" horzOverflow="overflow" vert="horz" wrap="square" lIns="0" tIns="0" rIns="0" bIns="0" numCol="1" spcCol="38100" rtlCol="0" anchor="t" anchorCtr="0">
              <a:noAutofit/>
            </a:bodyPr>
            <a:lstStyle/>
            <a:p>
              <a:pPr defTabSz="653819">
                <a:lnSpc>
                  <a:spcPct val="150000"/>
                </a:lnSpc>
                <a:defRPr/>
              </a:pPr>
              <a:r>
                <a:rPr lang="zh-CN" altLang="en-US" sz="1332" kern="0" dirty="0">
                  <a:latin typeface="微软雅黑" panose="020B0503020204020204" pitchFamily="34" charset="-122"/>
                  <a:ea typeface="微软雅黑" panose="020B0503020204020204" pitchFamily="34" charset="-122"/>
                  <a:cs typeface="Helvetica Neue" panose="02000206000000020004"/>
                  <a:sym typeface="+mn-ea"/>
                </a:rPr>
                <a:t>云服务商与运营商合作优化电信场景智能体、打通数据壁垒，同时探索 “</a:t>
              </a:r>
              <a:r>
                <a:rPr lang="en-US" altLang="zh-CN" sz="1332" kern="0" dirty="0">
                  <a:latin typeface="微软雅黑" panose="020B0503020204020204" pitchFamily="34" charset="-122"/>
                  <a:ea typeface="微软雅黑" panose="020B0503020204020204" pitchFamily="34" charset="-122"/>
                  <a:cs typeface="Helvetica Neue" panose="02000206000000020004"/>
                  <a:sym typeface="+mn-ea"/>
                </a:rPr>
                <a:t>AI + </a:t>
              </a:r>
              <a:r>
                <a:rPr lang="zh-CN" altLang="en-US" sz="1332" kern="0" dirty="0">
                  <a:latin typeface="微软雅黑" panose="020B0503020204020204" pitchFamily="34" charset="-122"/>
                  <a:ea typeface="微软雅黑" panose="020B0503020204020204" pitchFamily="34" charset="-122"/>
                  <a:cs typeface="Helvetica Neue" panose="02000206000000020004"/>
                  <a:sym typeface="+mn-ea"/>
                </a:rPr>
                <a:t>增值服务” 模式，提升服务精准度与用户体验，助力形成商业闭环。</a:t>
              </a:r>
            </a:p>
          </p:txBody>
        </p:sp>
        <p:sp>
          <p:nvSpPr>
            <p:cNvPr id="13" name="椭圆 12"/>
            <p:cNvSpPr/>
            <p:nvPr>
              <p:custDataLst>
                <p:tags r:id="rId5"/>
              </p:custDataLst>
            </p:nvPr>
          </p:nvSpPr>
          <p:spPr>
            <a:xfrm>
              <a:off x="9179400" y="7033739"/>
              <a:ext cx="108585" cy="108585"/>
            </a:xfrm>
            <a:prstGeom prst="ellipse">
              <a:avLst/>
            </a:prstGeom>
            <a:solidFill>
              <a:schemeClr val="bg1"/>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lnSpc>
                  <a:spcPct val="150000"/>
                </a:lnSpc>
                <a:buClrTx/>
                <a:buSzTx/>
                <a:buFontTx/>
              </a:pPr>
              <a:endParaRPr lang="zh-CN" altLang="en-US" sz="6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sp>
          <p:nvSpPr>
            <p:cNvPr id="15" name="TextBox 5"/>
            <p:cNvSpPr txBox="1"/>
            <p:nvPr>
              <p:custDataLst>
                <p:tags r:id="rId6"/>
              </p:custDataLst>
            </p:nvPr>
          </p:nvSpPr>
          <p:spPr>
            <a:xfrm>
              <a:off x="12616221" y="7590054"/>
              <a:ext cx="4673241" cy="1389380"/>
            </a:xfrm>
            <a:prstGeom prst="rect">
              <a:avLst/>
            </a:prstGeom>
            <a:noFill/>
            <a:ln w="12700" cap="flat">
              <a:noFill/>
              <a:miter lim="400000"/>
            </a:ln>
            <a:effectLst/>
            <a:sp3d/>
          </p:spPr>
          <p:txBody>
            <a:bodyPr rot="0" spcFirstLastPara="1" vertOverflow="overflow" horzOverflow="overflow" vert="horz" wrap="square" lIns="0" tIns="0" rIns="0" bIns="0" numCol="1" spcCol="38100" rtlCol="0" anchor="t" anchorCtr="0">
              <a:noAutofit/>
            </a:bodyPr>
            <a:lstStyle/>
            <a:p>
              <a:pPr defTabSz="653819">
                <a:lnSpc>
                  <a:spcPct val="150000"/>
                </a:lnSpc>
                <a:defRPr/>
              </a:pPr>
              <a:r>
                <a:rPr lang="zh-CN" altLang="en-US" sz="1332" kern="0" dirty="0">
                  <a:latin typeface="微软雅黑" panose="020B0503020204020204" pitchFamily="34" charset="-122"/>
                  <a:ea typeface="微软雅黑" panose="020B0503020204020204" pitchFamily="34" charset="-122"/>
                  <a:cs typeface="Helvetica Neue" panose="02000206000000020004"/>
                  <a:sym typeface="+mn-ea"/>
                </a:rPr>
                <a:t>云服务商联合运营商、研究机构制定标准、搭建协同创新平台，挖掘本地优势，助力差异化能力打造，与地方电信运营商共同突破生态困境，提升市场竞争力。</a:t>
              </a:r>
            </a:p>
          </p:txBody>
        </p:sp>
        <p:sp>
          <p:nvSpPr>
            <p:cNvPr id="24" name="椭圆 23"/>
            <p:cNvSpPr/>
            <p:nvPr/>
          </p:nvSpPr>
          <p:spPr>
            <a:xfrm>
              <a:off x="14481837" y="7004934"/>
              <a:ext cx="108585" cy="108585"/>
            </a:xfrm>
            <a:prstGeom prst="ellipse">
              <a:avLst/>
            </a:prstGeom>
            <a:solidFill>
              <a:schemeClr val="bg1"/>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ot="0" vertOverflow="overflow" horzOverflow="overflow" vert="horz" wrap="square" lIns="60902" tIns="30451" rIns="60902" bIns="30451" numCol="1" spcCol="0" rtlCol="0" fromWordArt="0" anchor="ctr" anchorCtr="0" forceAA="0" compatLnSpc="1">
              <a:noAutofit/>
            </a:bodyPr>
            <a:lstStyle/>
            <a:p>
              <a:pPr lvl="0" algn="ctr">
                <a:lnSpc>
                  <a:spcPct val="150000"/>
                </a:lnSpc>
                <a:buClrTx/>
                <a:buSzTx/>
                <a:buFontTx/>
              </a:pPr>
              <a:endParaRPr lang="zh-CN" altLang="en-US" sz="699">
                <a:solidFill>
                  <a:schemeClr val="tx1"/>
                </a:solidFill>
                <a:latin typeface="微软雅黑" panose="020B0503020204020204" pitchFamily="34" charset="-122"/>
                <a:ea typeface="微软雅黑" panose="020B0503020204020204" pitchFamily="34" charset="-122"/>
                <a:sym typeface="等线" panose="02010600030101010101" charset="-122"/>
              </a:endParaRPr>
            </a:p>
          </p:txBody>
        </p:sp>
      </p:grpSp>
      <p:sp>
        <p:nvSpPr>
          <p:cNvPr id="6" name="圆角矩形 519"/>
          <p:cNvSpPr/>
          <p:nvPr/>
        </p:nvSpPr>
        <p:spPr>
          <a:xfrm>
            <a:off x="1059061" y="5372944"/>
            <a:ext cx="2706115" cy="715329"/>
          </a:xfrm>
          <a:prstGeom prst="roundRect">
            <a:avLst>
              <a:gd name="adj" fmla="val 8988"/>
            </a:avLst>
          </a:prstGeom>
          <a:gradFill>
            <a:gsLst>
              <a:gs pos="100000">
                <a:schemeClr val="accent1">
                  <a:lumMod val="10000"/>
                  <a:lumOff val="90000"/>
                </a:schemeClr>
              </a:gs>
              <a:gs pos="0">
                <a:schemeClr val="bg1">
                  <a:alpha val="1100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99">
              <a:solidFill>
                <a:schemeClr val="tx1"/>
              </a:solidFill>
              <a:latin typeface="微软雅黑" panose="020B0503020204020204" pitchFamily="34" charset="-122"/>
              <a:ea typeface="微软雅黑" panose="020B0503020204020204" pitchFamily="34" charset="-122"/>
              <a:sym typeface="Helvetica Neue Medium" panose="02000503000000020004"/>
            </a:endParaRPr>
          </a:p>
        </p:txBody>
      </p:sp>
      <p:sp>
        <p:nvSpPr>
          <p:cNvPr id="7" name="矩形 6"/>
          <p:cNvSpPr/>
          <p:nvPr/>
        </p:nvSpPr>
        <p:spPr>
          <a:xfrm>
            <a:off x="1034316" y="5350261"/>
            <a:ext cx="3302401" cy="613373"/>
          </a:xfrm>
          <a:prstGeom prst="rect">
            <a:avLst/>
          </a:prstGeom>
        </p:spPr>
        <p:txBody>
          <a:bodyPr wrap="square">
            <a:spAutoFit/>
          </a:bodyPr>
          <a:lstStyle/>
          <a:p>
            <a:pPr algn="l">
              <a:lnSpc>
                <a:spcPct val="150000"/>
              </a:lnSpc>
            </a:pPr>
            <a:r>
              <a:rPr lang="zh-CN" altLang="en-US" sz="1199" dirty="0">
                <a:latin typeface="微软雅黑" panose="020B0503020204020204" pitchFamily="34" charset="-122"/>
                <a:ea typeface="微软雅黑" panose="020B0503020204020204" pitchFamily="34" charset="-122"/>
                <a:sym typeface="+mn-ea"/>
              </a:rPr>
              <a:t>腾讯云与中国铁塔完成大模型训练和推理平台共建，支撑铁塔集团大模型应用</a:t>
            </a:r>
          </a:p>
        </p:txBody>
      </p:sp>
      <p:grpSp>
        <p:nvGrpSpPr>
          <p:cNvPr id="19" name="组合 18"/>
          <p:cNvGrpSpPr/>
          <p:nvPr/>
        </p:nvGrpSpPr>
        <p:grpSpPr>
          <a:xfrm>
            <a:off x="4849513" y="5372944"/>
            <a:ext cx="3427463" cy="715329"/>
            <a:chOff x="988512" y="2656114"/>
            <a:chExt cx="7034185" cy="1079104"/>
          </a:xfrm>
          <a:gradFill>
            <a:gsLst>
              <a:gs pos="100000">
                <a:schemeClr val="accent1">
                  <a:lumMod val="10000"/>
                  <a:lumOff val="90000"/>
                </a:schemeClr>
              </a:gs>
              <a:gs pos="0">
                <a:schemeClr val="bg1">
                  <a:alpha val="11000"/>
                </a:schemeClr>
              </a:gs>
            </a:gsLst>
            <a:lin ang="13500000" scaled="0"/>
          </a:gradFill>
        </p:grpSpPr>
        <p:sp>
          <p:nvSpPr>
            <p:cNvPr id="28" name="圆角矩形 519"/>
            <p:cNvSpPr/>
            <p:nvPr/>
          </p:nvSpPr>
          <p:spPr>
            <a:xfrm>
              <a:off x="988512" y="2656114"/>
              <a:ext cx="5654161" cy="1079104"/>
            </a:xfrm>
            <a:prstGeom prst="roundRect">
              <a:avLst>
                <a:gd name="adj" fmla="val 89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99">
                <a:solidFill>
                  <a:schemeClr val="tx1"/>
                </a:solidFill>
                <a:latin typeface="微软雅黑" panose="020B0503020204020204" pitchFamily="34" charset="-122"/>
                <a:ea typeface="微软雅黑" panose="020B0503020204020204" pitchFamily="34" charset="-122"/>
                <a:sym typeface="Helvetica Neue Medium" panose="02000503000000020004"/>
              </a:endParaRPr>
            </a:p>
          </p:txBody>
        </p:sp>
        <p:sp>
          <p:nvSpPr>
            <p:cNvPr id="29" name="矩形 28"/>
            <p:cNvSpPr/>
            <p:nvPr/>
          </p:nvSpPr>
          <p:spPr>
            <a:xfrm>
              <a:off x="1144673" y="2757341"/>
              <a:ext cx="6878024" cy="920939"/>
            </a:xfrm>
            <a:prstGeom prst="rect">
              <a:avLst/>
            </a:prstGeom>
            <a:grpFill/>
          </p:spPr>
          <p:txBody>
            <a:bodyPr wrap="square">
              <a:spAutoFit/>
            </a:bodyPr>
            <a:lstStyle/>
            <a:p>
              <a:pPr>
                <a:lnSpc>
                  <a:spcPct val="150000"/>
                </a:lnSpc>
              </a:pPr>
              <a:r>
                <a:rPr lang="zh-CN" altLang="en-US" sz="1199" dirty="0">
                  <a:latin typeface="微软雅黑" panose="020B0503020204020204" pitchFamily="34" charset="-122"/>
                  <a:ea typeface="微软雅黑" panose="020B0503020204020204" pitchFamily="34" charset="-122"/>
                  <a:sym typeface="+mn-ea"/>
                </a:rPr>
                <a:t>腾讯云助力中国电信市公司完成</a:t>
              </a:r>
              <a:r>
                <a:rPr lang="en-US" altLang="zh-CN" sz="1199" dirty="0">
                  <a:latin typeface="微软雅黑" panose="020B0503020204020204" pitchFamily="34" charset="-122"/>
                  <a:ea typeface="微软雅黑" panose="020B0503020204020204" pitchFamily="34" charset="-122"/>
                  <a:sym typeface="+mn-ea"/>
                </a:rPr>
                <a:t>114</a:t>
              </a:r>
              <a:r>
                <a:rPr lang="zh-CN" altLang="en-US" sz="1199" dirty="0">
                  <a:latin typeface="微软雅黑" panose="020B0503020204020204" pitchFamily="34" charset="-122"/>
                  <a:ea typeface="微软雅黑" panose="020B0503020204020204" pitchFamily="34" charset="-122"/>
                  <a:sym typeface="+mn-ea"/>
                </a:rPr>
                <a:t>智能体搭建，服务民生场景</a:t>
              </a:r>
            </a:p>
          </p:txBody>
        </p:sp>
      </p:grpSp>
      <p:grpSp>
        <p:nvGrpSpPr>
          <p:cNvPr id="30" name="组合 29"/>
          <p:cNvGrpSpPr/>
          <p:nvPr/>
        </p:nvGrpSpPr>
        <p:grpSpPr>
          <a:xfrm>
            <a:off x="8630189" y="5350261"/>
            <a:ext cx="3377380" cy="718716"/>
            <a:chOff x="988512" y="2656114"/>
            <a:chExt cx="7034185" cy="1079104"/>
          </a:xfrm>
          <a:gradFill>
            <a:gsLst>
              <a:gs pos="100000">
                <a:schemeClr val="accent1">
                  <a:lumMod val="10000"/>
                  <a:lumOff val="90000"/>
                </a:schemeClr>
              </a:gs>
              <a:gs pos="0">
                <a:schemeClr val="bg1">
                  <a:alpha val="11000"/>
                </a:schemeClr>
              </a:gs>
            </a:gsLst>
            <a:lin ang="13500000" scaled="0"/>
          </a:gradFill>
        </p:grpSpPr>
        <p:sp>
          <p:nvSpPr>
            <p:cNvPr id="32" name="圆角矩形 519"/>
            <p:cNvSpPr/>
            <p:nvPr/>
          </p:nvSpPr>
          <p:spPr>
            <a:xfrm>
              <a:off x="988512" y="2656114"/>
              <a:ext cx="5654161" cy="1079104"/>
            </a:xfrm>
            <a:prstGeom prst="roundRect">
              <a:avLst>
                <a:gd name="adj" fmla="val 898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99">
                <a:solidFill>
                  <a:schemeClr val="tx1"/>
                </a:solidFill>
                <a:latin typeface="微软雅黑" panose="020B0503020204020204" pitchFamily="34" charset="-122"/>
                <a:ea typeface="微软雅黑" panose="020B0503020204020204" pitchFamily="34" charset="-122"/>
                <a:sym typeface="Helvetica Neue Medium" panose="02000503000000020004"/>
              </a:endParaRPr>
            </a:p>
          </p:txBody>
        </p:sp>
        <p:sp>
          <p:nvSpPr>
            <p:cNvPr id="33" name="矩形 32"/>
            <p:cNvSpPr/>
            <p:nvPr/>
          </p:nvSpPr>
          <p:spPr>
            <a:xfrm>
              <a:off x="1144673" y="2757341"/>
              <a:ext cx="6878024" cy="920939"/>
            </a:xfrm>
            <a:prstGeom prst="rect">
              <a:avLst/>
            </a:prstGeom>
            <a:grpFill/>
          </p:spPr>
          <p:txBody>
            <a:bodyPr wrap="square">
              <a:spAutoFit/>
            </a:bodyPr>
            <a:lstStyle/>
            <a:p>
              <a:pPr>
                <a:lnSpc>
                  <a:spcPct val="150000"/>
                </a:lnSpc>
              </a:pPr>
              <a:r>
                <a:rPr lang="zh-CN" altLang="en-US" sz="1199" dirty="0">
                  <a:latin typeface="微软雅黑" panose="020B0503020204020204" pitchFamily="34" charset="-122"/>
                  <a:ea typeface="微软雅黑" panose="020B0503020204020204" pitchFamily="34" charset="-122"/>
                  <a:sym typeface="+mn-ea"/>
                </a:rPr>
                <a:t>腾讯云正积极参与灵犀、星辰、元景等智能体平台的建设，共建生态体系</a:t>
              </a:r>
            </a:p>
          </p:txBody>
        </p:sp>
      </p:grpSp>
      <p:sp>
        <p:nvSpPr>
          <p:cNvPr id="38" name="圆角矩形 16"/>
          <p:cNvSpPr/>
          <p:nvPr/>
        </p:nvSpPr>
        <p:spPr>
          <a:xfrm>
            <a:off x="199413" y="974204"/>
            <a:ext cx="491998" cy="1569344"/>
          </a:xfrm>
          <a:prstGeom prst="roundRect">
            <a:avLst>
              <a:gd name="adj" fmla="val 50000"/>
            </a:avLst>
          </a:prstGeom>
          <a:gradFill>
            <a:gsLst>
              <a:gs pos="0">
                <a:schemeClr val="accent5">
                  <a:lumMod val="10000"/>
                  <a:lumOff val="90000"/>
                </a:schemeClr>
              </a:gs>
              <a:gs pos="99000">
                <a:schemeClr val="bg1">
                  <a:alpha val="3000"/>
                </a:schemeClr>
              </a:gs>
            </a:gsLst>
            <a:lin ang="16200000" scaled="0"/>
          </a:gradFill>
          <a:ln w="25400">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131" dirty="0">
                <a:solidFill>
                  <a:schemeClr val="accent6"/>
                </a:solidFill>
                <a:latin typeface="微软雅黑" panose="020B0503020204020204" pitchFamily="34" charset="-122"/>
                <a:ea typeface="微软雅黑" panose="020B0503020204020204" pitchFamily="34" charset="-122"/>
                <a:sym typeface="+mn-ea"/>
              </a:rPr>
              <a:t>面临挑战</a:t>
            </a:r>
          </a:p>
        </p:txBody>
      </p:sp>
      <p:sp>
        <p:nvSpPr>
          <p:cNvPr id="39" name="圆角矩形 16"/>
          <p:cNvSpPr/>
          <p:nvPr/>
        </p:nvSpPr>
        <p:spPr>
          <a:xfrm>
            <a:off x="199413" y="3104173"/>
            <a:ext cx="491998" cy="1569344"/>
          </a:xfrm>
          <a:prstGeom prst="roundRect">
            <a:avLst>
              <a:gd name="adj" fmla="val 50000"/>
            </a:avLst>
          </a:prstGeom>
          <a:gradFill>
            <a:gsLst>
              <a:gs pos="0">
                <a:schemeClr val="accent5">
                  <a:lumMod val="10000"/>
                  <a:lumOff val="90000"/>
                </a:schemeClr>
              </a:gs>
              <a:gs pos="99000">
                <a:schemeClr val="bg1">
                  <a:alpha val="3000"/>
                </a:schemeClr>
              </a:gs>
            </a:gsLst>
            <a:lin ang="16200000" scaled="0"/>
          </a:gradFill>
          <a:ln w="25400">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131" dirty="0">
                <a:solidFill>
                  <a:schemeClr val="accent6"/>
                </a:solidFill>
                <a:latin typeface="微软雅黑" panose="020B0503020204020204" pitchFamily="34" charset="-122"/>
                <a:ea typeface="微软雅黑" panose="020B0503020204020204" pitchFamily="34" charset="-122"/>
                <a:sym typeface="+mn-ea"/>
              </a:rPr>
              <a:t>解决思路</a:t>
            </a:r>
          </a:p>
        </p:txBody>
      </p:sp>
      <p:sp>
        <p:nvSpPr>
          <p:cNvPr id="40" name="圆角矩形 16"/>
          <p:cNvSpPr/>
          <p:nvPr/>
        </p:nvSpPr>
        <p:spPr>
          <a:xfrm>
            <a:off x="199413" y="5180471"/>
            <a:ext cx="491998" cy="1058296"/>
          </a:xfrm>
          <a:prstGeom prst="roundRect">
            <a:avLst>
              <a:gd name="adj" fmla="val 50000"/>
            </a:avLst>
          </a:prstGeom>
          <a:gradFill>
            <a:gsLst>
              <a:gs pos="0">
                <a:schemeClr val="accent5">
                  <a:lumMod val="10000"/>
                  <a:lumOff val="90000"/>
                </a:schemeClr>
              </a:gs>
              <a:gs pos="99000">
                <a:schemeClr val="bg1">
                  <a:alpha val="3000"/>
                </a:schemeClr>
              </a:gs>
            </a:gsLst>
            <a:lin ang="16200000" scaled="0"/>
          </a:gradFill>
          <a:ln w="25400">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131" dirty="0">
                <a:solidFill>
                  <a:schemeClr val="accent6"/>
                </a:solidFill>
                <a:latin typeface="微软雅黑" panose="020B0503020204020204" pitchFamily="34" charset="-122"/>
                <a:ea typeface="微软雅黑" panose="020B0503020204020204" pitchFamily="34" charset="-122"/>
                <a:sym typeface="+mn-ea"/>
              </a:rPr>
              <a:t>案例</a:t>
            </a:r>
          </a:p>
        </p:txBody>
      </p:sp>
    </p:spTree>
    <p:extLst>
      <p:ext uri="{BB962C8B-B14F-4D97-AF65-F5344CB8AC3E}">
        <p14:creationId xmlns:p14="http://schemas.microsoft.com/office/powerpoint/2010/main" val="1345557599"/>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图形 12">
            <a:extLst>
              <a:ext uri="{FF2B5EF4-FFF2-40B4-BE49-F238E27FC236}">
                <a16:creationId xmlns:a16="http://schemas.microsoft.com/office/drawing/2014/main" id="{D066280E-FDC2-2EDF-994F-672BC8277A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6420" y="2605526"/>
            <a:ext cx="3864014" cy="2396971"/>
          </a:xfrm>
          <a:prstGeom prst="rect">
            <a:avLst/>
          </a:prstGeom>
        </p:spPr>
      </p:pic>
      <p:sp>
        <p:nvSpPr>
          <p:cNvPr id="8" name="文本框 7"/>
          <p:cNvSpPr txBox="1"/>
          <p:nvPr/>
        </p:nvSpPr>
        <p:spPr>
          <a:xfrm>
            <a:off x="389369" y="33538"/>
            <a:ext cx="8810697" cy="748154"/>
          </a:xfrm>
          <a:prstGeom prst="rect">
            <a:avLst/>
          </a:prstGeom>
          <a:noFill/>
        </p:spPr>
        <p:txBody>
          <a:bodyPr wrap="square" rtlCol="0">
            <a:spAutoFit/>
          </a:bodyPr>
          <a:lstStyle/>
          <a:p>
            <a:pPr defTabSz="913909"/>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建设成果从基础能力到运营运维水平衡量，信通院与腾讯云联合构建智能体驱动的大模型系统工程成熟度评价体系</a:t>
            </a:r>
          </a:p>
        </p:txBody>
      </p:sp>
      <p:pic>
        <p:nvPicPr>
          <p:cNvPr id="4" name="图片 3" descr="日历&#10;&#10;AI 生成的内容可能不正确。"/>
          <p:cNvPicPr>
            <a:picLocks noChangeAspect="1"/>
          </p:cNvPicPr>
          <p:nvPr/>
        </p:nvPicPr>
        <p:blipFill>
          <a:blip r:embed="rId5"/>
          <a:srcRect b="3077"/>
          <a:stretch>
            <a:fillRect/>
          </a:stretch>
        </p:blipFill>
        <p:spPr>
          <a:xfrm>
            <a:off x="514539" y="2143800"/>
            <a:ext cx="6049476" cy="3548931"/>
          </a:xfrm>
          <a:prstGeom prst="rect">
            <a:avLst/>
          </a:prstGeom>
        </p:spPr>
      </p:pic>
      <p:sp>
        <p:nvSpPr>
          <p:cNvPr id="3" name="文本框 2"/>
          <p:cNvSpPr txBox="1"/>
          <p:nvPr/>
        </p:nvSpPr>
        <p:spPr>
          <a:xfrm>
            <a:off x="389369" y="1244464"/>
            <a:ext cx="11413262" cy="613373"/>
          </a:xfrm>
          <a:prstGeom prst="rect">
            <a:avLst/>
          </a:prstGeom>
          <a:noFill/>
        </p:spPr>
        <p:txBody>
          <a:bodyPr wrap="square">
            <a:spAutoFit/>
          </a:bodyPr>
          <a:lstStyle/>
          <a:p>
            <a:pPr algn="just">
              <a:lnSpc>
                <a:spcPct val="150000"/>
              </a:lnSpc>
              <a:buNone/>
            </a:pPr>
            <a:r>
              <a:rPr lang="zh-CN" altLang="zh-CN" sz="1199" dirty="0">
                <a:latin typeface="微软雅黑" panose="020B0503020204020204" pitchFamily="34" charset="-122"/>
                <a:ea typeface="微软雅黑" panose="020B0503020204020204" pitchFamily="34" charset="-122"/>
                <a:cs typeface="宋体" panose="02010600030101010101" pitchFamily="2" charset="-122"/>
              </a:rPr>
              <a:t>根据市场调研与实际落地经验，基于以智能体为核心的</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AI</a:t>
            </a:r>
            <a:r>
              <a:rPr lang="zh-CN" altLang="zh-CN" sz="1199" dirty="0">
                <a:latin typeface="微软雅黑" panose="020B0503020204020204" pitchFamily="34" charset="-122"/>
                <a:ea typeface="微软雅黑" panose="020B0503020204020204" pitchFamily="34" charset="-122"/>
                <a:cs typeface="宋体" panose="02010600030101010101" pitchFamily="2" charset="-122"/>
              </a:rPr>
              <a:t>大模型系统框架，本报告提出了一套智能体驱动的大模型系统工程评价体系，从</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6</a:t>
            </a:r>
            <a:r>
              <a:rPr lang="zh-CN" altLang="zh-CN" sz="1199" dirty="0">
                <a:latin typeface="微软雅黑" panose="020B0503020204020204" pitchFamily="34" charset="-122"/>
                <a:ea typeface="微软雅黑" panose="020B0503020204020204" pitchFamily="34" charset="-122"/>
                <a:cs typeface="宋体" panose="02010600030101010101" pitchFamily="2" charset="-122"/>
              </a:rPr>
              <a:t>个维度</a:t>
            </a:r>
            <a:r>
              <a:rPr lang="zh-CN" altLang="en-US" sz="1199" dirty="0">
                <a:latin typeface="微软雅黑" panose="020B0503020204020204" pitchFamily="34" charset="-122"/>
                <a:ea typeface="微软雅黑" panose="020B0503020204020204" pitchFamily="34" charset="-122"/>
                <a:cs typeface="宋体" panose="02010600030101010101" pitchFamily="2" charset="-122"/>
              </a:rPr>
              <a:t>共选取</a:t>
            </a:r>
            <a:r>
              <a:rPr lang="en-US" altLang="zh-CN" sz="1199" dirty="0">
                <a:latin typeface="微软雅黑" panose="020B0503020204020204" pitchFamily="34" charset="-122"/>
                <a:ea typeface="微软雅黑" panose="020B0503020204020204" pitchFamily="34" charset="-122"/>
                <a:cs typeface="宋体" panose="02010600030101010101" pitchFamily="2" charset="-122"/>
              </a:rPr>
              <a:t>48</a:t>
            </a:r>
            <a:r>
              <a:rPr lang="zh-CN" altLang="en-US" sz="1199" dirty="0">
                <a:latin typeface="微软雅黑" panose="020B0503020204020204" pitchFamily="34" charset="-122"/>
                <a:ea typeface="微软雅黑" panose="020B0503020204020204" pitchFamily="34" charset="-122"/>
                <a:cs typeface="宋体" panose="02010600030101010101" pitchFamily="2" charset="-122"/>
              </a:rPr>
              <a:t>个指标</a:t>
            </a:r>
            <a:r>
              <a:rPr lang="zh-CN" altLang="zh-CN" sz="1199" dirty="0">
                <a:latin typeface="微软雅黑" panose="020B0503020204020204" pitchFamily="34" charset="-122"/>
                <a:ea typeface="微软雅黑" panose="020B0503020204020204" pitchFamily="34" charset="-122"/>
                <a:cs typeface="宋体" panose="02010600030101010101" pitchFamily="2" charset="-122"/>
              </a:rPr>
              <a:t>评价系统的构建与运维水平</a:t>
            </a:r>
            <a:r>
              <a:rPr lang="zh-CN" altLang="en-US" sz="1199" dirty="0">
                <a:latin typeface="微软雅黑" panose="020B0503020204020204" pitchFamily="34" charset="-122"/>
                <a:ea typeface="微软雅黑" panose="020B0503020204020204" pitchFamily="34" charset="-122"/>
                <a:cs typeface="宋体" panose="02010600030101010101" pitchFamily="2" charset="-122"/>
              </a:rPr>
              <a:t>，供建设方根据其需求和对不同指标的重视程度进行产品能成熟度评估。</a:t>
            </a:r>
            <a:endParaRPr lang="zh-CN" altLang="zh-CN" sz="1199" dirty="0">
              <a:latin typeface="微软雅黑" panose="020B0503020204020204" pitchFamily="34" charset="-122"/>
              <a:ea typeface="微软雅黑" panose="020B0503020204020204" pitchFamily="34" charset="-122"/>
              <a:cs typeface="宋体" panose="02010600030101010101" pitchFamily="2" charset="-122"/>
            </a:endParaRPr>
          </a:p>
        </p:txBody>
      </p:sp>
      <p:sp>
        <p:nvSpPr>
          <p:cNvPr id="6" name="文本框 5"/>
          <p:cNvSpPr txBox="1"/>
          <p:nvPr/>
        </p:nvSpPr>
        <p:spPr>
          <a:xfrm>
            <a:off x="8442469" y="1609151"/>
            <a:ext cx="2231913" cy="1068113"/>
          </a:xfrm>
          <a:prstGeom prst="rect">
            <a:avLst/>
          </a:prstGeom>
          <a:noFill/>
        </p:spPr>
        <p:txBody>
          <a:bodyPr wrap="square">
            <a:spAutoFit/>
          </a:bodyPr>
          <a:lstStyle/>
          <a:p>
            <a:pPr>
              <a:lnSpc>
                <a:spcPct val="150000"/>
              </a:lnSpc>
            </a:pPr>
            <a:r>
              <a:rPr lang="zh-CN" altLang="en-US" sz="866" b="1" dirty="0">
                <a:solidFill>
                  <a:schemeClr val="accent6"/>
                </a:solidFill>
                <a:latin typeface="微软雅黑" panose="020B0503020204020204" pitchFamily="34" charset="-122"/>
                <a:ea typeface="微软雅黑" panose="020B0503020204020204" pitchFamily="34" charset="-122"/>
                <a:cs typeface="宋体" panose="02010600030101010101" pitchFamily="2" charset="-122"/>
              </a:rPr>
              <a:t>基础设施与模型能力</a:t>
            </a:r>
            <a:r>
              <a:rPr lang="zh-CN" altLang="en-US" sz="866" dirty="0">
                <a:latin typeface="微软雅黑" panose="020B0503020204020204" pitchFamily="34" charset="-122"/>
                <a:ea typeface="微软雅黑" panose="020B0503020204020204" pitchFamily="34" charset="-122"/>
                <a:cs typeface="宋体" panose="02010600030101010101" pitchFamily="2" charset="-122"/>
              </a:rPr>
              <a:t>：</a:t>
            </a:r>
            <a:r>
              <a:rPr lang="zh-CN" altLang="zh-CN" sz="866" dirty="0">
                <a:latin typeface="微软雅黑" panose="020B0503020204020204" pitchFamily="34" charset="-122"/>
                <a:ea typeface="微软雅黑" panose="020B0503020204020204" pitchFamily="34" charset="-122"/>
                <a:cs typeface="宋体" panose="02010600030101010101" pitchFamily="2" charset="-122"/>
              </a:rPr>
              <a:t>反映智能体系统的</a:t>
            </a:r>
            <a:r>
              <a:rPr lang="en-US" altLang="zh-CN" sz="866" dirty="0">
                <a:latin typeface="微软雅黑" panose="020B0503020204020204" pitchFamily="34" charset="-122"/>
                <a:ea typeface="微软雅黑" panose="020B0503020204020204" pitchFamily="34" charset="-122"/>
                <a:cs typeface="宋体" panose="02010600030101010101" pitchFamily="2" charset="-122"/>
              </a:rPr>
              <a:t>“</a:t>
            </a:r>
            <a:r>
              <a:rPr lang="zh-CN" altLang="zh-CN" sz="866" dirty="0">
                <a:latin typeface="微软雅黑" panose="020B0503020204020204" pitchFamily="34" charset="-122"/>
                <a:ea typeface="微软雅黑" panose="020B0503020204020204" pitchFamily="34" charset="-122"/>
                <a:cs typeface="宋体" panose="02010600030101010101" pitchFamily="2" charset="-122"/>
              </a:rPr>
              <a:t>核心引擎</a:t>
            </a:r>
            <a:r>
              <a:rPr lang="en-US" altLang="zh-CN" sz="866" dirty="0">
                <a:latin typeface="微软雅黑" panose="020B0503020204020204" pitchFamily="34" charset="-122"/>
                <a:ea typeface="微软雅黑" panose="020B0503020204020204" pitchFamily="34" charset="-122"/>
                <a:cs typeface="宋体" panose="02010600030101010101" pitchFamily="2" charset="-122"/>
              </a:rPr>
              <a:t>”</a:t>
            </a:r>
            <a:r>
              <a:rPr lang="zh-CN" altLang="zh-CN" sz="866" dirty="0">
                <a:latin typeface="微软雅黑" panose="020B0503020204020204" pitchFamily="34" charset="-122"/>
                <a:ea typeface="微软雅黑" panose="020B0503020204020204" pitchFamily="34" charset="-122"/>
                <a:cs typeface="宋体" panose="02010600030101010101" pitchFamily="2" charset="-122"/>
              </a:rPr>
              <a:t>能力，包括算力利用能力、模型规模、算法创新、推理效率和自适应学习能力等，是系统价值和竞争力的直接来源。</a:t>
            </a:r>
            <a:endParaRPr lang="zh-CN" altLang="en-US" sz="866" dirty="0">
              <a:latin typeface="微软雅黑" panose="020B0503020204020204" pitchFamily="34" charset="-122"/>
              <a:ea typeface="微软雅黑" panose="020B0503020204020204" pitchFamily="34" charset="-122"/>
            </a:endParaRPr>
          </a:p>
        </p:txBody>
      </p:sp>
      <p:sp>
        <p:nvSpPr>
          <p:cNvPr id="9" name="文本框 8"/>
          <p:cNvSpPr txBox="1"/>
          <p:nvPr/>
        </p:nvSpPr>
        <p:spPr>
          <a:xfrm>
            <a:off x="10476037" y="2660984"/>
            <a:ext cx="1458720" cy="1068113"/>
          </a:xfrm>
          <a:prstGeom prst="rect">
            <a:avLst/>
          </a:prstGeom>
          <a:noFill/>
        </p:spPr>
        <p:txBody>
          <a:bodyPr wrap="square">
            <a:spAutoFit/>
          </a:bodyPr>
          <a:lstStyle/>
          <a:p>
            <a:pPr lvl="0" algn="just">
              <a:lnSpc>
                <a:spcPct val="150000"/>
              </a:lnSpc>
            </a:pPr>
            <a:r>
              <a:rPr lang="zh-CN" altLang="en-US" sz="866" b="1" dirty="0">
                <a:solidFill>
                  <a:schemeClr val="accent6"/>
                </a:solidFill>
                <a:latin typeface="微软雅黑" panose="020B0503020204020204" pitchFamily="34" charset="-122"/>
                <a:ea typeface="微软雅黑" panose="020B0503020204020204" pitchFamily="34" charset="-122"/>
                <a:cs typeface="Times New Roman" panose="02020603050405020304" pitchFamily="18" charset="0"/>
              </a:rPr>
              <a:t>数据与知识管理</a:t>
            </a:r>
            <a:r>
              <a:rPr lang="zh-CN" altLang="en-US" sz="866"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866" dirty="0">
                <a:latin typeface="微软雅黑" panose="020B0503020204020204" pitchFamily="34" charset="-122"/>
                <a:ea typeface="微软雅黑" panose="020B0503020204020204" pitchFamily="34" charset="-122"/>
                <a:cs typeface="Times New Roman" panose="02020603050405020304" pitchFamily="18" charset="0"/>
              </a:rPr>
              <a:t>关注系统背后的</a:t>
            </a:r>
            <a:r>
              <a:rPr lang="en-US" altLang="zh-CN" sz="866"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866" dirty="0">
                <a:latin typeface="微软雅黑" panose="020B0503020204020204" pitchFamily="34" charset="-122"/>
                <a:ea typeface="微软雅黑" panose="020B0503020204020204" pitchFamily="34" charset="-122"/>
                <a:cs typeface="Times New Roman" panose="02020603050405020304" pitchFamily="18" charset="0"/>
              </a:rPr>
              <a:t>信息底座</a:t>
            </a:r>
            <a:r>
              <a:rPr lang="en-US" altLang="zh-CN" sz="866"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866" dirty="0">
                <a:latin typeface="微软雅黑" panose="020B0503020204020204" pitchFamily="34" charset="-122"/>
                <a:ea typeface="微软雅黑" panose="020B0503020204020204" pitchFamily="34" charset="-122"/>
                <a:cs typeface="Times New Roman" panose="02020603050405020304" pitchFamily="18" charset="0"/>
              </a:rPr>
              <a:t>，衡量数据管理和知识构建能力，确保智能体有充足、可靠、可更新的数据支持。</a:t>
            </a:r>
          </a:p>
        </p:txBody>
      </p:sp>
      <p:sp>
        <p:nvSpPr>
          <p:cNvPr id="12" name="文本框 11"/>
          <p:cNvSpPr txBox="1"/>
          <p:nvPr/>
        </p:nvSpPr>
        <p:spPr>
          <a:xfrm>
            <a:off x="10390275" y="4044128"/>
            <a:ext cx="1287186" cy="668388"/>
          </a:xfrm>
          <a:prstGeom prst="rect">
            <a:avLst/>
          </a:prstGeom>
          <a:noFill/>
        </p:spPr>
        <p:txBody>
          <a:bodyPr wrap="square">
            <a:spAutoFit/>
          </a:bodyPr>
          <a:lstStyle/>
          <a:p>
            <a:pPr lvl="0" algn="just">
              <a:lnSpc>
                <a:spcPct val="150000"/>
              </a:lnSpc>
            </a:pPr>
            <a:r>
              <a:rPr lang="zh-CN" altLang="en-US" sz="866" b="1" dirty="0">
                <a:solidFill>
                  <a:schemeClr val="accent6"/>
                </a:solidFill>
                <a:latin typeface="微软雅黑" panose="020B0503020204020204" pitchFamily="34" charset="-122"/>
                <a:ea typeface="微软雅黑" panose="020B0503020204020204" pitchFamily="34" charset="-122"/>
                <a:cs typeface="Times New Roman" panose="02020603050405020304" pitchFamily="18" charset="0"/>
              </a:rPr>
              <a:t>多样调用能力</a:t>
            </a:r>
            <a:r>
              <a:rPr lang="zh-CN" altLang="en-US" sz="866"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866" dirty="0">
                <a:latin typeface="微软雅黑" panose="020B0503020204020204" pitchFamily="34" charset="-122"/>
                <a:ea typeface="微软雅黑" panose="020B0503020204020204" pitchFamily="34" charset="-122"/>
                <a:cs typeface="Times New Roman" panose="02020603050405020304" pitchFamily="18" charset="0"/>
              </a:rPr>
              <a:t>关注连接性、调度性、鲁棒性、效率性与自适应性。</a:t>
            </a:r>
          </a:p>
        </p:txBody>
      </p:sp>
      <p:sp>
        <p:nvSpPr>
          <p:cNvPr id="15" name="文本框 14"/>
          <p:cNvSpPr txBox="1"/>
          <p:nvPr/>
        </p:nvSpPr>
        <p:spPr>
          <a:xfrm>
            <a:off x="8291753" y="4754069"/>
            <a:ext cx="2533348" cy="868251"/>
          </a:xfrm>
          <a:prstGeom prst="rect">
            <a:avLst/>
          </a:prstGeom>
          <a:noFill/>
        </p:spPr>
        <p:txBody>
          <a:bodyPr wrap="square">
            <a:spAutoFit/>
          </a:bodyPr>
          <a:lstStyle/>
          <a:p>
            <a:pPr lvl="0" algn="just">
              <a:lnSpc>
                <a:spcPct val="150000"/>
              </a:lnSpc>
            </a:pPr>
            <a:r>
              <a:rPr lang="zh-CN" altLang="en-US" sz="866" b="1" dirty="0">
                <a:solidFill>
                  <a:schemeClr val="accent6"/>
                </a:solidFill>
                <a:latin typeface="微软雅黑" panose="020B0503020204020204" pitchFamily="34" charset="-122"/>
                <a:ea typeface="微软雅黑" panose="020B0503020204020204" pitchFamily="34" charset="-122"/>
                <a:cs typeface="Times New Roman" panose="02020603050405020304" pitchFamily="18" charset="0"/>
              </a:rPr>
              <a:t>智能体系统架构与工程化能力</a:t>
            </a:r>
            <a:r>
              <a:rPr lang="zh-CN" altLang="en-US" sz="866"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866" dirty="0">
                <a:latin typeface="微软雅黑" panose="020B0503020204020204" pitchFamily="34" charset="-122"/>
                <a:ea typeface="微软雅黑" panose="020B0503020204020204" pitchFamily="34" charset="-122"/>
                <a:cs typeface="Times New Roman" panose="02020603050405020304" pitchFamily="18" charset="0"/>
              </a:rPr>
              <a:t>衡量系统设计是否科学合理、模块化、可扩展、可靠及智能体系统的工程化水平和可操作性，确保智能体能够在复杂环境中稳定运行并支持后续升级优化。</a:t>
            </a:r>
          </a:p>
        </p:txBody>
      </p:sp>
      <p:sp>
        <p:nvSpPr>
          <p:cNvPr id="18" name="文本框 17"/>
          <p:cNvSpPr txBox="1"/>
          <p:nvPr/>
        </p:nvSpPr>
        <p:spPr>
          <a:xfrm>
            <a:off x="6881781" y="3896061"/>
            <a:ext cx="1805191" cy="868251"/>
          </a:xfrm>
          <a:prstGeom prst="rect">
            <a:avLst/>
          </a:prstGeom>
          <a:noFill/>
        </p:spPr>
        <p:txBody>
          <a:bodyPr wrap="square">
            <a:spAutoFit/>
          </a:bodyPr>
          <a:lstStyle/>
          <a:p>
            <a:pPr algn="just">
              <a:lnSpc>
                <a:spcPct val="150000"/>
              </a:lnSpc>
            </a:pPr>
            <a:r>
              <a:rPr lang="zh-CN" altLang="en-US" sz="866" b="1" dirty="0">
                <a:solidFill>
                  <a:schemeClr val="accent6"/>
                </a:solidFill>
                <a:latin typeface="微软雅黑" panose="020B0503020204020204" pitchFamily="34" charset="-122"/>
                <a:ea typeface="微软雅黑" panose="020B0503020204020204" pitchFamily="34" charset="-122"/>
                <a:cs typeface="Times New Roman" panose="02020603050405020304" pitchFamily="18" charset="0"/>
              </a:rPr>
              <a:t>应用价值与商业化能力</a:t>
            </a:r>
            <a:r>
              <a:rPr lang="zh-CN" altLang="en-US" sz="866"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866" dirty="0">
                <a:latin typeface="微软雅黑" panose="020B0503020204020204" pitchFamily="34" charset="-122"/>
                <a:ea typeface="微软雅黑" panose="020B0503020204020204" pitchFamily="34" charset="-122"/>
                <a:cs typeface="Times New Roman" panose="02020603050405020304" pitchFamily="18" charset="0"/>
              </a:rPr>
              <a:t>关注系统的实际应用能力、场景适配性、用户体验和商业化价值，体现技术成熟度与业务价值的结合能力。</a:t>
            </a:r>
          </a:p>
        </p:txBody>
      </p:sp>
      <p:sp>
        <p:nvSpPr>
          <p:cNvPr id="20" name="文本框 19"/>
          <p:cNvSpPr txBox="1"/>
          <p:nvPr/>
        </p:nvSpPr>
        <p:spPr>
          <a:xfrm>
            <a:off x="6965392" y="2579889"/>
            <a:ext cx="1934709" cy="1068113"/>
          </a:xfrm>
          <a:prstGeom prst="rect">
            <a:avLst/>
          </a:prstGeom>
          <a:noFill/>
        </p:spPr>
        <p:txBody>
          <a:bodyPr wrap="square">
            <a:spAutoFit/>
          </a:bodyPr>
          <a:lstStyle/>
          <a:p>
            <a:pPr lvl="0" algn="just">
              <a:lnSpc>
                <a:spcPct val="150000"/>
              </a:lnSpc>
            </a:pPr>
            <a:r>
              <a:rPr lang="zh-CN" altLang="en-US" sz="866" b="1" dirty="0">
                <a:solidFill>
                  <a:schemeClr val="accent6"/>
                </a:solidFill>
                <a:latin typeface="微软雅黑" panose="020B0503020204020204" pitchFamily="34" charset="-122"/>
                <a:ea typeface="微软雅黑" panose="020B0503020204020204" pitchFamily="34" charset="-122"/>
                <a:cs typeface="Times New Roman" panose="02020603050405020304" pitchFamily="18" charset="0"/>
              </a:rPr>
              <a:t>安全合规与运维能力</a:t>
            </a:r>
            <a:r>
              <a:rPr lang="zh-CN" altLang="en-US" sz="866"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866" dirty="0">
                <a:latin typeface="微软雅黑" panose="020B0503020204020204" pitchFamily="34" charset="-122"/>
                <a:ea typeface="微软雅黑" panose="020B0503020204020204" pitchFamily="34" charset="-122"/>
                <a:cs typeface="Times New Roman" panose="02020603050405020304" pitchFamily="18" charset="0"/>
              </a:rPr>
              <a:t>衡量智能体系统在稳定性、安全性、合规性、伦理性方面的成熟程度，确保系统可持续、可信赖、对社会和用户负责。</a:t>
            </a:r>
          </a:p>
        </p:txBody>
      </p:sp>
      <p:sp>
        <p:nvSpPr>
          <p:cNvPr id="5" name="文本框 4">
            <a:extLst>
              <a:ext uri="{FF2B5EF4-FFF2-40B4-BE49-F238E27FC236}">
                <a16:creationId xmlns:a16="http://schemas.microsoft.com/office/drawing/2014/main" id="{9A9925AF-AE2E-C670-E8D1-2AF131CD6324}"/>
              </a:ext>
            </a:extLst>
          </p:cNvPr>
          <p:cNvSpPr txBox="1"/>
          <p:nvPr/>
        </p:nvSpPr>
        <p:spPr>
          <a:xfrm>
            <a:off x="2271943" y="5779685"/>
            <a:ext cx="6094414" cy="276871"/>
          </a:xfrm>
          <a:prstGeom prst="rect">
            <a:avLst/>
          </a:prstGeom>
          <a:noFill/>
        </p:spPr>
        <p:txBody>
          <a:bodyPr wrap="square">
            <a:spAutoFit/>
          </a:bodyPr>
          <a:lstStyle/>
          <a:p>
            <a:r>
              <a:rPr lang="zh-CN" altLang="en-US" sz="1199" dirty="0">
                <a:latin typeface="微软雅黑" panose="020B0503020204020204" pitchFamily="34" charset="-122"/>
                <a:ea typeface="微软雅黑" panose="020B0503020204020204" pitchFamily="34" charset="-122"/>
                <a:sym typeface="+mn-ea"/>
              </a:rPr>
              <a:t>智能体驱动的大模型系统工程评价体系</a:t>
            </a:r>
            <a:endParaRPr lang="zh-CN" altLang="en-US" sz="1199"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15186333"/>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7A1CAE8-D3A2-4B6C-9AD8-21EEF777D29C}"/>
              </a:ext>
            </a:extLst>
          </p:cNvPr>
          <p:cNvSpPr/>
          <p:nvPr/>
        </p:nvSpPr>
        <p:spPr>
          <a:xfrm>
            <a:off x="5461850" y="2228671"/>
            <a:ext cx="1268297" cy="1200329"/>
          </a:xfrm>
          <a:prstGeom prst="rect">
            <a:avLst/>
          </a:prstGeom>
          <a:noFill/>
        </p:spPr>
        <p:txBody>
          <a:bodyPr wrap="none" lIns="91440" tIns="45720" rIns="91440" bIns="45720">
            <a:spAutoFit/>
          </a:bodyPr>
          <a:lstStyle/>
          <a:p>
            <a:pPr algn="ctr"/>
            <a:r>
              <a:rPr lang="en-US" altLang="zh-CN" sz="7200" b="0" cap="none" spc="0" dirty="0">
                <a:ln w="0"/>
                <a:solidFill>
                  <a:schemeClr val="accent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DINCond-BoldAlternate" charset="0"/>
              </a:rPr>
              <a:t>03</a:t>
            </a:r>
            <a:endParaRPr lang="zh-CN" altLang="en-US" sz="7200" b="0" cap="none" spc="0" dirty="0">
              <a:ln w="0"/>
              <a:solidFill>
                <a:schemeClr val="accent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p:txBody>
      </p:sp>
      <p:sp>
        <p:nvSpPr>
          <p:cNvPr id="2" name="TextBox 3"/>
          <p:cNvSpPr txBox="1">
            <a:spLocks noChangeArrowheads="1"/>
          </p:cNvSpPr>
          <p:nvPr/>
        </p:nvSpPr>
        <p:spPr bwMode="auto">
          <a:xfrm flipH="1">
            <a:off x="2042474" y="3429000"/>
            <a:ext cx="8107051" cy="699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panose="020F0502020204030204" charset="0"/>
              </a:defRPr>
            </a:lvl1pPr>
            <a:lvl2pPr marL="742950" indent="-285750">
              <a:defRPr>
                <a:solidFill>
                  <a:schemeClr val="tx1"/>
                </a:solidFill>
                <a:latin typeface="Calibri" panose="020F0502020204030204" charset="0"/>
              </a:defRPr>
            </a:lvl2pPr>
            <a:lvl3pPr marL="1143000" indent="-228600">
              <a:defRPr>
                <a:solidFill>
                  <a:schemeClr val="tx1"/>
                </a:solidFill>
                <a:latin typeface="Calibri" panose="020F0502020204030204" charset="0"/>
              </a:defRPr>
            </a:lvl3pPr>
            <a:lvl4pPr marL="1600200" indent="-228600">
              <a:defRPr>
                <a:solidFill>
                  <a:schemeClr val="tx1"/>
                </a:solidFill>
                <a:latin typeface="Calibri" panose="020F0502020204030204" charset="0"/>
              </a:defRPr>
            </a:lvl4pPr>
            <a:lvl5pPr marL="2057400" indent="-228600">
              <a:defRPr>
                <a:solidFill>
                  <a:schemeClr val="tx1"/>
                </a:solidFill>
                <a:latin typeface="Calibri" panose="020F0502020204030204" charset="0"/>
              </a:defRPr>
            </a:lvl5pPr>
            <a:lvl6pPr marL="2514600" indent="-228600" fontAlgn="base">
              <a:spcBef>
                <a:spcPct val="0"/>
              </a:spcBef>
              <a:spcAft>
                <a:spcPct val="0"/>
              </a:spcAft>
              <a:defRPr>
                <a:solidFill>
                  <a:schemeClr val="tx1"/>
                </a:solidFill>
                <a:latin typeface="Calibri" panose="020F0502020204030204" charset="0"/>
              </a:defRPr>
            </a:lvl6pPr>
            <a:lvl7pPr marL="2971800" indent="-228600" fontAlgn="base">
              <a:spcBef>
                <a:spcPct val="0"/>
              </a:spcBef>
              <a:spcAft>
                <a:spcPct val="0"/>
              </a:spcAft>
              <a:defRPr>
                <a:solidFill>
                  <a:schemeClr val="tx1"/>
                </a:solidFill>
                <a:latin typeface="Calibri" panose="020F0502020204030204" charset="0"/>
              </a:defRPr>
            </a:lvl7pPr>
            <a:lvl8pPr marL="3429000" indent="-228600" fontAlgn="base">
              <a:spcBef>
                <a:spcPct val="0"/>
              </a:spcBef>
              <a:spcAft>
                <a:spcPct val="0"/>
              </a:spcAft>
              <a:defRPr>
                <a:solidFill>
                  <a:schemeClr val="tx1"/>
                </a:solidFill>
                <a:latin typeface="Calibri" panose="020F0502020204030204" charset="0"/>
              </a:defRPr>
            </a:lvl8pPr>
            <a:lvl9pPr marL="3886200" indent="-228600" fontAlgn="base">
              <a:spcBef>
                <a:spcPct val="0"/>
              </a:spcBef>
              <a:spcAft>
                <a:spcPct val="0"/>
              </a:spcAft>
              <a:defRPr>
                <a:solidFill>
                  <a:schemeClr val="tx1"/>
                </a:solidFill>
                <a:latin typeface="Calibri" panose="020F0502020204030204" charset="0"/>
              </a:defRPr>
            </a:lvl9pPr>
          </a:lstStyle>
          <a:p>
            <a:pPr algn="ctr">
              <a:lnSpc>
                <a:spcPct val="125000"/>
              </a:lnSpc>
            </a:pPr>
            <a:r>
              <a:rPr kumimoji="1" lang="zh-CN" altLang="en-US" sz="4000" b="1" dirty="0">
                <a:latin typeface="微软雅黑" panose="020B0503020204020204" pitchFamily="34" charset="-122"/>
                <a:ea typeface="微软雅黑" panose="020B0503020204020204" pitchFamily="34" charset="-122"/>
              </a:rPr>
              <a:t>未来发展趋势</a:t>
            </a:r>
            <a:endParaRPr lang="zh-CN" altLang="en-US" sz="3996" b="1" dirty="0">
              <a:latin typeface="微软雅黑" panose="020B0503020204020204" pitchFamily="34" charset="-122"/>
              <a:ea typeface="微软雅黑" panose="020B0503020204020204" pitchFamily="34" charset="-122"/>
              <a:cs typeface="TTTGB Medium" panose="020C06030202040F0204" charset="-122"/>
            </a:endParaRPr>
          </a:p>
        </p:txBody>
      </p:sp>
    </p:spTree>
    <p:extLst>
      <p:ext uri="{BB962C8B-B14F-4D97-AF65-F5344CB8AC3E}">
        <p14:creationId xmlns:p14="http://schemas.microsoft.com/office/powerpoint/2010/main" val="83557028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94213" y="275437"/>
            <a:ext cx="3631696" cy="420243"/>
          </a:xfrm>
          <a:prstGeom prst="rect">
            <a:avLst/>
          </a:prstGeom>
          <a:noFill/>
        </p:spPr>
        <p:txBody>
          <a:bodyPr wrap="square" rtlCol="0">
            <a:spAutoFit/>
          </a:bodyPr>
          <a:lstStyle/>
          <a:p>
            <a:pPr defTabSz="913909"/>
            <a:r>
              <a:rPr lang="zh-CN" altLang="en-US" sz="2131" b="1" dirty="0">
                <a:latin typeface="微软雅黑" panose="020B0503020204020204" pitchFamily="34" charset="-122"/>
                <a:ea typeface="微软雅黑" panose="020B0503020204020204" pitchFamily="34" charset="-122"/>
                <a:cs typeface="微软雅黑 Light" panose="020B0502040204020203" charset="-122"/>
                <a:sym typeface="+mn-lt"/>
              </a:rPr>
              <a:t>未来发展趋势</a:t>
            </a:r>
          </a:p>
        </p:txBody>
      </p:sp>
      <p:grpSp>
        <p:nvGrpSpPr>
          <p:cNvPr id="2" name="组合 1"/>
          <p:cNvGrpSpPr/>
          <p:nvPr/>
        </p:nvGrpSpPr>
        <p:grpSpPr>
          <a:xfrm rot="5400000">
            <a:off x="184038" y="3272135"/>
            <a:ext cx="11961292" cy="11800579"/>
            <a:chOff x="7345045" y="-3710622"/>
            <a:chExt cx="17959070" cy="17717770"/>
          </a:xfrm>
        </p:grpSpPr>
        <p:sp>
          <p:nvSpPr>
            <p:cNvPr id="65" name="椭圆 64"/>
            <p:cNvSpPr/>
            <p:nvPr/>
          </p:nvSpPr>
          <p:spPr>
            <a:xfrm>
              <a:off x="12049760" y="-1234440"/>
              <a:ext cx="12765405" cy="12765405"/>
            </a:xfrm>
            <a:prstGeom prst="ellipse">
              <a:avLst/>
            </a:prstGeom>
            <a:noFill/>
            <a:ln w="6350">
              <a:gradFill>
                <a:gsLst>
                  <a:gs pos="19000">
                    <a:srgbClr val="F2F2F2">
                      <a:alpha val="0"/>
                    </a:srgbClr>
                  </a:gs>
                  <a:gs pos="2000">
                    <a:schemeClr val="bg1">
                      <a:lumMod val="95000"/>
                      <a:alpha val="63000"/>
                    </a:schemeClr>
                  </a:gs>
                </a:gsLst>
                <a:lin ang="2136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accent6"/>
                </a:solidFill>
                <a:highlight>
                  <a:srgbClr val="FFFF00"/>
                </a:highlight>
                <a:latin typeface="微软雅黑" panose="020B0503020204020204" pitchFamily="34" charset="-122"/>
                <a:ea typeface="微软雅黑" panose="020B0503020204020204" pitchFamily="34" charset="-122"/>
                <a:sym typeface="+mn-ea"/>
              </a:endParaRPr>
            </a:p>
          </p:txBody>
        </p:sp>
        <p:sp>
          <p:nvSpPr>
            <p:cNvPr id="79" name="椭圆 78"/>
            <p:cNvSpPr/>
            <p:nvPr/>
          </p:nvSpPr>
          <p:spPr>
            <a:xfrm>
              <a:off x="9656445" y="-2675572"/>
              <a:ext cx="15647670" cy="15647670"/>
            </a:xfrm>
            <a:prstGeom prst="ellipse">
              <a:avLst/>
            </a:prstGeom>
            <a:noFill/>
            <a:ln w="6350">
              <a:gradFill>
                <a:gsLst>
                  <a:gs pos="13000">
                    <a:srgbClr val="F2F2F2">
                      <a:alpha val="0"/>
                    </a:srgbClr>
                  </a:gs>
                  <a:gs pos="2000">
                    <a:schemeClr val="bg1">
                      <a:lumMod val="95000"/>
                      <a:alpha val="55000"/>
                    </a:schemeClr>
                  </a:gs>
                </a:gsLst>
                <a:lin ang="21360000" scaled="0"/>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accent6"/>
                </a:solidFill>
                <a:highlight>
                  <a:srgbClr val="FFFF00"/>
                </a:highlight>
                <a:latin typeface="微软雅黑" panose="020B0503020204020204" pitchFamily="34" charset="-122"/>
                <a:ea typeface="微软雅黑" panose="020B0503020204020204" pitchFamily="34" charset="-122"/>
                <a:sym typeface="+mn-ea"/>
              </a:endParaRPr>
            </a:p>
          </p:txBody>
        </p:sp>
        <p:sp>
          <p:nvSpPr>
            <p:cNvPr id="81" name="椭圆 80"/>
            <p:cNvSpPr/>
            <p:nvPr/>
          </p:nvSpPr>
          <p:spPr>
            <a:xfrm>
              <a:off x="7345045" y="-3710622"/>
              <a:ext cx="17717770" cy="17717770"/>
            </a:xfrm>
            <a:prstGeom prst="ellipse">
              <a:avLst/>
            </a:prstGeom>
            <a:noFill/>
            <a:ln w="6350">
              <a:gradFill>
                <a:gsLst>
                  <a:gs pos="13000">
                    <a:srgbClr val="F2F2F2">
                      <a:alpha val="0"/>
                    </a:srgbClr>
                  </a:gs>
                  <a:gs pos="2000">
                    <a:schemeClr val="bg1">
                      <a:lumMod val="95000"/>
                      <a:alpha val="55000"/>
                    </a:schemeClr>
                  </a:gs>
                </a:gsLst>
                <a:lin ang="21360000" scaled="0"/>
              </a:gradFill>
              <a:prstDash val="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199">
                <a:solidFill>
                  <a:schemeClr val="accent6"/>
                </a:solidFill>
                <a:highlight>
                  <a:srgbClr val="FFFF00"/>
                </a:highlight>
                <a:latin typeface="微软雅黑" panose="020B0503020204020204" pitchFamily="34" charset="-122"/>
                <a:ea typeface="微软雅黑" panose="020B0503020204020204" pitchFamily="34" charset="-122"/>
                <a:sym typeface="+mn-ea"/>
              </a:endParaRPr>
            </a:p>
          </p:txBody>
        </p:sp>
      </p:grpSp>
      <p:grpSp>
        <p:nvGrpSpPr>
          <p:cNvPr id="4" name="组合 3"/>
          <p:cNvGrpSpPr/>
          <p:nvPr/>
        </p:nvGrpSpPr>
        <p:grpSpPr>
          <a:xfrm>
            <a:off x="494213" y="1255290"/>
            <a:ext cx="3476111" cy="4347421"/>
            <a:chOff x="2157975" y="1865651"/>
            <a:chExt cx="5219146" cy="6527359"/>
          </a:xfrm>
        </p:grpSpPr>
        <p:sp>
          <p:nvSpPr>
            <p:cNvPr id="98" name="文本框 97"/>
            <p:cNvSpPr txBox="1"/>
            <p:nvPr>
              <p:custDataLst>
                <p:tags r:id="rId5"/>
              </p:custDataLst>
            </p:nvPr>
          </p:nvSpPr>
          <p:spPr>
            <a:xfrm>
              <a:off x="2195563" y="1865651"/>
              <a:ext cx="5181558" cy="4693637"/>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defTabSz="653819">
                <a:lnSpc>
                  <a:spcPct val="150000"/>
                </a:lnSpc>
                <a:defRPr/>
              </a:pPr>
              <a:r>
                <a:rPr lang="zh-CN" altLang="en-US" sz="1199" dirty="0">
                  <a:latin typeface="微软雅黑" panose="020B0503020204020204" pitchFamily="34" charset="-122"/>
                  <a:ea typeface="微软雅黑" panose="020B0503020204020204" pitchFamily="34" charset="-122"/>
                </a:rPr>
                <a:t>未来</a:t>
              </a:r>
              <a:r>
                <a:rPr lang="en-US" altLang="zh-CN" sz="1199" dirty="0">
                  <a:latin typeface="微软雅黑" panose="020B0503020204020204" pitchFamily="34" charset="-122"/>
                  <a:ea typeface="微软雅黑" panose="020B0503020204020204" pitchFamily="34" charset="-122"/>
                </a:rPr>
                <a:t>AI</a:t>
              </a:r>
              <a:r>
                <a:rPr lang="zh-CN" altLang="en-US" sz="1199" dirty="0">
                  <a:latin typeface="微软雅黑" panose="020B0503020204020204" pitchFamily="34" charset="-122"/>
                  <a:ea typeface="微软雅黑" panose="020B0503020204020204" pitchFamily="34" charset="-122"/>
                </a:rPr>
                <a:t>智能体</a:t>
              </a:r>
              <a:r>
                <a:rPr lang="zh-CN" altLang="zh-CN" sz="1199" dirty="0">
                  <a:latin typeface="微软雅黑" panose="020B0503020204020204" pitchFamily="34" charset="-122"/>
                  <a:ea typeface="微软雅黑" panose="020B0503020204020204" pitchFamily="34" charset="-122"/>
                </a:rPr>
                <a:t>不仅具备高性能计算能力，还</a:t>
              </a:r>
              <a:r>
                <a:rPr lang="zh-CN" altLang="en-US" sz="1199" dirty="0">
                  <a:latin typeface="微软雅黑" panose="020B0503020204020204" pitchFamily="34" charset="-122"/>
                  <a:ea typeface="微软雅黑" panose="020B0503020204020204" pitchFamily="34" charset="-122"/>
                </a:rPr>
                <a:t>应能够</a:t>
              </a:r>
              <a:r>
                <a:rPr lang="zh-CN" altLang="zh-CN" sz="1199" dirty="0">
                  <a:latin typeface="微软雅黑" panose="020B0503020204020204" pitchFamily="34" charset="-122"/>
                  <a:ea typeface="微软雅黑" panose="020B0503020204020204" pitchFamily="34" charset="-122"/>
                </a:rPr>
                <a:t>自主感知环境变化、调整行为策略，并在复杂场景中实现持续优化</a:t>
              </a:r>
              <a:r>
                <a:rPr lang="zh-CN" altLang="en-US" sz="1199" dirty="0">
                  <a:latin typeface="微软雅黑" panose="020B0503020204020204" pitchFamily="34" charset="-122"/>
                  <a:ea typeface="微软雅黑" panose="020B0503020204020204" pitchFamily="34" charset="-122"/>
                </a:rPr>
                <a:t>，</a:t>
              </a:r>
              <a:r>
                <a:rPr lang="zh-CN" altLang="en-US" sz="1199" b="1" dirty="0">
                  <a:solidFill>
                    <a:schemeClr val="accent6"/>
                  </a:solidFill>
                  <a:latin typeface="微软雅黑" panose="020B0503020204020204" pitchFamily="34" charset="-122"/>
                  <a:ea typeface="微软雅黑" panose="020B0503020204020204" pitchFamily="34" charset="-122"/>
                </a:rPr>
                <a:t>自主感知与决策能力增强、</a:t>
              </a:r>
              <a:r>
                <a:rPr lang="zh-CN" altLang="zh-CN" sz="1199" b="1" dirty="0">
                  <a:solidFill>
                    <a:schemeClr val="accent6"/>
                  </a:solidFill>
                  <a:latin typeface="微软雅黑" panose="020B0503020204020204" pitchFamily="34" charset="-122"/>
                  <a:ea typeface="微软雅黑" panose="020B0503020204020204" pitchFamily="34" charset="-122"/>
                </a:rPr>
                <a:t>自适应学习与持续优化</a:t>
              </a:r>
              <a:r>
                <a:rPr lang="zh-CN" altLang="en-US" sz="1199" b="1" dirty="0">
                  <a:solidFill>
                    <a:schemeClr val="accent6"/>
                  </a:solidFill>
                  <a:latin typeface="微软雅黑" panose="020B0503020204020204" pitchFamily="34" charset="-122"/>
                  <a:ea typeface="微软雅黑" panose="020B0503020204020204" pitchFamily="34" charset="-122"/>
                </a:rPr>
                <a:t>、</a:t>
              </a:r>
              <a:r>
                <a:rPr lang="zh-CN" altLang="zh-CN" sz="1199" b="1" dirty="0">
                  <a:solidFill>
                    <a:schemeClr val="accent6"/>
                  </a:solidFill>
                  <a:latin typeface="微软雅黑" panose="020B0503020204020204" pitchFamily="34" charset="-122"/>
                  <a:ea typeface="微软雅黑" panose="020B0503020204020204" pitchFamily="34" charset="-122"/>
                </a:rPr>
                <a:t>端</a:t>
              </a:r>
              <a:r>
                <a:rPr lang="en-US" altLang="zh-CN" sz="1199" b="1" dirty="0">
                  <a:solidFill>
                    <a:schemeClr val="accent6"/>
                  </a:solidFill>
                  <a:latin typeface="微软雅黑" panose="020B0503020204020204" pitchFamily="34" charset="-122"/>
                  <a:ea typeface="微软雅黑" panose="020B0503020204020204" pitchFamily="34" charset="-122"/>
                </a:rPr>
                <a:t>-</a:t>
              </a:r>
              <a:r>
                <a:rPr lang="zh-CN" altLang="zh-CN" sz="1199" b="1" dirty="0">
                  <a:solidFill>
                    <a:schemeClr val="accent6"/>
                  </a:solidFill>
                  <a:latin typeface="微软雅黑" panose="020B0503020204020204" pitchFamily="34" charset="-122"/>
                  <a:ea typeface="微软雅黑" panose="020B0503020204020204" pitchFamily="34" charset="-122"/>
                </a:rPr>
                <a:t>云协同与资源动态调度</a:t>
              </a:r>
              <a:r>
                <a:rPr lang="zh-CN" altLang="en-US" sz="1199" b="1" dirty="0">
                  <a:solidFill>
                    <a:schemeClr val="accent6"/>
                  </a:solidFill>
                  <a:latin typeface="微软雅黑" panose="020B0503020204020204" pitchFamily="34" charset="-122"/>
                  <a:ea typeface="微软雅黑" panose="020B0503020204020204" pitchFamily="34" charset="-122"/>
                </a:rPr>
                <a:t>将是未来技术创新的重要方向。</a:t>
              </a:r>
              <a:endParaRPr lang="en-US" altLang="zh-CN" sz="1199" b="1" dirty="0">
                <a:solidFill>
                  <a:schemeClr val="accent6"/>
                </a:solidFill>
                <a:latin typeface="微软雅黑" panose="020B0503020204020204" pitchFamily="34" charset="-122"/>
                <a:ea typeface="微软雅黑" panose="020B0503020204020204" pitchFamily="34" charset="-122"/>
              </a:endParaRPr>
            </a:p>
            <a:p>
              <a:pPr defTabSz="653819">
                <a:lnSpc>
                  <a:spcPct val="150000"/>
                </a:lnSpc>
                <a:defRPr/>
              </a:pPr>
              <a:endParaRPr lang="en-US" altLang="zh-CN" sz="1199" dirty="0">
                <a:latin typeface="微软雅黑" panose="020B0503020204020204" pitchFamily="34" charset="-122"/>
                <a:ea typeface="微软雅黑" panose="020B0503020204020204" pitchFamily="34" charset="-122"/>
              </a:endParaRPr>
            </a:p>
            <a:p>
              <a:pPr defTabSz="653819">
                <a:lnSpc>
                  <a:spcPct val="150000"/>
                </a:lnSpc>
                <a:defRPr/>
              </a:pPr>
              <a:r>
                <a:rPr lang="zh-CN" altLang="en-US" sz="1199" dirty="0">
                  <a:latin typeface="微软雅黑" panose="020B0503020204020204" pitchFamily="34" charset="-122"/>
                  <a:ea typeface="微软雅黑" panose="020B0503020204020204" pitchFamily="34" charset="-122"/>
                  <a:sym typeface="Helvetica Neue" panose="02000206000000020004"/>
                </a:rPr>
                <a:t>技术创新不仅局限于算法，同时也推动系统工程方法论升级。</a:t>
              </a:r>
              <a:r>
                <a:rPr lang="zh-CN" altLang="en-US" sz="1199" b="1" dirty="0">
                  <a:solidFill>
                    <a:schemeClr val="accent6"/>
                  </a:solidFill>
                  <a:latin typeface="微软雅黑" panose="020B0503020204020204" pitchFamily="34" charset="-122"/>
                  <a:ea typeface="微软雅黑" panose="020B0503020204020204" pitchFamily="34" charset="-122"/>
                  <a:sym typeface="Helvetica Neue" panose="02000206000000020004"/>
                </a:rPr>
                <a:t>全生命周期闭环管理、自动化训练与部署、智能监控与优化，将与自主智能能力紧密结合，使系统工程从静态管理向动态、自主、可持续发展演进。</a:t>
              </a:r>
            </a:p>
          </p:txBody>
        </p:sp>
        <p:grpSp>
          <p:nvGrpSpPr>
            <p:cNvPr id="3" name="组合 2"/>
            <p:cNvGrpSpPr/>
            <p:nvPr/>
          </p:nvGrpSpPr>
          <p:grpSpPr>
            <a:xfrm>
              <a:off x="2157975" y="6785816"/>
              <a:ext cx="5114433" cy="1607194"/>
              <a:chOff x="1738875" y="6494385"/>
              <a:chExt cx="5114433" cy="1607194"/>
            </a:xfrm>
          </p:grpSpPr>
          <p:sp>
            <p:nvSpPr>
              <p:cNvPr id="101" name="椭圆 100"/>
              <p:cNvSpPr/>
              <p:nvPr>
                <p:custDataLst>
                  <p:tags r:id="rId6"/>
                </p:custDataLst>
              </p:nvPr>
            </p:nvSpPr>
            <p:spPr>
              <a:xfrm>
                <a:off x="6709308" y="7223795"/>
                <a:ext cx="144000" cy="144000"/>
              </a:xfrm>
              <a:prstGeom prst="ellipse">
                <a:avLst/>
              </a:prstGeom>
              <a:solidFill>
                <a:schemeClr val="bg1"/>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dirty="0">
                  <a:solidFill>
                    <a:schemeClr val="tx1"/>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1738875" y="6494385"/>
                <a:ext cx="4970433" cy="1607194"/>
              </a:xfrm>
              <a:prstGeom prst="roundRect">
                <a:avLst>
                  <a:gd name="adj" fmla="val 50000"/>
                </a:avLst>
              </a:prstGeom>
              <a:gradFill>
                <a:gsLst>
                  <a:gs pos="0">
                    <a:srgbClr val="9CB8DA"/>
                  </a:gs>
                  <a:gs pos="99000">
                    <a:schemeClr val="bg1">
                      <a:alpha val="3000"/>
                    </a:schemeClr>
                  </a:gs>
                </a:gsLst>
                <a:lin ang="16200000" scaled="0"/>
              </a:gradFill>
              <a:ln w="25400">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865" b="1" dirty="0">
                    <a:solidFill>
                      <a:schemeClr val="accent6"/>
                    </a:solidFill>
                    <a:latin typeface="微软雅黑" panose="020B0503020204020204" pitchFamily="34" charset="-122"/>
                    <a:ea typeface="微软雅黑" panose="020B0503020204020204" pitchFamily="34" charset="-122"/>
                    <a:sym typeface="+mn-ea"/>
                  </a:rPr>
                  <a:t>技术创新方面，智能体围绕自主智能与自适应系统持续发展。</a:t>
                </a:r>
              </a:p>
            </p:txBody>
          </p:sp>
        </p:grpSp>
      </p:grpSp>
      <p:grpSp>
        <p:nvGrpSpPr>
          <p:cNvPr id="5" name="组合 4"/>
          <p:cNvGrpSpPr/>
          <p:nvPr/>
        </p:nvGrpSpPr>
        <p:grpSpPr>
          <a:xfrm>
            <a:off x="4307223" y="1798161"/>
            <a:ext cx="3589285" cy="3172954"/>
            <a:chOff x="924577" y="3416449"/>
            <a:chExt cx="5389069" cy="4763976"/>
          </a:xfrm>
        </p:grpSpPr>
        <p:sp>
          <p:nvSpPr>
            <p:cNvPr id="6" name="文本框 5"/>
            <p:cNvSpPr txBox="1"/>
            <p:nvPr>
              <p:custDataLst>
                <p:tags r:id="rId3"/>
              </p:custDataLst>
            </p:nvPr>
          </p:nvSpPr>
          <p:spPr>
            <a:xfrm>
              <a:off x="924577" y="3416449"/>
              <a:ext cx="5181559" cy="2615605"/>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defTabSz="653819">
                <a:lnSpc>
                  <a:spcPct val="150000"/>
                </a:lnSpc>
                <a:defRPr/>
              </a:pPr>
              <a:r>
                <a:rPr lang="zh-CN" altLang="zh-CN" sz="1199" dirty="0">
                  <a:latin typeface="微软雅黑" panose="020B0503020204020204" pitchFamily="34" charset="-122"/>
                  <a:ea typeface="微软雅黑" panose="020B0503020204020204" pitchFamily="34" charset="-122"/>
                </a:rPr>
                <a:t>随着智能体驱动的大模型系统工程在性能和效率上的持续突破，</a:t>
              </a:r>
              <a:r>
                <a:rPr lang="zh-CN" altLang="zh-CN" sz="1199" b="1" dirty="0">
                  <a:solidFill>
                    <a:schemeClr val="accent6"/>
                  </a:solidFill>
                  <a:latin typeface="微软雅黑" panose="020B0503020204020204" pitchFamily="34" charset="-122"/>
                  <a:ea typeface="微软雅黑" panose="020B0503020204020204" pitchFamily="34" charset="-122"/>
                </a:rPr>
                <a:t>尤其是在算力成本和训练成本显著降低的背景下，全球范围内创新环境正朝着更加平权的方向发展</a:t>
              </a:r>
              <a:r>
                <a:rPr lang="zh-CN" altLang="zh-CN" sz="1199" dirty="0">
                  <a:latin typeface="微软雅黑" panose="020B0503020204020204" pitchFamily="34" charset="-122"/>
                  <a:ea typeface="微软雅黑" panose="020B0503020204020204" pitchFamily="34" charset="-122"/>
                </a:rPr>
                <a:t>。这一趋势使得不同国家、不同规模的企业均有机会参与到智能体应用创新中，打破了传统上技术垄断与资源集中带来的壁垒。</a:t>
              </a:r>
              <a:endParaRPr lang="zh-CN" altLang="en-US" sz="1066"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endParaRPr>
            </a:p>
          </p:txBody>
        </p:sp>
        <p:grpSp>
          <p:nvGrpSpPr>
            <p:cNvPr id="7" name="组合 6"/>
            <p:cNvGrpSpPr/>
            <p:nvPr/>
          </p:nvGrpSpPr>
          <p:grpSpPr>
            <a:xfrm>
              <a:off x="924577" y="6561811"/>
              <a:ext cx="5389069" cy="1618614"/>
              <a:chOff x="505477" y="6270380"/>
              <a:chExt cx="5389069" cy="1618614"/>
            </a:xfrm>
          </p:grpSpPr>
          <p:sp>
            <p:nvSpPr>
              <p:cNvPr id="11" name="椭圆 10"/>
              <p:cNvSpPr/>
              <p:nvPr>
                <p:custDataLst>
                  <p:tags r:id="rId4"/>
                </p:custDataLst>
              </p:nvPr>
            </p:nvSpPr>
            <p:spPr>
              <a:xfrm>
                <a:off x="3190866" y="7744994"/>
                <a:ext cx="144000" cy="144000"/>
              </a:xfrm>
              <a:prstGeom prst="ellipse">
                <a:avLst/>
              </a:prstGeom>
              <a:solidFill>
                <a:schemeClr val="bg1"/>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a:solidFill>
                    <a:schemeClr val="tx1"/>
                  </a:solidFill>
                  <a:latin typeface="微软雅黑" panose="020B0503020204020204" pitchFamily="34" charset="-122"/>
                  <a:ea typeface="微软雅黑" panose="020B0503020204020204" pitchFamily="34" charset="-122"/>
                </a:endParaRPr>
              </a:p>
            </p:txBody>
          </p:sp>
          <p:sp>
            <p:nvSpPr>
              <p:cNvPr id="12" name="圆角矩形 16"/>
              <p:cNvSpPr/>
              <p:nvPr/>
            </p:nvSpPr>
            <p:spPr>
              <a:xfrm>
                <a:off x="505477" y="6270380"/>
                <a:ext cx="5389069" cy="1518244"/>
              </a:xfrm>
              <a:prstGeom prst="roundRect">
                <a:avLst>
                  <a:gd name="adj" fmla="val 50000"/>
                </a:avLst>
              </a:prstGeom>
              <a:gradFill>
                <a:gsLst>
                  <a:gs pos="0">
                    <a:srgbClr val="9CB8DA"/>
                  </a:gs>
                  <a:gs pos="99000">
                    <a:schemeClr val="bg1">
                      <a:alpha val="3000"/>
                    </a:schemeClr>
                  </a:gs>
                </a:gsLst>
                <a:lin ang="16200000" scaled="0"/>
              </a:gradFill>
              <a:ln w="25400">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865" b="1" dirty="0">
                    <a:solidFill>
                      <a:schemeClr val="accent6"/>
                    </a:solidFill>
                    <a:latin typeface="微软雅黑" panose="020B0503020204020204" pitchFamily="34" charset="-122"/>
                    <a:ea typeface="微软雅黑" panose="020B0503020204020204" pitchFamily="34" charset="-122"/>
                    <a:sym typeface="+mn-ea"/>
                  </a:rPr>
                  <a:t>发展机遇方面，</a:t>
                </a:r>
                <a:r>
                  <a:rPr lang="en-US" altLang="zh-CN" sz="1865" b="1" dirty="0">
                    <a:solidFill>
                      <a:schemeClr val="accent6"/>
                    </a:solidFill>
                    <a:latin typeface="微软雅黑" panose="020B0503020204020204" pitchFamily="34" charset="-122"/>
                    <a:ea typeface="微软雅黑" panose="020B0503020204020204" pitchFamily="34" charset="-122"/>
                    <a:sym typeface="+mn-ea"/>
                  </a:rPr>
                  <a:t>AI</a:t>
                </a:r>
                <a:r>
                  <a:rPr lang="zh-CN" altLang="en-US" sz="1865" b="1" dirty="0">
                    <a:solidFill>
                      <a:schemeClr val="accent6"/>
                    </a:solidFill>
                    <a:latin typeface="微软雅黑" panose="020B0503020204020204" pitchFamily="34" charset="-122"/>
                    <a:ea typeface="微软雅黑" panose="020B0503020204020204" pitchFamily="34" charset="-122"/>
                    <a:sym typeface="+mn-ea"/>
                  </a:rPr>
                  <a:t>大模型向普惠应用发展，全球创新环境趋于平权。</a:t>
                </a:r>
              </a:p>
            </p:txBody>
          </p:sp>
        </p:grpSp>
      </p:grpSp>
      <p:grpSp>
        <p:nvGrpSpPr>
          <p:cNvPr id="13" name="组合 12"/>
          <p:cNvGrpSpPr/>
          <p:nvPr/>
        </p:nvGrpSpPr>
        <p:grpSpPr>
          <a:xfrm>
            <a:off x="8167382" y="1255290"/>
            <a:ext cx="3530406" cy="4347421"/>
            <a:chOff x="8145460" y="1929850"/>
            <a:chExt cx="5300665" cy="6527359"/>
          </a:xfrm>
        </p:grpSpPr>
        <p:sp>
          <p:nvSpPr>
            <p:cNvPr id="14" name="文本框 13"/>
            <p:cNvSpPr txBox="1"/>
            <p:nvPr>
              <p:custDataLst>
                <p:tags r:id="rId1"/>
              </p:custDataLst>
            </p:nvPr>
          </p:nvSpPr>
          <p:spPr>
            <a:xfrm>
              <a:off x="8145460" y="1929850"/>
              <a:ext cx="5300665" cy="3862424"/>
            </a:xfrm>
            <a:prstGeom prst="rect">
              <a:avLst/>
            </a:prstGeom>
            <a:noFill/>
            <a:ln w="12700" cap="flat">
              <a:noFill/>
              <a:miter lim="400000"/>
            </a:ln>
            <a:effectLst/>
            <a:sp3d/>
          </p:spPr>
          <p:txBody>
            <a:bodyPr rot="0" spcFirstLastPara="1" vertOverflow="overflow" horzOverflow="overflow" vert="horz" wrap="square" lIns="40224" tIns="40224" rIns="40224" bIns="40224" numCol="1" spcCol="38100" rtlCol="0" anchor="t" anchorCtr="0">
              <a:spAutoFit/>
            </a:bodyPr>
            <a:lstStyle/>
            <a:p>
              <a:pPr>
                <a:lnSpc>
                  <a:spcPct val="150000"/>
                </a:lnSpc>
              </a:pPr>
              <a:r>
                <a:rPr lang="en-US" altLang="zh-CN" sz="1199" dirty="0">
                  <a:latin typeface="微软雅黑" panose="020B0503020204020204" pitchFamily="34" charset="-122"/>
                  <a:ea typeface="微软雅黑" panose="020B0503020204020204" pitchFamily="34" charset="-122"/>
                </a:rPr>
                <a:t>AI</a:t>
              </a:r>
              <a:r>
                <a:rPr lang="zh-CN" altLang="zh-CN" sz="1199" dirty="0">
                  <a:latin typeface="微软雅黑" panose="020B0503020204020204" pitchFamily="34" charset="-122"/>
                  <a:ea typeface="微软雅黑" panose="020B0503020204020204" pitchFamily="34" charset="-122"/>
                </a:rPr>
                <a:t>智能体系统工程不仅是一套技术集成和应用解决方案，更是一个多方协作、多维度融合的开放生态体系。</a:t>
              </a:r>
              <a:endParaRPr lang="en-US" altLang="zh-CN" sz="1199" dirty="0">
                <a:latin typeface="微软雅黑" panose="020B0503020204020204" pitchFamily="34" charset="-122"/>
                <a:ea typeface="微软雅黑" panose="020B0503020204020204" pitchFamily="34" charset="-122"/>
              </a:endParaRPr>
            </a:p>
            <a:p>
              <a:pPr>
                <a:lnSpc>
                  <a:spcPct val="150000"/>
                </a:lnSpc>
              </a:pPr>
              <a:endParaRPr lang="zh-CN" altLang="zh-CN" sz="1199" dirty="0">
                <a:latin typeface="微软雅黑" panose="020B0503020204020204" pitchFamily="34" charset="-122"/>
                <a:ea typeface="微软雅黑" panose="020B0503020204020204" pitchFamily="34" charset="-122"/>
              </a:endParaRPr>
            </a:p>
            <a:p>
              <a:pPr>
                <a:lnSpc>
                  <a:spcPct val="150000"/>
                </a:lnSpc>
              </a:pPr>
              <a:r>
                <a:rPr lang="zh-CN" altLang="zh-CN" sz="1199" dirty="0">
                  <a:latin typeface="微软雅黑" panose="020B0503020204020204" pitchFamily="34" charset="-122"/>
                  <a:ea typeface="微软雅黑" panose="020B0503020204020204" pitchFamily="34" charset="-122"/>
                </a:rPr>
                <a:t>未来，</a:t>
              </a:r>
              <a:r>
                <a:rPr lang="zh-CN" altLang="zh-CN" sz="1199" b="1" dirty="0">
                  <a:solidFill>
                    <a:schemeClr val="accent6"/>
                  </a:solidFill>
                  <a:latin typeface="微软雅黑" panose="020B0503020204020204" pitchFamily="34" charset="-122"/>
                  <a:ea typeface="微软雅黑" panose="020B0503020204020204" pitchFamily="34" charset="-122"/>
                </a:rPr>
                <a:t>智能体系统工程将打破传统“闭环”模式，转向开放、模块化、标准化的生态架构</a:t>
              </a:r>
              <a:r>
                <a:rPr lang="zh-CN" altLang="zh-CN" sz="1199" dirty="0">
                  <a:latin typeface="微软雅黑" panose="020B0503020204020204" pitchFamily="34" charset="-122"/>
                  <a:ea typeface="微软雅黑" panose="020B0503020204020204" pitchFamily="34" charset="-122"/>
                </a:rPr>
                <a:t>。这包括电信运营商、云服务商、开源社区、产业联盟、终端用户等多方参与，形成技术创新、资源共享和应用落地的协同网络。</a:t>
              </a:r>
              <a:endParaRPr lang="zh-CN" altLang="en-US" sz="1199" kern="0" dirty="0">
                <a:latin typeface="微软雅黑" panose="020B0503020204020204" pitchFamily="34" charset="-122"/>
                <a:ea typeface="微软雅黑" panose="020B0503020204020204" pitchFamily="34" charset="-122"/>
                <a:cs typeface="Helvetica Neue" panose="02000206000000020004"/>
                <a:sym typeface="Helvetica Neue" panose="02000206000000020004"/>
              </a:endParaRPr>
            </a:p>
          </p:txBody>
        </p:sp>
        <p:grpSp>
          <p:nvGrpSpPr>
            <p:cNvPr id="15" name="组合 14"/>
            <p:cNvGrpSpPr/>
            <p:nvPr/>
          </p:nvGrpSpPr>
          <p:grpSpPr>
            <a:xfrm>
              <a:off x="8493306" y="6850015"/>
              <a:ext cx="4952819" cy="1607194"/>
              <a:chOff x="8074206" y="6558584"/>
              <a:chExt cx="4952819" cy="1607194"/>
            </a:xfrm>
          </p:grpSpPr>
          <p:sp>
            <p:nvSpPr>
              <p:cNvPr id="16" name="椭圆 15"/>
              <p:cNvSpPr/>
              <p:nvPr>
                <p:custDataLst>
                  <p:tags r:id="rId2"/>
                </p:custDataLst>
              </p:nvPr>
            </p:nvSpPr>
            <p:spPr>
              <a:xfrm>
                <a:off x="8074206" y="7287994"/>
                <a:ext cx="144000" cy="144000"/>
              </a:xfrm>
              <a:prstGeom prst="ellipse">
                <a:avLst/>
              </a:prstGeom>
              <a:solidFill>
                <a:schemeClr val="bg1"/>
              </a:solidFill>
              <a:ln w="69850">
                <a:noFill/>
              </a:ln>
              <a:effectLst>
                <a:glow rad="114300">
                  <a:schemeClr val="bg1">
                    <a:alpha val="42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199">
                  <a:solidFill>
                    <a:schemeClr val="tx1"/>
                  </a:solidFill>
                  <a:latin typeface="微软雅黑" panose="020B0503020204020204" pitchFamily="34" charset="-122"/>
                  <a:ea typeface="微软雅黑" panose="020B0503020204020204" pitchFamily="34" charset="-122"/>
                </a:endParaRPr>
              </a:p>
            </p:txBody>
          </p:sp>
          <p:sp>
            <p:nvSpPr>
              <p:cNvPr id="18" name="圆角矩形 16"/>
              <p:cNvSpPr/>
              <p:nvPr/>
            </p:nvSpPr>
            <p:spPr>
              <a:xfrm>
                <a:off x="8136686" y="6558584"/>
                <a:ext cx="4890339" cy="1607194"/>
              </a:xfrm>
              <a:prstGeom prst="roundRect">
                <a:avLst>
                  <a:gd name="adj" fmla="val 50000"/>
                </a:avLst>
              </a:prstGeom>
              <a:gradFill>
                <a:gsLst>
                  <a:gs pos="0">
                    <a:srgbClr val="9CB8DA"/>
                  </a:gs>
                  <a:gs pos="99000">
                    <a:schemeClr val="bg1">
                      <a:alpha val="3000"/>
                    </a:schemeClr>
                  </a:gs>
                </a:gsLst>
                <a:lin ang="16200000" scaled="0"/>
              </a:gradFill>
              <a:ln w="25400">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865" b="1" dirty="0">
                    <a:solidFill>
                      <a:schemeClr val="accent6"/>
                    </a:solidFill>
                    <a:latin typeface="微软雅黑" panose="020B0503020204020204" pitchFamily="34" charset="-122"/>
                    <a:ea typeface="微软雅黑" panose="020B0503020204020204" pitchFamily="34" charset="-122"/>
                    <a:sym typeface="+mn-ea"/>
                  </a:rPr>
                  <a:t>生态协同方面，构建智能体驱动的开放协同生态系统。</a:t>
                </a:r>
              </a:p>
            </p:txBody>
          </p:sp>
        </p:grpSp>
      </p:grpSp>
    </p:spTree>
    <p:extLst>
      <p:ext uri="{BB962C8B-B14F-4D97-AF65-F5344CB8AC3E}">
        <p14:creationId xmlns:p14="http://schemas.microsoft.com/office/powerpoint/2010/main" val="680614134"/>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42256" y="3736149"/>
            <a:ext cx="4689747" cy="1241425"/>
          </a:xfrm>
          <a:prstGeom prst="rect">
            <a:avLst/>
          </a:prstGeom>
          <a:noFill/>
        </p:spPr>
        <p:txBody>
          <a:bodyPr wrap="square" rtlCol="0">
            <a:spAutoFit/>
          </a:bodyPr>
          <a:lstStyle/>
          <a:p>
            <a:r>
              <a:rPr lang="zh-CN" altLang="en-US" sz="3735" dirty="0">
                <a:solidFill>
                  <a:schemeClr val="bg1"/>
                </a:solidFill>
                <a:latin typeface="微软雅黑" panose="020B0503020204020204" pitchFamily="34" charset="-122"/>
                <a:ea typeface="微软雅黑" panose="020B0503020204020204" pitchFamily="34" charset="-122"/>
              </a:rPr>
              <a:t>感谢各位的聆听</a:t>
            </a:r>
            <a:endParaRPr lang="en-US" altLang="zh-CN" sz="3735" dirty="0">
              <a:solidFill>
                <a:schemeClr val="bg1"/>
              </a:solidFill>
              <a:latin typeface="微软雅黑" panose="020B0503020204020204" pitchFamily="34" charset="-122"/>
              <a:ea typeface="微软雅黑" panose="020B0503020204020204" pitchFamily="34" charset="-122"/>
            </a:endParaRPr>
          </a:p>
          <a:p>
            <a:r>
              <a:rPr lang="zh-CN" altLang="en-US" sz="3735" dirty="0">
                <a:solidFill>
                  <a:schemeClr val="bg1"/>
                </a:solidFill>
                <a:latin typeface="微软雅黑" panose="020B0503020204020204" pitchFamily="34" charset="-122"/>
                <a:ea typeface="微软雅黑" panose="020B0503020204020204" pitchFamily="34" charset="-122"/>
              </a:rPr>
              <a:t>       </a:t>
            </a:r>
          </a:p>
        </p:txBody>
      </p:sp>
      <p:sp>
        <p:nvSpPr>
          <p:cNvPr id="6" name="TextBox 5"/>
          <p:cNvSpPr txBox="1"/>
          <p:nvPr/>
        </p:nvSpPr>
        <p:spPr>
          <a:xfrm>
            <a:off x="1047715" y="1823280"/>
            <a:ext cx="4601210" cy="1116965"/>
          </a:xfrm>
          <a:prstGeom prst="rect">
            <a:avLst/>
          </a:prstGeom>
          <a:noFill/>
        </p:spPr>
        <p:txBody>
          <a:bodyPr wrap="none" rtlCol="0">
            <a:spAutoFit/>
          </a:bodyPr>
          <a:lstStyle/>
          <a:p>
            <a:pPr>
              <a:lnSpc>
                <a:spcPts val="4000"/>
              </a:lnSpc>
            </a:pPr>
            <a:r>
              <a:rPr lang="zh-CN" altLang="en-US" sz="2665" i="1" dirty="0">
                <a:solidFill>
                  <a:srgbClr val="FFC100"/>
                </a:solidFill>
                <a:latin typeface="微软雅黑" panose="020B0503020204020204" pitchFamily="34" charset="-122"/>
                <a:ea typeface="微软雅黑" panose="020B0503020204020204" pitchFamily="34" charset="-122"/>
              </a:rPr>
              <a:t>国家高端专业智库  </a:t>
            </a:r>
            <a:endParaRPr lang="en-US" altLang="zh-CN" sz="2665" i="1" dirty="0">
              <a:solidFill>
                <a:srgbClr val="FFC100"/>
              </a:solidFill>
              <a:latin typeface="微软雅黑" panose="020B0503020204020204" pitchFamily="34" charset="-122"/>
              <a:ea typeface="微软雅黑" panose="020B0503020204020204" pitchFamily="34" charset="-122"/>
            </a:endParaRPr>
          </a:p>
          <a:p>
            <a:pPr>
              <a:lnSpc>
                <a:spcPts val="4000"/>
              </a:lnSpc>
            </a:pPr>
            <a:r>
              <a:rPr lang="en-US" altLang="zh-CN" sz="2665" i="1" dirty="0">
                <a:solidFill>
                  <a:srgbClr val="FFC100"/>
                </a:solidFill>
                <a:latin typeface="微软雅黑" panose="020B0503020204020204" pitchFamily="34" charset="-122"/>
                <a:ea typeface="微软雅黑" panose="020B0503020204020204" pitchFamily="34" charset="-122"/>
              </a:rPr>
              <a:t>                 </a:t>
            </a:r>
            <a:r>
              <a:rPr lang="zh-CN" altLang="en-US" sz="2665" i="1" dirty="0">
                <a:solidFill>
                  <a:srgbClr val="FFC100"/>
                </a:solidFill>
                <a:latin typeface="微软雅黑" panose="020B0503020204020204" pitchFamily="34" charset="-122"/>
                <a:ea typeface="微软雅黑" panose="020B0503020204020204" pitchFamily="34" charset="-122"/>
              </a:rPr>
              <a:t>产业创新发展平台</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cwYTI4ZjkzMTVlY2M5OTBjYzAzOGIwY2FjNWRiNTEifQ=="/>
  <p:tag name="RESOURCE_RECORD_KEY" val="{&quot;70&quot;:[332007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55.6,&quot;left&quot;:87.93141732283465,&quot;top&quot;:253.65,&quot;width&quot;:1297.218582677165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535.7,&quot;left&quot;:55.1,&quot;top&quot;:154.4,&quot;width&quot;:1329.05}"/>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1069.7,&quot;left&quot;:-5.25,&quot;top&quot;:-133.05,&quot;width&quot;:2080.05}"/>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1069.7,&quot;left&quot;:-5.25,&quot;top&quot;:-133.05,&quot;width&quot;:2080.05}"/>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1069.7,&quot;left&quot;:-5.25,&quot;top&quot;:-133.05,&quot;width&quot;:2080.05}"/>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1069.7,&quot;left&quot;:-5.25,&quot;top&quot;:-133.05,&quot;width&quot;:2080.05}"/>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1069.7,&quot;left&quot;:-5.25,&quot;top&quot;:-133.05,&quot;width&quot;:2080.05}"/>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1069.7,&quot;left&quot;:-5.25,&quot;top&quot;:-133.05,&quot;width&quot;:2080.0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1069.7,&quot;left&quot;:-5.25,&quot;top&quot;:-133.05,&quot;width&quot;:2080.0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1069.7,&quot;left&quot;:-5.25,&quot;top&quot;:-133.05,&quot;width&quot;:2080.05}"/>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1069.7,&quot;left&quot;:-5.25,&quot;top&quot;:-133.05,&quot;width&quot;:2080.0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591.4,&quot;left&quot;:105.4,&quot;top&quot;:143.6,&quot;width&quot;:515.6385826771653}"/>
</p:tagLst>
</file>

<file path=ppt/theme/theme1.xml><?xml version="1.0" encoding="utf-8"?>
<a:theme xmlns:a="http://schemas.openxmlformats.org/drawingml/2006/main" name="PPT模板-无蓝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自定义 99">
      <a:dk1>
        <a:sysClr val="windowText" lastClr="000000"/>
      </a:dk1>
      <a:lt1>
        <a:sysClr val="window" lastClr="FFFFFF"/>
      </a:lt1>
      <a:dk2>
        <a:srgbClr val="44546A"/>
      </a:dk2>
      <a:lt2>
        <a:srgbClr val="E7E6E6"/>
      </a:lt2>
      <a:accent1>
        <a:srgbClr val="000A59"/>
      </a:accent1>
      <a:accent2>
        <a:srgbClr val="F17D07"/>
      </a:accent2>
      <a:accent3>
        <a:srgbClr val="000A59"/>
      </a:accent3>
      <a:accent4>
        <a:srgbClr val="F17D07"/>
      </a:accent4>
      <a:accent5>
        <a:srgbClr val="000A59"/>
      </a:accent5>
      <a:accent6>
        <a:srgbClr val="F17D0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自定义 99">
      <a:dk1>
        <a:sysClr val="windowText" lastClr="000000"/>
      </a:dk1>
      <a:lt1>
        <a:sysClr val="window" lastClr="FFFFFF"/>
      </a:lt1>
      <a:dk2>
        <a:srgbClr val="44546A"/>
      </a:dk2>
      <a:lt2>
        <a:srgbClr val="E7E6E6"/>
      </a:lt2>
      <a:accent1>
        <a:srgbClr val="000A59"/>
      </a:accent1>
      <a:accent2>
        <a:srgbClr val="F17D07"/>
      </a:accent2>
      <a:accent3>
        <a:srgbClr val="000A59"/>
      </a:accent3>
      <a:accent4>
        <a:srgbClr val="F17D07"/>
      </a:accent4>
      <a:accent5>
        <a:srgbClr val="000A59"/>
      </a:accent5>
      <a:accent6>
        <a:srgbClr val="F17D0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PPT模板-无蓝底</Template>
  <TotalTime>1190</TotalTime>
  <Words>3196</Words>
  <Application>Microsoft Office PowerPoint</Application>
  <PresentationFormat>宽屏</PresentationFormat>
  <Paragraphs>144</Paragraphs>
  <Slides>16</Slides>
  <Notes>11</Notes>
  <HiddenSlides>0</HiddenSlides>
  <MMClips>0</MMClips>
  <ScaleCrop>false</ScaleCrop>
  <HeadingPairs>
    <vt:vector size="6" baseType="variant">
      <vt:variant>
        <vt:lpstr>已用的字体</vt:lpstr>
      </vt:variant>
      <vt:variant>
        <vt:i4>9</vt:i4>
      </vt:variant>
      <vt:variant>
        <vt:lpstr>主题</vt:lpstr>
      </vt:variant>
      <vt:variant>
        <vt:i4>7</vt:i4>
      </vt:variant>
      <vt:variant>
        <vt:lpstr>幻灯片标题</vt:lpstr>
      </vt:variant>
      <vt:variant>
        <vt:i4>16</vt:i4>
      </vt:variant>
    </vt:vector>
  </HeadingPairs>
  <TitlesOfParts>
    <vt:vector size="32" baseType="lpstr">
      <vt:lpstr>.AppleSystemUIFont</vt:lpstr>
      <vt:lpstr>HarmonyOS Sans SC Black</vt:lpstr>
      <vt:lpstr>Source Han Sans CN</vt:lpstr>
      <vt:lpstr>等线</vt:lpstr>
      <vt:lpstr>等线 Light</vt:lpstr>
      <vt:lpstr>微软雅黑</vt:lpstr>
      <vt:lpstr>Arial</vt:lpstr>
      <vt:lpstr>Calibri</vt:lpstr>
      <vt:lpstr>Wingdings</vt:lpstr>
      <vt:lpstr>PPT模板-无蓝底</vt:lpstr>
      <vt:lpstr>3_Office 主题​​</vt:lpstr>
      <vt:lpstr>2_自定义设计方案</vt:lpstr>
      <vt:lpstr>1_Office 主题​​</vt:lpstr>
      <vt:lpstr>章节页</vt:lpstr>
      <vt:lpstr>1_章节页</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算力互联网试验网推进会</dc:title>
  <dc:creator>wenhao zou</dc:creator>
  <cp:lastModifiedBy>zhiyong</cp:lastModifiedBy>
  <cp:revision>2451</cp:revision>
  <cp:lastPrinted>2024-12-14T05:29:00Z</cp:lastPrinted>
  <dcterms:created xsi:type="dcterms:W3CDTF">2024-12-14T05:29:00Z</dcterms:created>
  <dcterms:modified xsi:type="dcterms:W3CDTF">2025-10-27T10:46:20Z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EDEFC1452A1C490DB13FF842D60F46DC_12</vt:lpwstr>
  </property>
  <property fmtid="{D5CDD505-2E9C-101B-9397-08002B2CF9AE}" pid="3" name="KSOProductBuildVer">
    <vt:lpwstr>2052-12.1.0.19302</vt:lpwstr>
  </property>
</Properties>
</file>